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96" d="100"/>
          <a:sy n="96" d="100"/>
        </p:scale>
        <p:origin x="2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>
            <a:buNone/>
          </a:pPr>
          <a:r>
            <a:rPr lang="en-US" sz="1100" dirty="0"/>
            <a:t>1. Understanding the organization and internship workflow</a:t>
          </a:r>
        </a:p>
        <a:p>
          <a:pPr>
            <a:buNone/>
          </a:pPr>
          <a:r>
            <a:rPr lang="en-US" sz="1100" dirty="0"/>
            <a:t>2. Training on Python fundamentals and Django basics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custT="1"/>
      <dgm:spPr/>
      <dgm:t>
        <a:bodyPr/>
        <a:lstStyle/>
        <a:p>
          <a:pPr>
            <a:buNone/>
          </a:pPr>
          <a:r>
            <a:rPr lang="en-US" sz="1100" dirty="0"/>
            <a:t>1. Working on small tasks using Python and Django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pPr>
            <a:buNone/>
          </a:pPr>
          <a:r>
            <a:rPr lang="en-US" sz="1100" dirty="0"/>
            <a:t>1. Contributing to module-level development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3C96932D-6D6C-473D-9A18-E9B3ACD6D7F3}">
      <dgm:prSet custT="1"/>
      <dgm:spPr/>
      <dgm:t>
        <a:bodyPr/>
        <a:lstStyle/>
        <a:p>
          <a:pPr>
            <a:buNone/>
          </a:pPr>
          <a:r>
            <a:rPr lang="en-US" sz="1100" dirty="0"/>
            <a:t>3. Setting up the development environment</a:t>
          </a:r>
        </a:p>
      </dgm:t>
    </dgm:pt>
    <dgm:pt modelId="{56EC86B5-105C-4A43-ABCC-5AE0020A268D}" type="parTrans" cxnId="{409B1858-8F31-47E3-A9D1-013E68D1A34B}">
      <dgm:prSet/>
      <dgm:spPr/>
      <dgm:t>
        <a:bodyPr/>
        <a:lstStyle/>
        <a:p>
          <a:endParaRPr lang="en-US"/>
        </a:p>
      </dgm:t>
    </dgm:pt>
    <dgm:pt modelId="{A244E1CA-4BAC-45B7-BFD6-08B3401B2E27}" type="sibTrans" cxnId="{409B1858-8F31-47E3-A9D1-013E68D1A34B}">
      <dgm:prSet/>
      <dgm:spPr/>
      <dgm:t>
        <a:bodyPr/>
        <a:lstStyle/>
        <a:p>
          <a:endParaRPr lang="en-US"/>
        </a:p>
      </dgm:t>
    </dgm:pt>
    <dgm:pt modelId="{370A7566-5D73-4F8F-B92C-205381C3B3E5}">
      <dgm:prSet custT="1"/>
      <dgm:spPr/>
      <dgm:t>
        <a:bodyPr/>
        <a:lstStyle/>
        <a:p>
          <a:pPr>
            <a:buNone/>
          </a:pPr>
          <a:r>
            <a:rPr lang="en-US" sz="1100" dirty="0"/>
            <a:t>4. Learning basic backend concepts  </a:t>
          </a:r>
        </a:p>
      </dgm:t>
    </dgm:pt>
    <dgm:pt modelId="{A0B90890-453F-478C-8766-3654AD276D1D}" type="parTrans" cxnId="{1E4C45C6-7C18-411F-8DED-105FD1C97EF8}">
      <dgm:prSet/>
      <dgm:spPr/>
      <dgm:t>
        <a:bodyPr/>
        <a:lstStyle/>
        <a:p>
          <a:endParaRPr lang="en-US"/>
        </a:p>
      </dgm:t>
    </dgm:pt>
    <dgm:pt modelId="{D7160488-D04A-4927-9D74-77294320EE12}" type="sibTrans" cxnId="{1E4C45C6-7C18-411F-8DED-105FD1C97EF8}">
      <dgm:prSet/>
      <dgm:spPr/>
      <dgm:t>
        <a:bodyPr/>
        <a:lstStyle/>
        <a:p>
          <a:endParaRPr lang="en-US"/>
        </a:p>
      </dgm:t>
    </dgm:pt>
    <dgm:pt modelId="{D712D11E-FBB8-4648-BC8F-306F83A12CFF}">
      <dgm:prSet custT="1"/>
      <dgm:spPr/>
      <dgm:t>
        <a:bodyPr/>
        <a:lstStyle/>
        <a:p>
          <a:pPr>
            <a:buNone/>
          </a:pPr>
          <a:r>
            <a:rPr lang="en-US" sz="1100" dirty="0"/>
            <a:t>2. Implementing basic CRUD operations</a:t>
          </a:r>
        </a:p>
      </dgm:t>
    </dgm:pt>
    <dgm:pt modelId="{61145911-A017-4D4D-808B-2F98C19CD396}" type="parTrans" cxnId="{946F0596-A55A-4668-9335-A66F1C9425BC}">
      <dgm:prSet/>
      <dgm:spPr/>
      <dgm:t>
        <a:bodyPr/>
        <a:lstStyle/>
        <a:p>
          <a:endParaRPr lang="en-US"/>
        </a:p>
      </dgm:t>
    </dgm:pt>
    <dgm:pt modelId="{73808F64-BA2D-464D-B4A0-F6FDFA3C6A88}" type="sibTrans" cxnId="{946F0596-A55A-4668-9335-A66F1C9425BC}">
      <dgm:prSet/>
      <dgm:spPr/>
      <dgm:t>
        <a:bodyPr/>
        <a:lstStyle/>
        <a:p>
          <a:endParaRPr lang="en-US"/>
        </a:p>
      </dgm:t>
    </dgm:pt>
    <dgm:pt modelId="{DB0F1A80-B830-4A3D-8822-85C55C60BC6C}">
      <dgm:prSet custT="1"/>
      <dgm:spPr/>
      <dgm:t>
        <a:bodyPr/>
        <a:lstStyle/>
        <a:p>
          <a:pPr>
            <a:buNone/>
          </a:pPr>
          <a:r>
            <a:rPr lang="en-US" sz="1100" dirty="0"/>
            <a:t>3. Understanding Django project structure and apps</a:t>
          </a:r>
        </a:p>
      </dgm:t>
    </dgm:pt>
    <dgm:pt modelId="{F3F6A5FC-C505-4CC7-9906-1B3442156351}" type="parTrans" cxnId="{71CB39D2-90CC-45BE-A825-FDD9AB146D0E}">
      <dgm:prSet/>
      <dgm:spPr/>
      <dgm:t>
        <a:bodyPr/>
        <a:lstStyle/>
        <a:p>
          <a:endParaRPr lang="en-US"/>
        </a:p>
      </dgm:t>
    </dgm:pt>
    <dgm:pt modelId="{8C85CC38-A0AE-4B25-96F3-71AAA1F5B865}" type="sibTrans" cxnId="{71CB39D2-90CC-45BE-A825-FDD9AB146D0E}">
      <dgm:prSet/>
      <dgm:spPr/>
      <dgm:t>
        <a:bodyPr/>
        <a:lstStyle/>
        <a:p>
          <a:endParaRPr lang="en-US"/>
        </a:p>
      </dgm:t>
    </dgm:pt>
    <dgm:pt modelId="{080E4547-457F-44C1-A8B4-B97DB0CA31BD}">
      <dgm:prSet custT="1"/>
      <dgm:spPr/>
      <dgm:t>
        <a:bodyPr/>
        <a:lstStyle/>
        <a:p>
          <a:pPr>
            <a:buNone/>
          </a:pPr>
          <a:r>
            <a:rPr lang="en-US" sz="1100" dirty="0"/>
            <a:t>4. Improving debugging and coding practices</a:t>
          </a:r>
        </a:p>
      </dgm:t>
    </dgm:pt>
    <dgm:pt modelId="{CC3FD083-2C2F-4EEB-BE56-FE3FC8AEABF8}" type="parTrans" cxnId="{FA86AB8F-68CA-4155-8376-A97F0E6A6A44}">
      <dgm:prSet/>
      <dgm:spPr/>
      <dgm:t>
        <a:bodyPr/>
        <a:lstStyle/>
        <a:p>
          <a:endParaRPr lang="en-US"/>
        </a:p>
      </dgm:t>
    </dgm:pt>
    <dgm:pt modelId="{8075EDD3-4367-4ACE-ACCD-3C3A9FE1F578}" type="sibTrans" cxnId="{FA86AB8F-68CA-4155-8376-A97F0E6A6A44}">
      <dgm:prSet/>
      <dgm:spPr/>
      <dgm:t>
        <a:bodyPr/>
        <a:lstStyle/>
        <a:p>
          <a:endParaRPr lang="en-US"/>
        </a:p>
      </dgm:t>
    </dgm:pt>
    <dgm:pt modelId="{555ACAFD-8358-4397-9EFC-B5AF2501AE9C}">
      <dgm:prSet custT="1"/>
      <dgm:spPr/>
      <dgm:t>
        <a:bodyPr/>
        <a:lstStyle/>
        <a:p>
          <a:pPr>
            <a:buNone/>
          </a:pPr>
          <a:r>
            <a:rPr lang="en-US" sz="1100" dirty="0"/>
            <a:t>2. Working on mini projects or assigned features</a:t>
          </a:r>
        </a:p>
      </dgm:t>
    </dgm:pt>
    <dgm:pt modelId="{4213FAD6-84C5-4431-AAB7-CDD86CDC0C00}" type="parTrans" cxnId="{5BC1C222-AE07-4C57-A7F2-E70E2A0E2235}">
      <dgm:prSet/>
      <dgm:spPr/>
      <dgm:t>
        <a:bodyPr/>
        <a:lstStyle/>
        <a:p>
          <a:endParaRPr lang="en-US"/>
        </a:p>
      </dgm:t>
    </dgm:pt>
    <dgm:pt modelId="{E55D84B0-AA6D-4F85-85BB-CE8B30A19CDF}" type="sibTrans" cxnId="{5BC1C222-AE07-4C57-A7F2-E70E2A0E2235}">
      <dgm:prSet/>
      <dgm:spPr/>
      <dgm:t>
        <a:bodyPr/>
        <a:lstStyle/>
        <a:p>
          <a:endParaRPr lang="en-US"/>
        </a:p>
      </dgm:t>
    </dgm:pt>
    <dgm:pt modelId="{6E2AD148-F9A8-4A0B-AC77-956513A0C3CB}">
      <dgm:prSet custT="1"/>
      <dgm:spPr/>
      <dgm:t>
        <a:bodyPr/>
        <a:lstStyle/>
        <a:p>
          <a:pPr>
            <a:buNone/>
          </a:pPr>
          <a:r>
            <a:rPr lang="en-US" sz="1100" dirty="0"/>
            <a:t>3. Understanding database integration and APIs</a:t>
          </a:r>
        </a:p>
      </dgm:t>
    </dgm:pt>
    <dgm:pt modelId="{2451F865-C85D-4B8C-B1CB-C59F5FE7EF1C}" type="parTrans" cxnId="{011BE445-2BF3-46BB-A340-EE2793C3A42F}">
      <dgm:prSet/>
      <dgm:spPr/>
      <dgm:t>
        <a:bodyPr/>
        <a:lstStyle/>
        <a:p>
          <a:endParaRPr lang="en-US"/>
        </a:p>
      </dgm:t>
    </dgm:pt>
    <dgm:pt modelId="{AF264D7F-D9FC-4E29-B853-9BF4EFF52DA7}" type="sibTrans" cxnId="{011BE445-2BF3-46BB-A340-EE2793C3A42F}">
      <dgm:prSet/>
      <dgm:spPr/>
      <dgm:t>
        <a:bodyPr/>
        <a:lstStyle/>
        <a:p>
          <a:endParaRPr lang="en-US"/>
        </a:p>
      </dgm:t>
    </dgm:pt>
    <dgm:pt modelId="{5939BE30-3027-4950-889E-BD7417D1EAC5}">
      <dgm:prSet custT="1"/>
      <dgm:spPr/>
      <dgm:t>
        <a:bodyPr/>
        <a:lstStyle/>
        <a:p>
          <a:pPr>
            <a:buNone/>
          </a:pPr>
          <a:r>
            <a:rPr lang="en-US" sz="1100" dirty="0"/>
            <a:t>4. Collaborating with the project team</a:t>
          </a:r>
        </a:p>
      </dgm:t>
    </dgm:pt>
    <dgm:pt modelId="{316D9E11-87F6-455F-A979-EF00D7C10A98}" type="parTrans" cxnId="{89DEAE0F-908C-4F04-9695-ACA0D53A5929}">
      <dgm:prSet/>
      <dgm:spPr/>
      <dgm:t>
        <a:bodyPr/>
        <a:lstStyle/>
        <a:p>
          <a:endParaRPr lang="en-US"/>
        </a:p>
      </dgm:t>
    </dgm:pt>
    <dgm:pt modelId="{40903B0A-7BBE-435B-B1C9-105397A73384}" type="sibTrans" cxnId="{89DEAE0F-908C-4F04-9695-ACA0D53A5929}">
      <dgm:prSet/>
      <dgm:spPr/>
      <dgm:t>
        <a:bodyPr/>
        <a:lstStyle/>
        <a:p>
          <a:endParaRPr lang="en-US"/>
        </a:p>
      </dgm:t>
    </dgm:pt>
    <dgm:pt modelId="{0073DF90-40DE-480A-90A5-AA96BF8DC33C}">
      <dgm:prSet custT="1"/>
      <dgm:spPr/>
      <dgm:t>
        <a:bodyPr/>
        <a:lstStyle/>
        <a:p>
          <a:pPr>
            <a:buNone/>
          </a:pPr>
          <a:r>
            <a:rPr lang="en-US" sz="1100" dirty="0"/>
            <a:t>1. Working on major project components</a:t>
          </a:r>
        </a:p>
      </dgm:t>
    </dgm:pt>
    <dgm:pt modelId="{9BF2ED7E-9209-4F10-A718-1F905AA9CBD8}" type="parTrans" cxnId="{2DBE97F9-B9D3-48F6-8636-D7CA1655FDD3}">
      <dgm:prSet/>
      <dgm:spPr/>
      <dgm:t>
        <a:bodyPr/>
        <a:lstStyle/>
        <a:p>
          <a:endParaRPr lang="en-US"/>
        </a:p>
      </dgm:t>
    </dgm:pt>
    <dgm:pt modelId="{BBE2D199-4E41-498D-8784-DC6AB23E0094}" type="sibTrans" cxnId="{2DBE97F9-B9D3-48F6-8636-D7CA1655FDD3}">
      <dgm:prSet/>
      <dgm:spPr/>
      <dgm:t>
        <a:bodyPr/>
        <a:lstStyle/>
        <a:p>
          <a:endParaRPr lang="en-US"/>
        </a:p>
      </dgm:t>
    </dgm:pt>
    <dgm:pt modelId="{870F32BA-55D4-44C7-8C13-661E2E4A264D}">
      <dgm:prSet custT="1"/>
      <dgm:spPr/>
      <dgm:t>
        <a:bodyPr/>
        <a:lstStyle/>
        <a:p>
          <a:pPr>
            <a:buNone/>
          </a:pPr>
          <a:r>
            <a:rPr lang="en-US" sz="1100" dirty="0"/>
            <a:t>2. Implementing backend logic independently</a:t>
          </a:r>
        </a:p>
      </dgm:t>
    </dgm:pt>
    <dgm:pt modelId="{3D2C6C95-927B-4F6F-BA83-BBB7237C2C8B}" type="parTrans" cxnId="{58BAD3D3-B5E5-4044-B2B6-0E5947485E13}">
      <dgm:prSet/>
      <dgm:spPr/>
      <dgm:t>
        <a:bodyPr/>
        <a:lstStyle/>
        <a:p>
          <a:endParaRPr lang="en-US"/>
        </a:p>
      </dgm:t>
    </dgm:pt>
    <dgm:pt modelId="{39464370-6A2A-4617-9F03-A0B955AB6B49}" type="sibTrans" cxnId="{58BAD3D3-B5E5-4044-B2B6-0E5947485E13}">
      <dgm:prSet/>
      <dgm:spPr/>
      <dgm:t>
        <a:bodyPr/>
        <a:lstStyle/>
        <a:p>
          <a:endParaRPr lang="en-US"/>
        </a:p>
      </dgm:t>
    </dgm:pt>
    <dgm:pt modelId="{C1217908-8267-4778-8C0A-5BF85AE3B85D}">
      <dgm:prSet custT="1"/>
      <dgm:spPr/>
      <dgm:t>
        <a:bodyPr/>
        <a:lstStyle/>
        <a:p>
          <a:pPr>
            <a:buNone/>
          </a:pPr>
          <a:r>
            <a:rPr lang="en-US" sz="1100" dirty="0"/>
            <a:t>3. Testing and optimizing the application</a:t>
          </a:r>
        </a:p>
      </dgm:t>
    </dgm:pt>
    <dgm:pt modelId="{4A2CF75E-C4BF-43E5-B762-2DB9F5D82CFD}" type="parTrans" cxnId="{14861256-33F0-4668-B568-6BCEB67DFBC7}">
      <dgm:prSet/>
      <dgm:spPr/>
      <dgm:t>
        <a:bodyPr/>
        <a:lstStyle/>
        <a:p>
          <a:endParaRPr lang="en-US"/>
        </a:p>
      </dgm:t>
    </dgm:pt>
    <dgm:pt modelId="{CCB36C1A-C05F-4956-8643-E79385E1E814}" type="sibTrans" cxnId="{14861256-33F0-4668-B568-6BCEB67DFBC7}">
      <dgm:prSet/>
      <dgm:spPr/>
      <dgm:t>
        <a:bodyPr/>
        <a:lstStyle/>
        <a:p>
          <a:endParaRPr lang="en-US"/>
        </a:p>
      </dgm:t>
    </dgm:pt>
    <dgm:pt modelId="{572510D6-1358-41F5-A405-3B0C01A5270D}">
      <dgm:prSet custT="1"/>
      <dgm:spPr/>
      <dgm:t>
        <a:bodyPr/>
        <a:lstStyle/>
        <a:p>
          <a:pPr>
            <a:buNone/>
          </a:pPr>
          <a:r>
            <a:rPr lang="en-US" sz="1100" dirty="0"/>
            <a:t>4. Understanding real-time project workflows</a:t>
          </a:r>
        </a:p>
      </dgm:t>
    </dgm:pt>
    <dgm:pt modelId="{86BC7125-590E-4606-B1BF-EBFED6E1D773}" type="parTrans" cxnId="{3BEF9C78-79F3-41C3-A862-33CBCADAEE1D}">
      <dgm:prSet/>
      <dgm:spPr/>
      <dgm:t>
        <a:bodyPr/>
        <a:lstStyle/>
        <a:p>
          <a:endParaRPr lang="en-US"/>
        </a:p>
      </dgm:t>
    </dgm:pt>
    <dgm:pt modelId="{1D0DCEE6-E3E3-46F4-99FB-D834D8377A3C}" type="sibTrans" cxnId="{3BEF9C78-79F3-41C3-A862-33CBCADAEE1D}">
      <dgm:prSet/>
      <dgm:spPr/>
      <dgm:t>
        <a:bodyPr/>
        <a:lstStyle/>
        <a:p>
          <a:endParaRPr lang="en-US"/>
        </a:p>
      </dgm:t>
    </dgm:pt>
    <dgm:pt modelId="{92663898-4339-4782-9E19-E1CA02181D55}">
      <dgm:prSet custT="1"/>
      <dgm:spPr/>
      <dgm:t>
        <a:bodyPr/>
        <a:lstStyle/>
        <a:p>
          <a:pPr>
            <a:buNone/>
          </a:pPr>
          <a:r>
            <a:rPr lang="en-US" sz="1100" dirty="0"/>
            <a:t>1. Completion of assigned project tasks</a:t>
          </a:r>
        </a:p>
      </dgm:t>
    </dgm:pt>
    <dgm:pt modelId="{24207481-0DB9-417F-9B9A-516FB8C99248}" type="parTrans" cxnId="{EB237EF2-C01B-497A-B521-BCD7A24F9C2E}">
      <dgm:prSet/>
      <dgm:spPr/>
      <dgm:t>
        <a:bodyPr/>
        <a:lstStyle/>
        <a:p>
          <a:endParaRPr lang="en-US"/>
        </a:p>
      </dgm:t>
    </dgm:pt>
    <dgm:pt modelId="{1872C2BC-0D5A-4B9C-A806-54E6040A8616}" type="sibTrans" cxnId="{EB237EF2-C01B-497A-B521-BCD7A24F9C2E}">
      <dgm:prSet/>
      <dgm:spPr/>
      <dgm:t>
        <a:bodyPr/>
        <a:lstStyle/>
        <a:p>
          <a:endParaRPr lang="en-US"/>
        </a:p>
      </dgm:t>
    </dgm:pt>
    <dgm:pt modelId="{66B97150-04A8-4E53-9E39-6EFA3CFB3070}">
      <dgm:prSet custT="1"/>
      <dgm:spPr/>
      <dgm:t>
        <a:bodyPr/>
        <a:lstStyle/>
        <a:p>
          <a:pPr>
            <a:buNone/>
          </a:pPr>
          <a:r>
            <a:rPr lang="en-US" sz="1100" dirty="0"/>
            <a:t>2. Demonstration of technical skills gained</a:t>
          </a:r>
        </a:p>
      </dgm:t>
    </dgm:pt>
    <dgm:pt modelId="{3C8E9845-8328-4840-8EA1-1C74D15666BB}" type="parTrans" cxnId="{10F63AAA-CB0D-4BCD-BD76-4404CD5FAD73}">
      <dgm:prSet/>
      <dgm:spPr/>
      <dgm:t>
        <a:bodyPr/>
        <a:lstStyle/>
        <a:p>
          <a:endParaRPr lang="en-US"/>
        </a:p>
      </dgm:t>
    </dgm:pt>
    <dgm:pt modelId="{7C2B2669-D107-4728-A8A2-29B13C5EA766}" type="sibTrans" cxnId="{10F63AAA-CB0D-4BCD-BD76-4404CD5FAD73}">
      <dgm:prSet/>
      <dgm:spPr/>
      <dgm:t>
        <a:bodyPr/>
        <a:lstStyle/>
        <a:p>
          <a:endParaRPr lang="en-US"/>
        </a:p>
      </dgm:t>
    </dgm:pt>
    <dgm:pt modelId="{AB669F7E-330D-45C4-80F6-5AE8BC7E6640}">
      <dgm:prSet custT="1"/>
      <dgm:spPr/>
      <dgm:t>
        <a:bodyPr/>
        <a:lstStyle/>
        <a:p>
          <a:pPr>
            <a:buNone/>
          </a:pPr>
          <a:r>
            <a:rPr lang="en-US" sz="1100" dirty="0"/>
            <a:t>3. Documentation and project explanation</a:t>
          </a:r>
        </a:p>
      </dgm:t>
    </dgm:pt>
    <dgm:pt modelId="{4D19F7AB-B816-4551-981F-7F97540C706C}" type="parTrans" cxnId="{64EB4998-1428-4844-85C6-BF5C3CEAE7A7}">
      <dgm:prSet/>
      <dgm:spPr/>
      <dgm:t>
        <a:bodyPr/>
        <a:lstStyle/>
        <a:p>
          <a:endParaRPr lang="en-US"/>
        </a:p>
      </dgm:t>
    </dgm:pt>
    <dgm:pt modelId="{DBAF928E-3271-46D7-944B-AF7C7EA9AE42}" type="sibTrans" cxnId="{64EB4998-1428-4844-85C6-BF5C3CEAE7A7}">
      <dgm:prSet/>
      <dgm:spPr/>
      <dgm:t>
        <a:bodyPr/>
        <a:lstStyle/>
        <a:p>
          <a:endParaRPr lang="en-US"/>
        </a:p>
      </dgm:t>
    </dgm:pt>
    <dgm:pt modelId="{2370AE2D-E40E-4279-B2A1-6DCF5923CA90}">
      <dgm:prSet custT="1"/>
      <dgm:spPr/>
      <dgm:t>
        <a:bodyPr/>
        <a:lstStyle/>
        <a:p>
          <a:pPr>
            <a:buNone/>
          </a:pPr>
          <a:r>
            <a:rPr lang="en-US" sz="1100" dirty="0"/>
            <a:t>4. Overall learning outcomes and internship experience</a:t>
          </a:r>
        </a:p>
      </dgm:t>
    </dgm:pt>
    <dgm:pt modelId="{356E4683-21E3-41F1-AAEB-B613A70AC0DC}" type="parTrans" cxnId="{D37C51DA-0C9E-485F-A943-C2704544653A}">
      <dgm:prSet/>
      <dgm:spPr/>
      <dgm:t>
        <a:bodyPr/>
        <a:lstStyle/>
        <a:p>
          <a:endParaRPr lang="en-US"/>
        </a:p>
      </dgm:t>
    </dgm:pt>
    <dgm:pt modelId="{55E499AA-C9AB-4DDE-8ED9-307184D10E0D}" type="sibTrans" cxnId="{D37C51DA-0C9E-485F-A943-C2704544653A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77C70408-8793-4E70-B127-8E4BB4066B1B}" type="presOf" srcId="{572510D6-1358-41F5-A405-3B0C01A5270D}" destId="{FC0F1314-3294-4A8C-8DCE-EB53E236164C}" srcOrd="0" destOrd="3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24FC570E-A09A-4B38-A5AB-41B4204FC9EC}" type="presOf" srcId="{DB0F1A80-B830-4A3D-8822-85C55C60BC6C}" destId="{06F8D57B-EDF4-4CF4-8700-DC2CA3E3028E}" srcOrd="0" destOrd="2" presId="urn:microsoft.com/office/officeart/2011/layout/InterconnectedBlockProcess"/>
    <dgm:cxn modelId="{89DEAE0F-908C-4F04-9695-ACA0D53A5929}" srcId="{A59EC69B-8F3F-425B-819F-E8C557946AEE}" destId="{5939BE30-3027-4950-889E-BD7417D1EAC5}" srcOrd="3" destOrd="0" parTransId="{316D9E11-87F6-455F-A979-EF00D7C10A98}" sibTransId="{40903B0A-7BBE-435B-B1C9-105397A7338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5BC1C222-AE07-4C57-A7F2-E70E2A0E2235}" srcId="{A59EC69B-8F3F-425B-819F-E8C557946AEE}" destId="{555ACAFD-8358-4397-9EFC-B5AF2501AE9C}" srcOrd="1" destOrd="0" parTransId="{4213FAD6-84C5-4431-AAB7-CDD86CDC0C00}" sibTransId="{E55D84B0-AA6D-4F85-85BB-CE8B30A19CDF}"/>
    <dgm:cxn modelId="{1C7DDB23-6A50-4969-9E75-2971F8BB7061}" type="presOf" srcId="{555ACAFD-8358-4397-9EFC-B5AF2501AE9C}" destId="{2532504F-5FE1-4C97-B485-F05E8885EACC}" srcOrd="0" destOrd="1" presId="urn:microsoft.com/office/officeart/2011/layout/InterconnectedBlockProcess"/>
    <dgm:cxn modelId="{F1873724-C05A-42EF-837A-D884197EFD2D}" type="presOf" srcId="{C1217908-8267-4778-8C0A-5BF85AE3B85D}" destId="{98225A61-A0EC-450A-BED8-EF2E47E8FD18}" srcOrd="1" destOrd="2" presId="urn:microsoft.com/office/officeart/2011/layout/InterconnectedBlockProcess"/>
    <dgm:cxn modelId="{80DB1626-91CE-4A45-9EDA-9E35675C5799}" type="presOf" srcId="{AB669F7E-330D-45C4-80F6-5AE8BC7E6640}" destId="{8CAE5A4D-0C7B-48A6-917B-0B8433D0574B}" srcOrd="0" destOrd="2" presId="urn:microsoft.com/office/officeart/2011/layout/InterconnectedBlockProcess"/>
    <dgm:cxn modelId="{4E060827-B5C3-4570-AA8A-F6D8CFC278FC}" type="presOf" srcId="{2370AE2D-E40E-4279-B2A1-6DCF5923CA90}" destId="{8CAE5A4D-0C7B-48A6-917B-0B8433D0574B}" srcOrd="0" destOrd="3" presId="urn:microsoft.com/office/officeart/2011/layout/InterconnectedBlockProcess"/>
    <dgm:cxn modelId="{B460E829-C3A2-4ED0-AAD8-B4CD9E7AAB4F}" type="presOf" srcId="{370A7566-5D73-4F8F-B92C-205381C3B3E5}" destId="{A134CDD1-D85F-44EF-8BEE-9F99A855C1E6}" srcOrd="0" destOrd="2" presId="urn:microsoft.com/office/officeart/2011/layout/InterconnectedBlockProcess"/>
    <dgm:cxn modelId="{6CD99C2C-747C-4F52-AAD6-A43514233573}" type="presOf" srcId="{66B97150-04A8-4E53-9E39-6EFA3CFB3070}" destId="{928B615F-0F8D-4140-A638-0FBB8F5BF1E9}" srcOrd="1" destOrd="1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9206AC63-BD65-4819-BBEB-10F1BA362E0F}" type="presOf" srcId="{0073DF90-40DE-480A-90A5-AA96BF8DC33C}" destId="{98225A61-A0EC-450A-BED8-EF2E47E8FD18}" srcOrd="1" destOrd="0" presId="urn:microsoft.com/office/officeart/2011/layout/InterconnectedBlockProcess"/>
    <dgm:cxn modelId="{011BE445-2BF3-46BB-A340-EE2793C3A42F}" srcId="{A59EC69B-8F3F-425B-819F-E8C557946AEE}" destId="{6E2AD148-F9A8-4A0B-AC77-956513A0C3CB}" srcOrd="2" destOrd="0" parTransId="{2451F865-C85D-4B8C-B1CB-C59F5FE7EF1C}" sibTransId="{AF264D7F-D9FC-4E29-B853-9BF4EFF52DA7}"/>
    <dgm:cxn modelId="{1EC9A566-E17A-4445-90A8-A42CBE8367A1}" type="presOf" srcId="{370A7566-5D73-4F8F-B92C-205381C3B3E5}" destId="{1C91D7E3-8940-4A33-9182-677DD5415901}" srcOrd="1" destOrd="2" presId="urn:microsoft.com/office/officeart/2011/layout/InterconnectedBlockProcess"/>
    <dgm:cxn modelId="{8F0C3768-B580-4B19-B02D-AF808A6769C9}" type="presOf" srcId="{6E2AD148-F9A8-4A0B-AC77-956513A0C3CB}" destId="{2532504F-5FE1-4C97-B485-F05E8885EACC}" srcOrd="0" destOrd="2" presId="urn:microsoft.com/office/officeart/2011/layout/InterconnectedBlockProcess"/>
    <dgm:cxn modelId="{81CBF849-B353-4DD4-AA6E-8402933224E6}" type="presOf" srcId="{0073DF90-40DE-480A-90A5-AA96BF8DC33C}" destId="{FC0F1314-3294-4A8C-8DCE-EB53E236164C}" srcOrd="0" destOrd="0" presId="urn:microsoft.com/office/officeart/2011/layout/InterconnectedBlockProcess"/>
    <dgm:cxn modelId="{4F69626A-28C0-466E-9352-7E3B5A3DF786}" type="presOf" srcId="{AB669F7E-330D-45C4-80F6-5AE8BC7E6640}" destId="{928B615F-0F8D-4140-A638-0FBB8F5BF1E9}" srcOrd="1" destOrd="2" presId="urn:microsoft.com/office/officeart/2011/layout/InterconnectedBlockProcess"/>
    <dgm:cxn modelId="{8B536672-CA8D-45A9-B06D-D25B4447284B}" type="presOf" srcId="{080E4547-457F-44C1-A8B4-B97DB0CA31BD}" destId="{6BCCFBA6-7A43-4631-AD7F-AFB10E1E6CD7}" srcOrd="1" destOrd="3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14861256-33F0-4668-B568-6BCEB67DFBC7}" srcId="{5E92505A-51E0-4F78-B3C5-704ACF8710DE}" destId="{C1217908-8267-4778-8C0A-5BF85AE3B85D}" srcOrd="2" destOrd="0" parTransId="{4A2CF75E-C4BF-43E5-B762-2DB9F5D82CFD}" sibTransId="{CCB36C1A-C05F-4956-8643-E79385E1E814}"/>
    <dgm:cxn modelId="{409B1858-8F31-47E3-A9D1-013E68D1A34B}" srcId="{988D96B0-D16E-4763-B393-84178CF4FF50}" destId="{3C96932D-6D6C-473D-9A18-E9B3ACD6D7F3}" srcOrd="1" destOrd="0" parTransId="{56EC86B5-105C-4A43-ABCC-5AE0020A268D}" sibTransId="{A244E1CA-4BAC-45B7-BFD6-08B3401B2E27}"/>
    <dgm:cxn modelId="{3BEF9C78-79F3-41C3-A862-33CBCADAEE1D}" srcId="{5E92505A-51E0-4F78-B3C5-704ACF8710DE}" destId="{572510D6-1358-41F5-A405-3B0C01A5270D}" srcOrd="3" destOrd="0" parTransId="{86BC7125-590E-4606-B1BF-EBFED6E1D773}" sibTransId="{1D0DCEE6-E3E3-46F4-99FB-D834D8377A3C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3F7F617F-E427-4165-8EA0-51C00330CB80}" type="presOf" srcId="{572510D6-1358-41F5-A405-3B0C01A5270D}" destId="{98225A61-A0EC-450A-BED8-EF2E47E8FD18}" srcOrd="1" destOrd="3" presId="urn:microsoft.com/office/officeart/2011/layout/InterconnectedBlockProcess"/>
    <dgm:cxn modelId="{292F9381-85B5-4875-B2D8-E59DE8E85E76}" type="presOf" srcId="{C1217908-8267-4778-8C0A-5BF85AE3B85D}" destId="{FC0F1314-3294-4A8C-8DCE-EB53E236164C}" srcOrd="0" destOrd="2" presId="urn:microsoft.com/office/officeart/2011/layout/InterconnectedBlockProcess"/>
    <dgm:cxn modelId="{0BCAAA81-E989-4B02-8EA4-7E178E108A49}" type="presOf" srcId="{555ACAFD-8358-4397-9EFC-B5AF2501AE9C}" destId="{0D08ED52-6744-4369-B780-916B09984775}" srcOrd="1" destOrd="1" presId="urn:microsoft.com/office/officeart/2011/layout/InterconnectedBlockProcess"/>
    <dgm:cxn modelId="{CF4D0083-B2DD-4101-A182-F82983C7CF85}" type="presOf" srcId="{080E4547-457F-44C1-A8B4-B97DB0CA31BD}" destId="{06F8D57B-EDF4-4CF4-8700-DC2CA3E3028E}" srcOrd="0" destOrd="3" presId="urn:microsoft.com/office/officeart/2011/layout/InterconnectedBlockProcess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FA86AB8F-68CA-4155-8376-A97F0E6A6A44}" srcId="{7B3055AA-BF7C-46D0-9A9E-60087B9F57B4}" destId="{080E4547-457F-44C1-A8B4-B97DB0CA31BD}" srcOrd="3" destOrd="0" parTransId="{CC3FD083-2C2F-4EEB-BE56-FE3FC8AEABF8}" sibTransId="{8075EDD3-4367-4ACE-ACCD-3C3A9FE1F578}"/>
    <dgm:cxn modelId="{70640893-52BC-43E5-957A-D5F955BE474E}" type="presOf" srcId="{2370AE2D-E40E-4279-B2A1-6DCF5923CA90}" destId="{928B615F-0F8D-4140-A638-0FBB8F5BF1E9}" srcOrd="1" destOrd="3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6F0596-A55A-4668-9335-A66F1C9425BC}" srcId="{7B3055AA-BF7C-46D0-9A9E-60087B9F57B4}" destId="{D712D11E-FBB8-4648-BC8F-306F83A12CFF}" srcOrd="1" destOrd="0" parTransId="{61145911-A017-4D4D-808B-2F98C19CD396}" sibTransId="{73808F64-BA2D-464D-B4A0-F6FDFA3C6A88}"/>
    <dgm:cxn modelId="{64EB4998-1428-4844-85C6-BF5C3CEAE7A7}" srcId="{65C051F6-A849-4495-A964-CD4C650B9C06}" destId="{AB669F7E-330D-45C4-80F6-5AE8BC7E6640}" srcOrd="2" destOrd="0" parTransId="{4D19F7AB-B816-4551-981F-7F97540C706C}" sibTransId="{DBAF928E-3271-46D7-944B-AF7C7EA9AE42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048225A9-A0D3-4D98-9897-0A93ABAADDFE}" type="presOf" srcId="{870F32BA-55D4-44C7-8C13-661E2E4A264D}" destId="{98225A61-A0EC-450A-BED8-EF2E47E8FD18}" srcOrd="1" destOrd="1" presId="urn:microsoft.com/office/officeart/2011/layout/InterconnectedBlockProcess"/>
    <dgm:cxn modelId="{10F63AAA-CB0D-4BCD-BD76-4404CD5FAD73}" srcId="{65C051F6-A849-4495-A964-CD4C650B9C06}" destId="{66B97150-04A8-4E53-9E39-6EFA3CFB3070}" srcOrd="1" destOrd="0" parTransId="{3C8E9845-8328-4840-8EA1-1C74D15666BB}" sibTransId="{7C2B2669-D107-4728-A8A2-29B13C5EA766}"/>
    <dgm:cxn modelId="{29A8FEAD-5F84-4FF6-825D-7DEBA68F01B5}" type="presOf" srcId="{3C96932D-6D6C-473D-9A18-E9B3ACD6D7F3}" destId="{1C91D7E3-8940-4A33-9182-677DD5415901}" srcOrd="1" destOrd="1" presId="urn:microsoft.com/office/officeart/2011/layout/InterconnectedBlockProcess"/>
    <dgm:cxn modelId="{D55B19B6-E8A7-4066-AB4A-4EDC5EBFAB30}" type="presOf" srcId="{DB0F1A80-B830-4A3D-8822-85C55C60BC6C}" destId="{6BCCFBA6-7A43-4631-AD7F-AFB10E1E6CD7}" srcOrd="1" destOrd="2" presId="urn:microsoft.com/office/officeart/2011/layout/InterconnectedBlockProcess"/>
    <dgm:cxn modelId="{DC36F0B7-6463-47ED-94A5-1B1BE6AE53C6}" type="presOf" srcId="{92663898-4339-4782-9E19-E1CA02181D55}" destId="{928B615F-0F8D-4140-A638-0FBB8F5BF1E9}" srcOrd="1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55A1EAC0-5310-4FFD-8B92-21B5F6D1447B}" type="presOf" srcId="{3C96932D-6D6C-473D-9A18-E9B3ACD6D7F3}" destId="{A134CDD1-D85F-44EF-8BEE-9F99A855C1E6}" srcOrd="0" destOrd="1" presId="urn:microsoft.com/office/officeart/2011/layout/InterconnectedBlockProcess"/>
    <dgm:cxn modelId="{1E4C45C6-7C18-411F-8DED-105FD1C97EF8}" srcId="{988D96B0-D16E-4763-B393-84178CF4FF50}" destId="{370A7566-5D73-4F8F-B92C-205381C3B3E5}" srcOrd="2" destOrd="0" parTransId="{A0B90890-453F-478C-8766-3654AD276D1D}" sibTransId="{D7160488-D04A-4927-9D74-77294320EE1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71CB39D2-90CC-45BE-A825-FDD9AB146D0E}" srcId="{7B3055AA-BF7C-46D0-9A9E-60087B9F57B4}" destId="{DB0F1A80-B830-4A3D-8822-85C55C60BC6C}" srcOrd="2" destOrd="0" parTransId="{F3F6A5FC-C505-4CC7-9906-1B3442156351}" sibTransId="{8C85CC38-A0AE-4B25-96F3-71AAA1F5B865}"/>
    <dgm:cxn modelId="{58BAD3D3-B5E5-4044-B2B6-0E5947485E13}" srcId="{5E92505A-51E0-4F78-B3C5-704ACF8710DE}" destId="{870F32BA-55D4-44C7-8C13-661E2E4A264D}" srcOrd="1" destOrd="0" parTransId="{3D2C6C95-927B-4F6F-BA83-BBB7237C2C8B}" sibTransId="{39464370-6A2A-4617-9F03-A0B955AB6B49}"/>
    <dgm:cxn modelId="{B55EE6D4-1CFD-43EA-AB68-56764DFD45DD}" type="presOf" srcId="{5939BE30-3027-4950-889E-BD7417D1EAC5}" destId="{0D08ED52-6744-4369-B780-916B09984775}" srcOrd="1" destOrd="3" presId="urn:microsoft.com/office/officeart/2011/layout/InterconnectedBlockProcess"/>
    <dgm:cxn modelId="{D37C51DA-0C9E-485F-A943-C2704544653A}" srcId="{65C051F6-A849-4495-A964-CD4C650B9C06}" destId="{2370AE2D-E40E-4279-B2A1-6DCF5923CA90}" srcOrd="3" destOrd="0" parTransId="{356E4683-21E3-41F1-AAEB-B613A70AC0DC}" sibTransId="{55E499AA-C9AB-4DDE-8ED9-307184D10E0D}"/>
    <dgm:cxn modelId="{FF7455DC-093C-4016-918C-0961CAA499BC}" type="presOf" srcId="{D712D11E-FBB8-4648-BC8F-306F83A12CFF}" destId="{6BCCFBA6-7A43-4631-AD7F-AFB10E1E6CD7}" srcOrd="1" destOrd="1" presId="urn:microsoft.com/office/officeart/2011/layout/InterconnectedBlockProcess"/>
    <dgm:cxn modelId="{DBDC23E0-29A2-42DA-AF7F-2AAD81450A94}" type="presOf" srcId="{66B97150-04A8-4E53-9E39-6EFA3CFB3070}" destId="{8CAE5A4D-0C7B-48A6-917B-0B8433D0574B}" srcOrd="0" destOrd="1" presId="urn:microsoft.com/office/officeart/2011/layout/InterconnectedBlockProcess"/>
    <dgm:cxn modelId="{A26EEBE1-BE32-4BB0-8E80-F46F1476FD34}" type="presOf" srcId="{6E2AD148-F9A8-4A0B-AC77-956513A0C3CB}" destId="{0D08ED52-6744-4369-B780-916B09984775}" srcOrd="1" destOrd="2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4E3246ED-6A21-490F-87C4-50CB6C4B271B}" type="presOf" srcId="{870F32BA-55D4-44C7-8C13-661E2E4A264D}" destId="{FC0F1314-3294-4A8C-8DCE-EB53E236164C}" srcOrd="0" destOrd="1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EB237EF2-C01B-497A-B521-BCD7A24F9C2E}" srcId="{65C051F6-A849-4495-A964-CD4C650B9C06}" destId="{92663898-4339-4782-9E19-E1CA02181D55}" srcOrd="0" destOrd="0" parTransId="{24207481-0DB9-417F-9B9A-516FB8C99248}" sibTransId="{1872C2BC-0D5A-4B9C-A806-54E6040A8616}"/>
    <dgm:cxn modelId="{1C0954F3-9B5B-4469-A7CF-5E01BC797ECF}" type="presOf" srcId="{92663898-4339-4782-9E19-E1CA02181D55}" destId="{8CAE5A4D-0C7B-48A6-917B-0B8433D0574B}" srcOrd="0" destOrd="0" presId="urn:microsoft.com/office/officeart/2011/layout/InterconnectedBlockProcess"/>
    <dgm:cxn modelId="{D177C9F3-3F11-47CD-BEDC-A8F5F16F91A8}" type="presOf" srcId="{D712D11E-FBB8-4648-BC8F-306F83A12CFF}" destId="{06F8D57B-EDF4-4CF4-8700-DC2CA3E3028E}" srcOrd="0" destOrd="1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2DBE97F9-B9D3-48F6-8636-D7CA1655FDD3}" srcId="{5E92505A-51E0-4F78-B3C5-704ACF8710DE}" destId="{0073DF90-40DE-480A-90A5-AA96BF8DC33C}" srcOrd="0" destOrd="0" parTransId="{9BF2ED7E-9209-4F10-A718-1F905AA9CBD8}" sibTransId="{BBE2D199-4E41-498D-8784-DC6AB23E0094}"/>
    <dgm:cxn modelId="{8B3FBDFA-637E-4B0C-8E0C-B55899F44A0C}" type="presOf" srcId="{5939BE30-3027-4950-889E-BD7417D1EAC5}" destId="{2532504F-5FE1-4C97-B485-F05E8885EACC}" srcOrd="0" destOrd="3" presId="urn:microsoft.com/office/officeart/2011/layout/InterconnectedBlockProcess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1. Completion of assigned project tasks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2. Demonstration of technical skills gained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3. Documentation and project explanation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4. Overall learning outcomes and internship experience</a:t>
          </a:r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1. Working on major project components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2. Implementing backend logic independently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3. Testing and optimizing the application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4. Understanding real-time project workflows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1. Contributing to module-level development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2. Working on mini projects or assigned features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3. Understanding database integration and APIs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4. Collaborating with the project team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1. Working on small tasks using Python and Django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2. Implementing basic CRUD operations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3. Understanding Django project structure and apps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4. Improving debugging and coding practices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1. Understanding the organization and internship workflow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2. Training on Python fundamentals and Django basics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3. Setting up the development environment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4. Learning basic backend concepts  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26/04/2026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26-04-2026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26-04-2026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26-04-2026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Gopal Krishna Shyam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Sreehari T M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242596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Elevator Maintenance and Asset Tracking App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21785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Ann Olivia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20221COM0208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8-COM-01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6524" y="1182289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572" y="1296955"/>
            <a:ext cx="10515600" cy="426409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Axxonet</a:t>
            </a:r>
            <a:r>
              <a:rPr lang="en-US" b="1" dirty="0"/>
              <a:t> Technologies - </a:t>
            </a:r>
            <a:r>
              <a:rPr lang="en-US" dirty="0"/>
              <a:t>is a Bangalore-based technology and research-driven company founded in the year 2000.</a:t>
            </a:r>
            <a:br>
              <a:rPr lang="en-US" dirty="0"/>
            </a:br>
            <a:r>
              <a:rPr lang="en-US" dirty="0"/>
              <a:t>The company focuses on delivering innovative </a:t>
            </a:r>
            <a:r>
              <a:rPr lang="en-US" b="1" dirty="0"/>
              <a:t>IT solutions</a:t>
            </a:r>
            <a:r>
              <a:rPr lang="en-US" dirty="0"/>
              <a:t>, </a:t>
            </a:r>
            <a:r>
              <a:rPr lang="en-US" b="1" dirty="0"/>
              <a:t>analytics</a:t>
            </a:r>
            <a:r>
              <a:rPr lang="en-US" dirty="0"/>
              <a:t>, and </a:t>
            </a:r>
            <a:r>
              <a:rPr lang="en-US" b="1" dirty="0"/>
              <a:t>digital transformation services.</a:t>
            </a:r>
            <a:br>
              <a:rPr lang="en-US" dirty="0"/>
            </a:br>
            <a:r>
              <a:rPr lang="en-US" dirty="0" err="1"/>
              <a:t>Axxonet</a:t>
            </a:r>
            <a:r>
              <a:rPr lang="en-US" dirty="0"/>
              <a:t> combines strong research capabilities with real-world business applications.</a:t>
            </a:r>
            <a:br>
              <a:rPr lang="en-US" dirty="0"/>
            </a:br>
            <a:r>
              <a:rPr lang="en-US" dirty="0"/>
              <a:t>It offers services in business intelligence, </a:t>
            </a:r>
            <a:r>
              <a:rPr lang="en-US" b="1" dirty="0"/>
              <a:t>data analytics</a:t>
            </a:r>
            <a:r>
              <a:rPr lang="en-US" dirty="0"/>
              <a:t>, </a:t>
            </a:r>
            <a:r>
              <a:rPr lang="en-US" b="1" dirty="0"/>
              <a:t>DevOps</a:t>
            </a:r>
            <a:r>
              <a:rPr lang="en-US" dirty="0"/>
              <a:t>, </a:t>
            </a:r>
            <a:r>
              <a:rPr lang="en-US" b="1" dirty="0"/>
              <a:t>cloud solutions</a:t>
            </a:r>
            <a:r>
              <a:rPr lang="en-US" dirty="0"/>
              <a:t>, and </a:t>
            </a:r>
            <a:r>
              <a:rPr lang="en-US" b="1" dirty="0"/>
              <a:t>software development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organization is also well known for its work in </a:t>
            </a:r>
            <a:r>
              <a:rPr lang="en-US" b="1" dirty="0"/>
              <a:t>healthcare</a:t>
            </a:r>
            <a:r>
              <a:rPr lang="en-US" dirty="0"/>
              <a:t> and </a:t>
            </a:r>
            <a:r>
              <a:rPr lang="en-US" b="1" dirty="0"/>
              <a:t>neuroscience technologies.</a:t>
            </a:r>
            <a:br>
              <a:rPr lang="en-US" dirty="0"/>
            </a:br>
            <a:r>
              <a:rPr lang="en-US" dirty="0" err="1"/>
              <a:t>Axxonet</a:t>
            </a:r>
            <a:r>
              <a:rPr lang="en-US" dirty="0"/>
              <a:t> develops advanced medical and laboratory systems for research and clinical use.</a:t>
            </a:r>
            <a:br>
              <a:rPr lang="en-US" dirty="0"/>
            </a:br>
            <a:r>
              <a:rPr lang="en-US" dirty="0"/>
              <a:t>The company follows global quality standards and is </a:t>
            </a:r>
            <a:r>
              <a:rPr lang="en-US" b="1" dirty="0"/>
              <a:t>ISO certified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serves clients across India and international markets.</a:t>
            </a:r>
            <a:br>
              <a:rPr lang="en-US" dirty="0"/>
            </a:br>
            <a:r>
              <a:rPr lang="en-US" dirty="0" err="1"/>
              <a:t>Axxonet</a:t>
            </a:r>
            <a:r>
              <a:rPr lang="en-US" dirty="0"/>
              <a:t> emphasizes innovation, problem-solving, and technology excellence.</a:t>
            </a:r>
            <a:br>
              <a:rPr lang="en-US" dirty="0"/>
            </a:br>
            <a:r>
              <a:rPr lang="en-US" dirty="0"/>
              <a:t>Overall, it bridges research, technology, and business to deliver impactful solutions.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AC81F37-EC59-AA6A-19AC-839B9921F3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1442" y="1483852"/>
            <a:ext cx="11994307" cy="3890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/>
              <a:t>Axxonet</a:t>
            </a:r>
            <a:r>
              <a:rPr lang="en-US" sz="2400" dirty="0"/>
              <a:t> operates in </a:t>
            </a:r>
            <a:r>
              <a:rPr lang="en-US" sz="2400" b="1" dirty="0"/>
              <a:t>IT consulting, analytics, and digital transformation</a:t>
            </a:r>
            <a:r>
              <a:rPr lang="en-US" sz="2400" dirty="0"/>
              <a:t> services.</a:t>
            </a:r>
          </a:p>
          <a:p>
            <a:r>
              <a:rPr lang="en-US" sz="2400" dirty="0"/>
              <a:t>It specializes in </a:t>
            </a:r>
            <a:r>
              <a:rPr lang="en-US" sz="2400" b="1" dirty="0"/>
              <a:t>business intelligence and data analytics</a:t>
            </a:r>
            <a:r>
              <a:rPr lang="en-US" sz="2400" dirty="0"/>
              <a:t> for informed decision-making.</a:t>
            </a:r>
          </a:p>
          <a:p>
            <a:r>
              <a:rPr lang="en-US" sz="2400" dirty="0"/>
              <a:t>The company works with </a:t>
            </a:r>
            <a:r>
              <a:rPr lang="en-US" sz="2400" b="1" dirty="0"/>
              <a:t>AI, machine learning, and predictive analytics</a:t>
            </a:r>
            <a:r>
              <a:rPr lang="en-US" sz="2400" dirty="0"/>
              <a:t> technologies.</a:t>
            </a:r>
          </a:p>
          <a:p>
            <a:r>
              <a:rPr lang="en-US" sz="2400" dirty="0"/>
              <a:t>It delivers </a:t>
            </a:r>
            <a:r>
              <a:rPr lang="en-US" sz="2400" b="1" dirty="0"/>
              <a:t>cloud computing and DevOps solutions</a:t>
            </a:r>
            <a:r>
              <a:rPr lang="en-US" sz="2400" dirty="0"/>
              <a:t> for scalable digital platforms.</a:t>
            </a:r>
          </a:p>
          <a:p>
            <a:r>
              <a:rPr lang="en-US" sz="2400" dirty="0" err="1"/>
              <a:t>Axxonet</a:t>
            </a:r>
            <a:r>
              <a:rPr lang="en-US" sz="2400" dirty="0"/>
              <a:t> develops </a:t>
            </a:r>
            <a:r>
              <a:rPr lang="en-US" sz="2400" b="1" dirty="0"/>
              <a:t>custom web, mobile, and enterprise software applications</a:t>
            </a:r>
            <a:r>
              <a:rPr lang="en-US" sz="2400" dirty="0"/>
              <a:t>.</a:t>
            </a:r>
          </a:p>
          <a:p>
            <a:r>
              <a:rPr lang="en-US" sz="2400" dirty="0"/>
              <a:t>The organization uses </a:t>
            </a:r>
            <a:r>
              <a:rPr lang="en-US" sz="2400" b="1" dirty="0"/>
              <a:t>modern data platforms and visualization tools</a:t>
            </a:r>
            <a:r>
              <a:rPr lang="en-US" sz="2400" dirty="0"/>
              <a:t> for insights.</a:t>
            </a:r>
          </a:p>
          <a:p>
            <a:r>
              <a:rPr lang="en-US" sz="2400" dirty="0"/>
              <a:t>It also focuses on </a:t>
            </a:r>
            <a:r>
              <a:rPr lang="en-US" sz="2400" b="1" dirty="0"/>
              <a:t>healthcare and neuroscience technologies</a:t>
            </a:r>
            <a:r>
              <a:rPr lang="en-US" sz="2400" dirty="0"/>
              <a:t>, including EEG and research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919" y="1399903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For the initial phase of my internship, I am currently working under the guidance of an internship guide </a:t>
            </a:r>
            <a:r>
              <a:rPr lang="en-US" b="1" dirty="0"/>
              <a:t>– Mr. Mukesh</a:t>
            </a:r>
            <a:r>
              <a:rPr lang="en-US" dirty="0"/>
              <a:t> who acts as my reporting mentor and oversees my learning and progress. </a:t>
            </a:r>
          </a:p>
          <a:p>
            <a:pPr marL="0" indent="0">
              <a:buNone/>
            </a:pPr>
            <a:r>
              <a:rPr lang="en-US" dirty="0"/>
              <a:t>The first week was focused on training, where I was introduced to </a:t>
            </a:r>
            <a:r>
              <a:rPr lang="en-US" b="1" dirty="0"/>
              <a:t>Python</a:t>
            </a:r>
            <a:r>
              <a:rPr lang="en-US" dirty="0"/>
              <a:t> basics and </a:t>
            </a:r>
            <a:r>
              <a:rPr lang="en-US" b="1" dirty="0"/>
              <a:t>Django</a:t>
            </a:r>
            <a:r>
              <a:rPr lang="en-US" dirty="0"/>
              <a:t> fundamentals to build a strong technical foundation. In the second week, I have started working on small tasks and mini projects under my mentor’s supervision to apply the concepts learned. </a:t>
            </a:r>
          </a:p>
          <a:p>
            <a:pPr marL="0" indent="0">
              <a:buNone/>
            </a:pPr>
            <a:r>
              <a:rPr lang="en-US" dirty="0"/>
              <a:t>As the internship progresses, I will be gradually integrated into the core project team, and from the third week onwards, I am expected to contribute to major projects while continuing to report through the assigned mentor and project structure.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2A32766-3969-01D6-F8F2-14DA5F7347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8910" y="1443118"/>
            <a:ext cx="836658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Adapting to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new work environment and professional culture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Understanding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requirements and expectations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initially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Learning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new technologies and tools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within a limited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Applying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theoretical knowledge to practical tasks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Managing time between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learning and assigned tasks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Gaining confidence while asking questions and seeking guidance</a:t>
            </a: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A642430-25A1-C090-8BBD-DA44201FFD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1372" y="1369032"/>
            <a:ext cx="1074242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understand how real-world software development works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improve my skills in both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Front-end and Back-end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apply classroom concepts to practical tasks and mini projects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follow proper coding standards and development practices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gain confidence in working on assigned tasks independently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prepare myself for contributing to major projects in later stages of the internship</a:t>
            </a: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5087471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7066</TotalTime>
  <Words>807</Words>
  <Application>Microsoft Office PowerPoint</Application>
  <PresentationFormat>Widescreen</PresentationFormat>
  <Paragraphs>92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ann olivia</cp:lastModifiedBy>
  <cp:revision>718</cp:revision>
  <dcterms:created xsi:type="dcterms:W3CDTF">2022-10-14T07:18:17Z</dcterms:created>
  <dcterms:modified xsi:type="dcterms:W3CDTF">2026-04-26T11:12:44Z</dcterms:modified>
</cp:coreProperties>
</file>