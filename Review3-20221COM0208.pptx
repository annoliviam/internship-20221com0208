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9" r:id="rId2"/>
    <p:sldId id="270" r:id="rId3"/>
    <p:sldId id="261" r:id="rId4"/>
    <p:sldId id="262" r:id="rId5"/>
    <p:sldId id="263" r:id="rId6"/>
    <p:sldId id="264" r:id="rId7"/>
    <p:sldId id="265" r:id="rId8"/>
    <p:sldId id="271" r:id="rId9"/>
    <p:sldId id="272" r:id="rId10"/>
    <p:sldId id="273" r:id="rId11"/>
    <p:sldId id="274" r:id="rId12"/>
    <p:sldId id="275" r:id="rId13"/>
    <p:sldId id="276" r:id="rId14"/>
    <p:sldId id="277" r:id="rId15"/>
    <p:sldId id="266" r:id="rId16"/>
    <p:sldId id="267" r:id="rId17"/>
    <p:sldId id="268" r:id="rId18"/>
    <p:sldId id="26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74" autoAdjust="0"/>
    <p:restoredTop sz="94660"/>
  </p:normalViewPr>
  <p:slideViewPr>
    <p:cSldViewPr snapToGrid="0">
      <p:cViewPr varScale="1">
        <p:scale>
          <a:sx n="96" d="100"/>
          <a:sy n="96" d="100"/>
        </p:scale>
        <p:origin x="28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a:latin typeface="Times New Roman" panose="02020603050405020304" pitchFamily="18" charset="0"/>
              <a:cs typeface="Times New Roman" panose="02020603050405020304" pitchFamily="18" charset="0"/>
            </a:rPr>
            <a:t>Review 1</a:t>
          </a:r>
        </a:p>
      </dgm:t>
    </dgm:pt>
    <dgm:pt modelId="{080A6B9D-C27D-4227-AC65-3C97878D78C4}" type="parTrans" cxnId="{8CB593F6-6C5D-4606-B959-3E27F9872EC1}">
      <dgm:prSet/>
      <dgm:spPr/>
      <dgm:t>
        <a:bodyPr/>
        <a:lstStyle/>
        <a:p>
          <a:endParaRPr lang="en-US"/>
        </a:p>
      </dgm:t>
    </dgm:pt>
    <dgm:pt modelId="{19B27CEC-4BAD-44A7-A9A7-B7A8B23ADCFD}" type="sibTrans" cxnId="{8CB593F6-6C5D-4606-B959-3E27F9872EC1}">
      <dgm:prSet/>
      <dgm:spPr/>
      <dgm:t>
        <a:bodyPr/>
        <a:lstStyle/>
        <a:p>
          <a:endParaRPr lang="en-US"/>
        </a:p>
      </dgm:t>
    </dgm:pt>
    <dgm:pt modelId="{D471E45F-B026-44AA-9616-57E786AE80AF}">
      <dgm:prSet phldrT="[Text]"/>
      <dgm:spPr/>
      <dgm:t>
        <a:bodyPr/>
        <a:lstStyle/>
        <a:p>
          <a:pPr>
            <a:buNone/>
          </a:pPr>
          <a:endParaRPr lang="en-US" dirty="0">
            <a:latin typeface="Times New Roman" panose="02020603050405020304" pitchFamily="18" charset="0"/>
            <a:cs typeface="Times New Roman" panose="02020603050405020304" pitchFamily="18" charset="0"/>
          </a:endParaRPr>
        </a:p>
      </dgm:t>
    </dgm:pt>
    <dgm:pt modelId="{326A986D-69A4-4AC0-AD9B-462FFC9C3F18}" type="parTrans" cxnId="{AEE28BEF-3F73-41A5-9307-D42A450FCA17}">
      <dgm:prSet/>
      <dgm:spPr/>
      <dgm:t>
        <a:bodyPr/>
        <a:lstStyle/>
        <a:p>
          <a:endParaRPr lang="en-US"/>
        </a:p>
      </dgm:t>
    </dgm:pt>
    <dgm:pt modelId="{304E70AD-39C7-4C28-BF7B-6EE91BAE97B7}" type="sibTrans" cxnId="{AEE28BEF-3F73-41A5-9307-D42A450FCA17}">
      <dgm:prSet/>
      <dgm:spPr/>
      <dgm:t>
        <a:bodyPr/>
        <a:lstStyle/>
        <a:p>
          <a:endParaRPr lang="en-US"/>
        </a:p>
      </dgm:t>
    </dgm:pt>
    <dgm:pt modelId="{7B3055AA-BF7C-46D0-9A9E-60087B9F57B4}">
      <dgm:prSet phldrT="[Text]"/>
      <dgm:spPr/>
      <dgm:t>
        <a:bodyPr/>
        <a:lstStyle/>
        <a:p>
          <a:r>
            <a:rPr lang="en-US" dirty="0">
              <a:latin typeface="Times New Roman" panose="02020603050405020304" pitchFamily="18" charset="0"/>
              <a:cs typeface="Times New Roman" panose="02020603050405020304" pitchFamily="18" charset="0"/>
            </a:rPr>
            <a:t>Review 2</a:t>
          </a:r>
        </a:p>
      </dgm:t>
    </dgm:pt>
    <dgm:pt modelId="{F772EF41-D2BB-4368-8327-B4E332165F48}" type="parTrans" cxnId="{6C7D4BBB-EED6-4011-9FBC-87F683D5B245}">
      <dgm:prSet/>
      <dgm:spPr/>
      <dgm:t>
        <a:bodyPr/>
        <a:lstStyle/>
        <a:p>
          <a:endParaRPr lang="en-US"/>
        </a:p>
      </dgm:t>
    </dgm:pt>
    <dgm:pt modelId="{B81593E2-4CAC-4783-8D2D-E9DDD236A942}" type="sibTrans" cxnId="{6C7D4BBB-EED6-4011-9FBC-87F683D5B245}">
      <dgm:prSet/>
      <dgm:spPr/>
      <dgm:t>
        <a:bodyPr/>
        <a:lstStyle/>
        <a:p>
          <a:endParaRPr lang="en-US"/>
        </a:p>
      </dgm:t>
    </dgm:pt>
    <dgm:pt modelId="{9FED87C4-3F3B-4A18-9185-9F80CFEDEA2E}">
      <dgm:prSet phldrT="[Text]"/>
      <dgm:spPr/>
      <dgm:t>
        <a:bodyPr/>
        <a:lstStyle/>
        <a:p>
          <a:pPr>
            <a:buNone/>
          </a:pPr>
          <a:r>
            <a:rPr lang="en-US" dirty="0"/>
            <a:t>Built a demo </a:t>
          </a:r>
          <a:r>
            <a:rPr lang="en-US" b="1" dirty="0"/>
            <a:t>Backend project</a:t>
          </a:r>
          <a:endParaRPr lang="en-US" dirty="0">
            <a:latin typeface="Times New Roman" panose="02020603050405020304" pitchFamily="18" charset="0"/>
            <a:cs typeface="Times New Roman" panose="02020603050405020304" pitchFamily="18" charset="0"/>
          </a:endParaRPr>
        </a:p>
      </dgm:t>
    </dgm:pt>
    <dgm:pt modelId="{669F5586-1E47-4A85-AA72-0E435BABD665}" type="parTrans" cxnId="{27611794-B6EF-4593-A560-02BF7692DC5A}">
      <dgm:prSet/>
      <dgm:spPr/>
      <dgm:t>
        <a:bodyPr/>
        <a:lstStyle/>
        <a:p>
          <a:endParaRPr lang="en-US"/>
        </a:p>
      </dgm:t>
    </dgm:pt>
    <dgm:pt modelId="{AD0D1882-5210-4A49-9875-4AAC43595580}" type="sibTrans" cxnId="{27611794-B6EF-4593-A560-02BF7692DC5A}">
      <dgm:prSet/>
      <dgm:spPr/>
      <dgm:t>
        <a:bodyPr/>
        <a:lstStyle/>
        <a:p>
          <a:endParaRPr lang="en-US"/>
        </a:p>
      </dgm:t>
    </dgm:pt>
    <dgm:pt modelId="{A59EC69B-8F3F-425B-819F-E8C557946AEE}">
      <dgm:prSet phldrT="[Text]"/>
      <dgm:spPr/>
      <dgm:t>
        <a:bodyPr/>
        <a:lstStyle/>
        <a:p>
          <a:r>
            <a:rPr lang="en-US" dirty="0">
              <a:latin typeface="Times New Roman" panose="02020603050405020304" pitchFamily="18" charset="0"/>
              <a:cs typeface="Times New Roman" panose="02020603050405020304" pitchFamily="18" charset="0"/>
            </a:rPr>
            <a:t>Review 3</a:t>
          </a:r>
        </a:p>
      </dgm:t>
    </dgm:pt>
    <dgm:pt modelId="{0095C3CB-916F-4060-A8DA-DD282FB51587}" type="parTrans" cxnId="{D1BA1DD0-A52A-47BF-962D-9810C87E1576}">
      <dgm:prSet/>
      <dgm:spPr/>
      <dgm:t>
        <a:bodyPr/>
        <a:lstStyle/>
        <a:p>
          <a:endParaRPr lang="en-US"/>
        </a:p>
      </dgm:t>
    </dgm:pt>
    <dgm:pt modelId="{2868AD8D-4E38-46CE-A972-709857BF40AC}" type="sibTrans" cxnId="{D1BA1DD0-A52A-47BF-962D-9810C87E1576}">
      <dgm:prSet/>
      <dgm:spPr/>
      <dgm:t>
        <a:bodyPr/>
        <a:lstStyle/>
        <a:p>
          <a:endParaRPr lang="en-US"/>
        </a:p>
      </dgm:t>
    </dgm:pt>
    <dgm:pt modelId="{73DB572E-062D-41AD-8033-D361B8E583DB}">
      <dgm:prSet phldrT="[Text]"/>
      <dgm:spPr/>
      <dgm:t>
        <a:bodyPr/>
        <a:lstStyle/>
        <a:p>
          <a:pPr>
            <a:buNone/>
          </a:pPr>
          <a:r>
            <a:rPr lang="en-US" dirty="0"/>
            <a:t>Set up </a:t>
          </a:r>
          <a:r>
            <a:rPr lang="en-US" b="1" dirty="0"/>
            <a:t>Frappe using Docker</a:t>
          </a:r>
          <a:endParaRPr lang="en-US" dirty="0">
            <a:latin typeface="Times New Roman" panose="02020603050405020304" pitchFamily="18" charset="0"/>
            <a:cs typeface="Times New Roman" panose="02020603050405020304" pitchFamily="18" charset="0"/>
          </a:endParaRPr>
        </a:p>
      </dgm:t>
    </dgm:pt>
    <dgm:pt modelId="{75D01B62-D132-48B8-9D06-D0A551A21107}" type="parTrans" cxnId="{AA17007A-110D-43AE-B6F2-DF2DF885F2E2}">
      <dgm:prSet/>
      <dgm:spPr/>
      <dgm:t>
        <a:bodyPr/>
        <a:lstStyle/>
        <a:p>
          <a:endParaRPr lang="en-US"/>
        </a:p>
      </dgm:t>
    </dgm:pt>
    <dgm:pt modelId="{98BDB650-3386-4D3D-8E80-609010499291}" type="sibTrans" cxnId="{AA17007A-110D-43AE-B6F2-DF2DF885F2E2}">
      <dgm:prSet/>
      <dgm:spPr/>
      <dgm:t>
        <a:bodyPr/>
        <a:lstStyle/>
        <a:p>
          <a:endParaRPr lang="en-US"/>
        </a:p>
      </dgm:t>
    </dgm:pt>
    <dgm:pt modelId="{5E92505A-51E0-4F78-B3C5-704ACF8710DE}">
      <dgm:prSet phldrT="[Text]"/>
      <dgm:spPr/>
      <dgm:t>
        <a:bodyPr/>
        <a:lstStyle/>
        <a:p>
          <a:r>
            <a:rPr lang="en-US" dirty="0">
              <a:latin typeface="Times New Roman" panose="02020603050405020304" pitchFamily="18" charset="0"/>
              <a:cs typeface="Times New Roman" panose="02020603050405020304" pitchFamily="18" charset="0"/>
            </a:rPr>
            <a:t>Review 4</a:t>
          </a:r>
        </a:p>
      </dgm:t>
    </dgm:pt>
    <dgm:pt modelId="{765B1266-7CE2-4F9C-AE38-D97DFBC1B151}" type="parTrans" cxnId="{DA8CD5E8-B2EE-41E4-8EC6-CFB41D688F68}">
      <dgm:prSet/>
      <dgm:spPr/>
      <dgm:t>
        <a:bodyPr/>
        <a:lstStyle/>
        <a:p>
          <a:endParaRPr lang="en-US"/>
        </a:p>
      </dgm:t>
    </dgm:pt>
    <dgm:pt modelId="{5E9E6A6F-635A-4791-A107-01E95B62EA08}" type="sibTrans" cxnId="{DA8CD5E8-B2EE-41E4-8EC6-CFB41D688F68}">
      <dgm:prSet/>
      <dgm:spPr/>
      <dgm:t>
        <a:bodyPr/>
        <a:lstStyle/>
        <a:p>
          <a:endParaRPr lang="en-US"/>
        </a:p>
      </dgm:t>
    </dgm:pt>
    <dgm:pt modelId="{65C051F6-A849-4495-A964-CD4C650B9C06}">
      <dgm:prSet phldrT="[Text]"/>
      <dgm:spPr/>
      <dgm:t>
        <a:bodyPr/>
        <a:lstStyle/>
        <a:p>
          <a:r>
            <a:rPr lang="en-US" dirty="0">
              <a:latin typeface="Times New Roman" panose="02020603050405020304" pitchFamily="18" charset="0"/>
              <a:cs typeface="Times New Roman" panose="02020603050405020304" pitchFamily="18" charset="0"/>
            </a:rPr>
            <a:t>Final Review</a:t>
          </a:r>
        </a:p>
      </dgm:t>
    </dgm:pt>
    <dgm:pt modelId="{C24738E5-1547-4D8D-A2CE-64D703ECDF78}" type="parTrans" cxnId="{521FD508-C5FD-4804-AFDC-D1FF9945B211}">
      <dgm:prSet/>
      <dgm:spPr/>
      <dgm:t>
        <a:bodyPr/>
        <a:lstStyle/>
        <a:p>
          <a:endParaRPr lang="en-US"/>
        </a:p>
      </dgm:t>
    </dgm:pt>
    <dgm:pt modelId="{196A2EB9-DD96-4630-B699-7AF000340374}" type="sibTrans" cxnId="{521FD508-C5FD-4804-AFDC-D1FF9945B211}">
      <dgm:prSet/>
      <dgm:spPr/>
      <dgm:t>
        <a:bodyPr/>
        <a:lstStyle/>
        <a:p>
          <a:endParaRPr lang="en-US"/>
        </a:p>
      </dgm:t>
    </dgm:pt>
    <dgm:pt modelId="{9C9B660D-E6DB-4063-AF40-98BED80922AF}">
      <dgm:prSet/>
      <dgm:spPr/>
      <dgm:t>
        <a:bodyPr/>
        <a:lstStyle/>
        <a:p>
          <a:pPr>
            <a:buNone/>
          </a:pPr>
          <a:r>
            <a:rPr lang="en-US" dirty="0"/>
            <a:t>Learned </a:t>
          </a:r>
          <a:r>
            <a:rPr lang="en-US" b="1" dirty="0"/>
            <a:t>Django</a:t>
          </a:r>
          <a:endParaRPr lang="en-US" dirty="0"/>
        </a:p>
      </dgm:t>
    </dgm:pt>
    <dgm:pt modelId="{3100A8DF-5394-4380-8C58-ECBC85C7BAEF}" type="parTrans" cxnId="{E1A38AA8-4AFF-426E-8BF4-6A90B6F15AE1}">
      <dgm:prSet/>
      <dgm:spPr/>
      <dgm:t>
        <a:bodyPr/>
        <a:lstStyle/>
        <a:p>
          <a:endParaRPr lang="en-US"/>
        </a:p>
      </dgm:t>
    </dgm:pt>
    <dgm:pt modelId="{0A4EA0DC-28FA-475C-A195-B864D3B4B503}" type="sibTrans" cxnId="{E1A38AA8-4AFF-426E-8BF4-6A90B6F15AE1}">
      <dgm:prSet/>
      <dgm:spPr/>
      <dgm:t>
        <a:bodyPr/>
        <a:lstStyle/>
        <a:p>
          <a:endParaRPr lang="en-US"/>
        </a:p>
      </dgm:t>
    </dgm:pt>
    <dgm:pt modelId="{B751262E-C574-42B9-8EB2-5962060893D4}">
      <dgm:prSet/>
      <dgm:spPr/>
      <dgm:t>
        <a:bodyPr/>
        <a:lstStyle/>
        <a:p>
          <a:pPr>
            <a:buNone/>
          </a:pPr>
          <a:r>
            <a:rPr lang="en-US" dirty="0"/>
            <a:t>Learned </a:t>
          </a:r>
          <a:r>
            <a:rPr lang="en-US" b="1" dirty="0"/>
            <a:t>Django REST Framework</a:t>
          </a:r>
          <a:endParaRPr lang="en-US" dirty="0"/>
        </a:p>
      </dgm:t>
    </dgm:pt>
    <dgm:pt modelId="{8865B786-7781-4100-B421-E2EB0127C830}" type="parTrans" cxnId="{0128C45B-8382-46F1-8202-FB755D409956}">
      <dgm:prSet/>
      <dgm:spPr/>
      <dgm:t>
        <a:bodyPr/>
        <a:lstStyle/>
        <a:p>
          <a:endParaRPr lang="en-US"/>
        </a:p>
      </dgm:t>
    </dgm:pt>
    <dgm:pt modelId="{16F3ACE6-9753-4BB2-B443-547BFCFC835E}" type="sibTrans" cxnId="{0128C45B-8382-46F1-8202-FB755D409956}">
      <dgm:prSet/>
      <dgm:spPr/>
      <dgm:t>
        <a:bodyPr/>
        <a:lstStyle/>
        <a:p>
          <a:endParaRPr lang="en-US"/>
        </a:p>
      </dgm:t>
    </dgm:pt>
    <dgm:pt modelId="{5B39E0BA-709E-440D-BF6B-8262D626EDE5}">
      <dgm:prSet/>
      <dgm:spPr/>
      <dgm:t>
        <a:bodyPr/>
        <a:lstStyle/>
        <a:p>
          <a:pPr>
            <a:buNone/>
          </a:pPr>
          <a:r>
            <a:rPr lang="en-US" dirty="0"/>
            <a:t>Understood </a:t>
          </a:r>
          <a:r>
            <a:rPr lang="en-US" b="1" dirty="0" err="1"/>
            <a:t>GraphQL</a:t>
          </a:r>
          <a:r>
            <a:rPr lang="en-US" b="1" dirty="0"/>
            <a:t> concepts</a:t>
          </a:r>
          <a:endParaRPr lang="en-US" dirty="0"/>
        </a:p>
      </dgm:t>
    </dgm:pt>
    <dgm:pt modelId="{5A9C31D1-C586-4274-9743-9A8C76D593E0}" type="parTrans" cxnId="{C26DA56F-068B-4083-8FB0-1285C038B5E4}">
      <dgm:prSet/>
      <dgm:spPr/>
      <dgm:t>
        <a:bodyPr/>
        <a:lstStyle/>
        <a:p>
          <a:endParaRPr lang="en-US"/>
        </a:p>
      </dgm:t>
    </dgm:pt>
    <dgm:pt modelId="{120E47B3-9286-4D3E-AD38-E86C7A4FD9BC}" type="sibTrans" cxnId="{C26DA56F-068B-4083-8FB0-1285C038B5E4}">
      <dgm:prSet/>
      <dgm:spPr/>
      <dgm:t>
        <a:bodyPr/>
        <a:lstStyle/>
        <a:p>
          <a:endParaRPr lang="en-US"/>
        </a:p>
      </dgm:t>
    </dgm:pt>
    <dgm:pt modelId="{3719DB0B-1187-439A-BF89-F606848EF373}">
      <dgm:prSet/>
      <dgm:spPr/>
      <dgm:t>
        <a:bodyPr/>
        <a:lstStyle/>
        <a:p>
          <a:pPr>
            <a:buNone/>
          </a:pPr>
          <a:r>
            <a:rPr lang="en-US"/>
            <a:t>Developed REST APIs</a:t>
          </a:r>
        </a:p>
      </dgm:t>
    </dgm:pt>
    <dgm:pt modelId="{7FB06F9D-D22F-47F7-857C-9016591886C1}" type="parTrans" cxnId="{443F8403-F38A-4E1D-828D-F72AD7987DEC}">
      <dgm:prSet/>
      <dgm:spPr/>
      <dgm:t>
        <a:bodyPr/>
        <a:lstStyle/>
        <a:p>
          <a:endParaRPr lang="en-US"/>
        </a:p>
      </dgm:t>
    </dgm:pt>
    <dgm:pt modelId="{EAC732B0-01CF-466B-8ABB-9C0A864CC0F4}" type="sibTrans" cxnId="{443F8403-F38A-4E1D-828D-F72AD7987DEC}">
      <dgm:prSet/>
      <dgm:spPr/>
      <dgm:t>
        <a:bodyPr/>
        <a:lstStyle/>
        <a:p>
          <a:endParaRPr lang="en-US"/>
        </a:p>
      </dgm:t>
    </dgm:pt>
    <dgm:pt modelId="{5402FA1C-6D9D-459A-B113-A417B61E51A1}">
      <dgm:prSet/>
      <dgm:spPr/>
      <dgm:t>
        <a:bodyPr/>
        <a:lstStyle/>
        <a:p>
          <a:pPr>
            <a:buNone/>
          </a:pPr>
          <a:r>
            <a:rPr lang="en-US"/>
            <a:t>Built basic </a:t>
          </a:r>
          <a:r>
            <a:rPr lang="en-US" b="1"/>
            <a:t>Frontend interface</a:t>
          </a:r>
          <a:endParaRPr lang="en-US"/>
        </a:p>
      </dgm:t>
    </dgm:pt>
    <dgm:pt modelId="{D125B7A8-2CBC-4545-ACBF-46B978842657}" type="parTrans" cxnId="{86502B84-4CA6-4E3B-B0EC-B34D816EC007}">
      <dgm:prSet/>
      <dgm:spPr/>
      <dgm:t>
        <a:bodyPr/>
        <a:lstStyle/>
        <a:p>
          <a:endParaRPr lang="en-US"/>
        </a:p>
      </dgm:t>
    </dgm:pt>
    <dgm:pt modelId="{C523FC27-A6EA-43F9-B1BC-5C48F4A2B418}" type="sibTrans" cxnId="{86502B84-4CA6-4E3B-B0EC-B34D816EC007}">
      <dgm:prSet/>
      <dgm:spPr/>
      <dgm:t>
        <a:bodyPr/>
        <a:lstStyle/>
        <a:p>
          <a:endParaRPr lang="en-US"/>
        </a:p>
      </dgm:t>
    </dgm:pt>
    <dgm:pt modelId="{D1219787-F903-4B42-B8A6-846C0F5183CF}">
      <dgm:prSet/>
      <dgm:spPr/>
      <dgm:t>
        <a:bodyPr/>
        <a:lstStyle/>
        <a:p>
          <a:pPr>
            <a:buNone/>
          </a:pPr>
          <a:r>
            <a:rPr lang="en-US" dirty="0"/>
            <a:t>Integrated frontend with backend</a:t>
          </a:r>
        </a:p>
      </dgm:t>
    </dgm:pt>
    <dgm:pt modelId="{9252ADE3-E12A-4C71-A6BB-21BFF2EC4856}" type="parTrans" cxnId="{E5335877-F587-42B6-B9D6-2C98C670063E}">
      <dgm:prSet/>
      <dgm:spPr/>
      <dgm:t>
        <a:bodyPr/>
        <a:lstStyle/>
        <a:p>
          <a:endParaRPr lang="en-US"/>
        </a:p>
      </dgm:t>
    </dgm:pt>
    <dgm:pt modelId="{3542DEB0-756F-4EEB-8CE7-74429A1D332E}" type="sibTrans" cxnId="{E5335877-F587-42B6-B9D6-2C98C670063E}">
      <dgm:prSet/>
      <dgm:spPr/>
      <dgm:t>
        <a:bodyPr/>
        <a:lstStyle/>
        <a:p>
          <a:endParaRPr lang="en-US"/>
        </a:p>
      </dgm:t>
    </dgm:pt>
    <dgm:pt modelId="{C9E48B89-F9C6-4365-A21C-8E1F90A020AC}">
      <dgm:prSet/>
      <dgm:spPr/>
      <dgm:t>
        <a:bodyPr/>
        <a:lstStyle/>
        <a:p>
          <a:pPr>
            <a:buNone/>
          </a:pPr>
          <a:r>
            <a:rPr lang="en-US"/>
            <a:t>Studied existing company APIs</a:t>
          </a:r>
        </a:p>
      </dgm:t>
    </dgm:pt>
    <dgm:pt modelId="{36DC05B3-75E0-4AC7-9FBB-CE7DDE2CCE1E}" type="parTrans" cxnId="{A9150A5C-6DCB-4945-B551-86CD092626A0}">
      <dgm:prSet/>
      <dgm:spPr/>
      <dgm:t>
        <a:bodyPr/>
        <a:lstStyle/>
        <a:p>
          <a:endParaRPr lang="en-US"/>
        </a:p>
      </dgm:t>
    </dgm:pt>
    <dgm:pt modelId="{14D7B6D4-3CDB-419F-B071-689FD4CA10F0}" type="sibTrans" cxnId="{A9150A5C-6DCB-4945-B551-86CD092626A0}">
      <dgm:prSet/>
      <dgm:spPr/>
      <dgm:t>
        <a:bodyPr/>
        <a:lstStyle/>
        <a:p>
          <a:endParaRPr lang="en-US"/>
        </a:p>
      </dgm:t>
    </dgm:pt>
    <dgm:pt modelId="{74CE802A-3BF0-49AA-8809-86C2CAB7EF29}">
      <dgm:prSet/>
      <dgm:spPr/>
      <dgm:t>
        <a:bodyPr/>
        <a:lstStyle/>
        <a:p>
          <a:pPr>
            <a:buNone/>
          </a:pPr>
          <a:r>
            <a:rPr lang="en-US"/>
            <a:t>Implemented ERP integration logic</a:t>
          </a:r>
        </a:p>
      </dgm:t>
    </dgm:pt>
    <dgm:pt modelId="{AF9EBEB0-CBDD-4358-96EB-48F02F2C0E66}" type="parTrans" cxnId="{570AB5D8-0545-4717-8AD1-91C3EFCC1B75}">
      <dgm:prSet/>
      <dgm:spPr/>
      <dgm:t>
        <a:bodyPr/>
        <a:lstStyle/>
        <a:p>
          <a:endParaRPr lang="en-US"/>
        </a:p>
      </dgm:t>
    </dgm:pt>
    <dgm:pt modelId="{E5F415DC-3C46-49A1-95FA-D270E740B49A}" type="sibTrans" cxnId="{570AB5D8-0545-4717-8AD1-91C3EFCC1B75}">
      <dgm:prSet/>
      <dgm:spPr/>
      <dgm:t>
        <a:bodyPr/>
        <a:lstStyle/>
        <a:p>
          <a:endParaRPr lang="en-US"/>
        </a:p>
      </dgm:t>
    </dgm:pt>
    <dgm:pt modelId="{56D768C2-6AF3-4401-ACF2-5B0C7A4530F9}">
      <dgm:prSet/>
      <dgm:spPr/>
      <dgm:t>
        <a:bodyPr/>
        <a:lstStyle/>
        <a:p>
          <a:pPr>
            <a:buNone/>
          </a:pPr>
          <a:r>
            <a:rPr lang="en-US" dirty="0"/>
            <a:t>Fetched data using </a:t>
          </a:r>
          <a:r>
            <a:rPr lang="en-US" dirty="0" err="1"/>
            <a:t>GraphQL</a:t>
          </a:r>
          <a:endParaRPr lang="en-US" dirty="0"/>
        </a:p>
      </dgm:t>
    </dgm:pt>
    <dgm:pt modelId="{4D71F202-088D-41BE-95B7-07AFC9E70E78}" type="parTrans" cxnId="{151B37AC-B3B0-4C51-894A-369047D73772}">
      <dgm:prSet/>
      <dgm:spPr/>
      <dgm:t>
        <a:bodyPr/>
        <a:lstStyle/>
        <a:p>
          <a:endParaRPr lang="en-US"/>
        </a:p>
      </dgm:t>
    </dgm:pt>
    <dgm:pt modelId="{5CC4A7D5-EE8A-4C49-9A69-BAB99E16E595}" type="sibTrans" cxnId="{151B37AC-B3B0-4C51-894A-369047D73772}">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pt>
    <dgm:pt modelId="{96AFCF47-32CA-4C44-9E3C-782007B7112E}" type="pres">
      <dgm:prSet presAssocID="{A59EC69B-8F3F-425B-819F-E8C557946AEE}" presName="ChildAccent3" presStyleCnt="0"/>
      <dgm:spPr/>
    </dgm:pt>
    <dgm:pt modelId="{2532504F-5FE1-4C97-B485-F05E8885EACC}" type="pres">
      <dgm:prSet presAssocID="{A59EC69B-8F3F-425B-819F-E8C557946AEE}" presName="ChildAccent" presStyleLbl="alignImgPlace1" presStyleIdx="2" presStyleCnt="5"/>
      <dgm:spPr/>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pt>
    <dgm:pt modelId="{C1269CE6-C767-48CC-AAFD-A238D1FFDABA}" type="pres">
      <dgm:prSet presAssocID="{7B3055AA-BF7C-46D0-9A9E-60087B9F57B4}" presName="ChildAccent2" presStyleCnt="0"/>
      <dgm:spPr/>
    </dgm:pt>
    <dgm:pt modelId="{06F8D57B-EDF4-4CF4-8700-DC2CA3E3028E}" type="pres">
      <dgm:prSet presAssocID="{7B3055AA-BF7C-46D0-9A9E-60087B9F57B4}" presName="ChildAccent" presStyleLbl="alignImgPlace1" presStyleIdx="3" presStyleCnt="5"/>
      <dgm:spPr/>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pt>
    <dgm:pt modelId="{7305DF14-0FF5-45E4-8B19-015814092DBD}" type="pres">
      <dgm:prSet presAssocID="{988D96B0-D16E-4763-B393-84178CF4FF50}" presName="ChildAccent1" presStyleCnt="0"/>
      <dgm:spPr/>
    </dgm:pt>
    <dgm:pt modelId="{A134CDD1-D85F-44EF-8BEE-9F99A855C1E6}" type="pres">
      <dgm:prSet presAssocID="{988D96B0-D16E-4763-B393-84178CF4FF50}" presName="ChildAccent" presStyleLbl="alignImgPlace1" presStyleIdx="4" presStyleCnt="5"/>
      <dgm:spPr/>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pt>
  </dgm:ptLst>
  <dgm:cxnLst>
    <dgm:cxn modelId="{E6B70501-CFCB-4D4A-94BE-F63036069196}" type="presOf" srcId="{5751524B-FB67-4894-A0C5-35151E149D68}" destId="{A6BCDA7B-D633-438F-B44D-CB4D60E5C492}" srcOrd="0" destOrd="0" presId="urn:microsoft.com/office/officeart/2011/layout/InterconnectedBlockProcess"/>
    <dgm:cxn modelId="{443F8403-F38A-4E1D-828D-F72AD7987DEC}" srcId="{7B3055AA-BF7C-46D0-9A9E-60087B9F57B4}" destId="{3719DB0B-1187-439A-BF89-F606848EF373}" srcOrd="1" destOrd="0" parTransId="{7FB06F9D-D22F-47F7-857C-9016591886C1}" sibTransId="{EAC732B0-01CF-466B-8ABB-9C0A864CC0F4}"/>
    <dgm:cxn modelId="{929BF907-114C-42B4-8D28-3A2AE74A249F}" type="presOf" srcId="{5B39E0BA-709E-440D-BF6B-8262D626EDE5}" destId="{1C91D7E3-8940-4A33-9182-677DD5415901}" srcOrd="1" destOrd="3" presId="urn:microsoft.com/office/officeart/2011/layout/InterconnectedBlockProcess"/>
    <dgm:cxn modelId="{521FD508-C5FD-4804-AFDC-D1FF9945B211}" srcId="{5751524B-FB67-4894-A0C5-35151E149D68}" destId="{65C051F6-A849-4495-A964-CD4C650B9C06}" srcOrd="4" destOrd="0" parTransId="{C24738E5-1547-4D8D-A2CE-64D703ECDF78}" sibTransId="{196A2EB9-DD96-4630-B699-7AF000340374}"/>
    <dgm:cxn modelId="{A3209011-7E7D-4B86-90EA-9F68C8E4EC09}" type="presOf" srcId="{9C9B660D-E6DB-4063-AF40-98BED80922AF}" destId="{1C91D7E3-8940-4A33-9182-677DD5415901}" srcOrd="1" destOrd="1"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DCBBD912-689F-4398-945B-50D7C906D480}" type="presOf" srcId="{65C051F6-A849-4495-A964-CD4C650B9C06}" destId="{C73DE52A-2F45-45E6-AD0E-D5BEAF609F8E}" srcOrd="0" destOrd="0" presId="urn:microsoft.com/office/officeart/2011/layout/InterconnectedBlockProcess"/>
    <dgm:cxn modelId="{AD39EC13-49CA-48C2-82B8-CBB9D1B8BFB4}" type="presOf" srcId="{3719DB0B-1187-439A-BF89-F606848EF373}" destId="{06F8D57B-EDF4-4CF4-8700-DC2CA3E3028E}" srcOrd="0" destOrd="1"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BE9F1C1C-3162-4169-B249-DEE38050AAC8}" type="presOf" srcId="{C9E48B89-F9C6-4365-A21C-8E1F90A020AC}" destId="{0D08ED52-6744-4369-B780-916B09984775}" srcOrd="1" destOrd="1" presId="urn:microsoft.com/office/officeart/2011/layout/InterconnectedBlockProcess"/>
    <dgm:cxn modelId="{4086171E-1822-4DED-911A-13AC46BD3C58}" type="presOf" srcId="{B751262E-C574-42B9-8EB2-5962060893D4}" destId="{1C91D7E3-8940-4A33-9182-677DD5415901}" srcOrd="1" destOrd="2"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BD4D063F-4481-4272-86B1-D2EA110CC162}" type="presOf" srcId="{73DB572E-062D-41AD-8033-D361B8E583DB}" destId="{0D08ED52-6744-4369-B780-916B09984775}" srcOrd="1" destOrd="0" presId="urn:microsoft.com/office/officeart/2011/layout/InterconnectedBlockProcess"/>
    <dgm:cxn modelId="{0128C45B-8382-46F1-8202-FB755D409956}" srcId="{988D96B0-D16E-4763-B393-84178CF4FF50}" destId="{B751262E-C574-42B9-8EB2-5962060893D4}" srcOrd="2" destOrd="0" parTransId="{8865B786-7781-4100-B421-E2EB0127C830}" sibTransId="{16F3ACE6-9753-4BB2-B443-547BFCFC835E}"/>
    <dgm:cxn modelId="{A9150A5C-6DCB-4945-B551-86CD092626A0}" srcId="{A59EC69B-8F3F-425B-819F-E8C557946AEE}" destId="{C9E48B89-F9C6-4365-A21C-8E1F90A020AC}" srcOrd="1" destOrd="0" parTransId="{36DC05B3-75E0-4AC7-9FBB-CE7DDE2CCE1E}" sibTransId="{14D7B6D4-3CDB-419F-B071-689FD4CA10F0}"/>
    <dgm:cxn modelId="{5D8D4342-9DBC-4463-85B2-95E5230EFFC7}" type="presOf" srcId="{3719DB0B-1187-439A-BF89-F606848EF373}" destId="{6BCCFBA6-7A43-4631-AD7F-AFB10E1E6CD7}" srcOrd="1" destOrd="1" presId="urn:microsoft.com/office/officeart/2011/layout/InterconnectedBlockProcess"/>
    <dgm:cxn modelId="{66E84345-63D3-4858-88A3-E74EE1742AFB}" type="presOf" srcId="{5402FA1C-6D9D-459A-B113-A417B61E51A1}" destId="{06F8D57B-EDF4-4CF4-8700-DC2CA3E3028E}" srcOrd="0" destOrd="2" presId="urn:microsoft.com/office/officeart/2011/layout/InterconnectedBlockProcess"/>
    <dgm:cxn modelId="{BBF14466-1CF3-4319-BA04-EEBF5FEC2386}" type="presOf" srcId="{74CE802A-3BF0-49AA-8809-86C2CAB7EF29}" destId="{2532504F-5FE1-4C97-B485-F05E8885EACC}" srcOrd="0" destOrd="2" presId="urn:microsoft.com/office/officeart/2011/layout/InterconnectedBlockProcess"/>
    <dgm:cxn modelId="{C26DA56F-068B-4083-8FB0-1285C038B5E4}" srcId="{988D96B0-D16E-4763-B393-84178CF4FF50}" destId="{5B39E0BA-709E-440D-BF6B-8262D626EDE5}" srcOrd="3" destOrd="0" parTransId="{5A9C31D1-C586-4274-9743-9A8C76D593E0}" sibTransId="{120E47B3-9286-4D3E-AD38-E86C7A4FD9BC}"/>
    <dgm:cxn modelId="{58E76652-C24F-44B0-96A9-DDF4DA4C870A}" type="presOf" srcId="{7B3055AA-BF7C-46D0-9A9E-60087B9F57B4}" destId="{00BB3360-A9BB-4051-A4B1-1216F82F642C}" srcOrd="0" destOrd="0" presId="urn:microsoft.com/office/officeart/2011/layout/InterconnectedBlockProcess"/>
    <dgm:cxn modelId="{E5335877-F587-42B6-B9D6-2C98C670063E}" srcId="{7B3055AA-BF7C-46D0-9A9E-60087B9F57B4}" destId="{D1219787-F903-4B42-B8A6-846C0F5183CF}" srcOrd="3" destOrd="0" parTransId="{9252ADE3-E12A-4C71-A6BB-21BFF2EC4856}" sibTransId="{3542DEB0-756F-4EEB-8CE7-74429A1D332E}"/>
    <dgm:cxn modelId="{507EBB58-FFF7-4CCA-AA11-48BF26AC5F2B}" type="presOf" srcId="{D1219787-F903-4B42-B8A6-846C0F5183CF}" destId="{06F8D57B-EDF4-4CF4-8700-DC2CA3E3028E}" srcOrd="0" destOrd="3"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422DC47B-00C4-43FC-8E28-67969FDDB96F}" type="presOf" srcId="{9C9B660D-E6DB-4063-AF40-98BED80922AF}" destId="{A134CDD1-D85F-44EF-8BEE-9F99A855C1E6}" srcOrd="0" destOrd="1" presId="urn:microsoft.com/office/officeart/2011/layout/InterconnectedBlockProcess"/>
    <dgm:cxn modelId="{86502B84-4CA6-4E3B-B0EC-B34D816EC007}" srcId="{7B3055AA-BF7C-46D0-9A9E-60087B9F57B4}" destId="{5402FA1C-6D9D-459A-B113-A417B61E51A1}" srcOrd="2" destOrd="0" parTransId="{D125B7A8-2CBC-4545-ACBF-46B978842657}" sibTransId="{C523FC27-A6EA-43F9-B1BC-5C48F4A2B418}"/>
    <dgm:cxn modelId="{5C3C918A-4C4A-4DEB-924A-CC330C09FB27}" type="presOf" srcId="{5E92505A-51E0-4F78-B3C5-704ACF8710DE}" destId="{2AAD338D-3122-4454-9A67-16BE024D44E3}" srcOrd="0"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1BAF1B9B-0C88-4E77-A8EF-6D1B254FFDB1}" type="presOf" srcId="{5402FA1C-6D9D-459A-B113-A417B61E51A1}" destId="{6BCCFBA6-7A43-4631-AD7F-AFB10E1E6CD7}" srcOrd="1" destOrd="2" presId="urn:microsoft.com/office/officeart/2011/layout/InterconnectedBlockProcess"/>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B1F88DA1-2E23-4ADD-91CE-6DBCF7EEAE82}" type="presOf" srcId="{56D768C2-6AF3-4401-ACF2-5B0C7A4530F9}" destId="{0D08ED52-6744-4369-B780-916B09984775}" srcOrd="1" destOrd="3" presId="urn:microsoft.com/office/officeart/2011/layout/InterconnectedBlockProcess"/>
    <dgm:cxn modelId="{E1A38AA8-4AFF-426E-8BF4-6A90B6F15AE1}" srcId="{988D96B0-D16E-4763-B393-84178CF4FF50}" destId="{9C9B660D-E6DB-4063-AF40-98BED80922AF}" srcOrd="1" destOrd="0" parTransId="{3100A8DF-5394-4380-8C58-ECBC85C7BAEF}" sibTransId="{0A4EA0DC-28FA-475C-A195-B864D3B4B503}"/>
    <dgm:cxn modelId="{151B37AC-B3B0-4C51-894A-369047D73772}" srcId="{A59EC69B-8F3F-425B-819F-E8C557946AEE}" destId="{56D768C2-6AF3-4401-ACF2-5B0C7A4530F9}" srcOrd="3" destOrd="0" parTransId="{4D71F202-088D-41BE-95B7-07AFC9E70E78}" sibTransId="{5CC4A7D5-EE8A-4C49-9A69-BAB99E16E595}"/>
    <dgm:cxn modelId="{AD0A74B8-550A-4F0D-9A26-ADB7CD7A34B7}" type="presOf" srcId="{988D96B0-D16E-4763-B393-84178CF4FF50}" destId="{65257024-FAC0-4522-B139-1CC85B547BE8}" srcOrd="0" destOrd="0" presId="urn:microsoft.com/office/officeart/2011/layout/InterconnectedBlockProcess"/>
    <dgm:cxn modelId="{1D825BB9-7307-4667-A289-492582C29B96}" type="presOf" srcId="{74CE802A-3BF0-49AA-8809-86C2CAB7EF29}" destId="{0D08ED52-6744-4369-B780-916B09984775}" srcOrd="1" destOrd="2" presId="urn:microsoft.com/office/officeart/2011/layout/InterconnectedBlockProcess"/>
    <dgm:cxn modelId="{6C7D4BBB-EED6-4011-9FBC-87F683D5B245}" srcId="{5751524B-FB67-4894-A0C5-35151E149D68}" destId="{7B3055AA-BF7C-46D0-9A9E-60087B9F57B4}" srcOrd="1" destOrd="0" parTransId="{F772EF41-D2BB-4368-8327-B4E332165F48}" sibTransId="{B81593E2-4CAC-4783-8D2D-E9DDD236A942}"/>
    <dgm:cxn modelId="{D30AB6C0-1FFE-4320-A8FA-4284E9D8B5FD}" type="presOf" srcId="{5B39E0BA-709E-440D-BF6B-8262D626EDE5}" destId="{A134CDD1-D85F-44EF-8BEE-9F99A855C1E6}" srcOrd="0" destOrd="3"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70AB5D8-0545-4717-8AD1-91C3EFCC1B75}" srcId="{A59EC69B-8F3F-425B-819F-E8C557946AEE}" destId="{74CE802A-3BF0-49AA-8809-86C2CAB7EF29}" srcOrd="2" destOrd="0" parTransId="{AF9EBEB0-CBDD-4358-96EB-48F02F2C0E66}" sibTransId="{E5F415DC-3C46-49A1-95FA-D270E740B49A}"/>
    <dgm:cxn modelId="{7EF3F5D8-59E9-4146-BD53-E28716C74FB0}" type="presOf" srcId="{B751262E-C574-42B9-8EB2-5962060893D4}" destId="{A134CDD1-D85F-44EF-8BEE-9F99A855C1E6}" srcOrd="0" destOrd="2"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D940DAED-0499-4A8C-83CA-495152DCB9EF}" type="presOf" srcId="{56D768C2-6AF3-4401-ACF2-5B0C7A4530F9}" destId="{2532504F-5FE1-4C97-B485-F05E8885EACC}" srcOrd="0" destOrd="3" presId="urn:microsoft.com/office/officeart/2011/layout/InterconnectedBlockProcess"/>
    <dgm:cxn modelId="{AEE28BEF-3F73-41A5-9307-D42A450FCA17}" srcId="{988D96B0-D16E-4763-B393-84178CF4FF50}" destId="{D471E45F-B026-44AA-9616-57E786AE80AF}" srcOrd="0" destOrd="0" parTransId="{326A986D-69A4-4AC0-AD9B-462FFC9C3F18}" sibTransId="{304E70AD-39C7-4C28-BF7B-6EE91BAE97B7}"/>
    <dgm:cxn modelId="{66920DF4-EAB3-4627-B085-AF95866409EA}" type="presOf" srcId="{D1219787-F903-4B42-B8A6-846C0F5183CF}" destId="{6BCCFBA6-7A43-4631-AD7F-AFB10E1E6CD7}" srcOrd="1" destOrd="3"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359534F9-C3B0-43DD-AD7F-FE8F697BE17E}" type="presOf" srcId="{C9E48B89-F9C6-4365-A21C-8E1F90A020AC}" destId="{2532504F-5FE1-4C97-B485-F05E8885EACC}" srcOrd="0" destOrd="1" presId="urn:microsoft.com/office/officeart/2011/layout/InterconnectedBlockProcess"/>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AE5A4D-0C7B-48A6-917B-0B8433D0574B}">
      <dsp:nvSpPr>
        <dsp:cNvPr id="0" name=""/>
        <dsp:cNvSpPr/>
      </dsp:nvSpPr>
      <dsp:spPr>
        <a:xfrm>
          <a:off x="7173684" y="811639"/>
          <a:ext cx="1278320" cy="3246556"/>
        </a:xfrm>
        <a:prstGeom prst="wedgeRectCallout">
          <a:avLst>
            <a:gd name="adj1" fmla="val 0"/>
            <a:gd name="adj2" fmla="val 0"/>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3DE52A-2F45-45E6-AD0E-D5BEAF609F8E}">
      <dsp:nvSpPr>
        <dsp:cNvPr id="0" name=""/>
        <dsp:cNvSpPr/>
      </dsp:nvSpPr>
      <dsp:spPr>
        <a:xfrm>
          <a:off x="7173684" y="0"/>
          <a:ext cx="1278320" cy="811639"/>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Final Review</a:t>
          </a:r>
        </a:p>
      </dsp:txBody>
      <dsp:txXfrm>
        <a:off x="7173684" y="0"/>
        <a:ext cx="1278320" cy="811639"/>
      </dsp:txXfrm>
    </dsp:sp>
    <dsp:sp modelId="{FC0F1314-3294-4A8C-8DCE-EB53E236164C}">
      <dsp:nvSpPr>
        <dsp:cNvPr id="0" name=""/>
        <dsp:cNvSpPr/>
      </dsp:nvSpPr>
      <dsp:spPr>
        <a:xfrm>
          <a:off x="5898557" y="811639"/>
          <a:ext cx="1278320" cy="3043646"/>
        </a:xfrm>
        <a:prstGeom prst="wedgeRectCallout">
          <a:avLst>
            <a:gd name="adj1" fmla="val 62500"/>
            <a:gd name="adj2" fmla="val 20830"/>
          </a:avLst>
        </a:prstGeom>
        <a:solidFill>
          <a:schemeClr val="accent1">
            <a:tint val="50000"/>
            <a:hueOff val="-3179766"/>
            <a:satOff val="8519"/>
            <a:lumOff val="30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AD338D-3122-4454-9A67-16BE024D44E3}">
      <dsp:nvSpPr>
        <dsp:cNvPr id="0" name=""/>
        <dsp:cNvSpPr/>
      </dsp:nvSpPr>
      <dsp:spPr>
        <a:xfrm>
          <a:off x="5898557" y="101454"/>
          <a:ext cx="1278320" cy="71018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4</a:t>
          </a:r>
        </a:p>
      </dsp:txBody>
      <dsp:txXfrm>
        <a:off x="5898557" y="101454"/>
        <a:ext cx="1278320" cy="710184"/>
      </dsp:txXfrm>
    </dsp:sp>
    <dsp:sp modelId="{2532504F-5FE1-4C97-B485-F05E8885EACC}">
      <dsp:nvSpPr>
        <dsp:cNvPr id="0" name=""/>
        <dsp:cNvSpPr/>
      </dsp:nvSpPr>
      <dsp:spPr>
        <a:xfrm>
          <a:off x="4620236" y="811639"/>
          <a:ext cx="1278320" cy="2840736"/>
        </a:xfrm>
        <a:prstGeom prst="wedgeRectCallout">
          <a:avLst>
            <a:gd name="adj1" fmla="val 62500"/>
            <a:gd name="adj2" fmla="val 20830"/>
          </a:avLst>
        </a:prstGeom>
        <a:solidFill>
          <a:schemeClr val="accent1">
            <a:tint val="50000"/>
            <a:hueOff val="-6359532"/>
            <a:satOff val="17037"/>
            <a:lumOff val="618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Set up </a:t>
          </a:r>
          <a:r>
            <a:rPr lang="en-US" sz="1400" b="1" kern="1200" dirty="0"/>
            <a:t>Frappe using Docker</a:t>
          </a:r>
          <a:endParaRPr lang="en-US" sz="1400" kern="1200" dirty="0">
            <a:latin typeface="Times New Roman" panose="02020603050405020304" pitchFamily="18" charset="0"/>
            <a:cs typeface="Times New Roman" panose="02020603050405020304" pitchFamily="18" charset="0"/>
          </a:endParaRPr>
        </a:p>
        <a:p>
          <a:pPr marL="0" lvl="0" indent="0" algn="r" defTabSz="622300">
            <a:lnSpc>
              <a:spcPct val="90000"/>
            </a:lnSpc>
            <a:spcBef>
              <a:spcPct val="0"/>
            </a:spcBef>
            <a:spcAft>
              <a:spcPct val="35000"/>
            </a:spcAft>
            <a:buNone/>
          </a:pPr>
          <a:r>
            <a:rPr lang="en-US" sz="1400" kern="1200"/>
            <a:t>Studied existing company APIs</a:t>
          </a:r>
        </a:p>
        <a:p>
          <a:pPr marL="0" lvl="0" indent="0" algn="r" defTabSz="622300">
            <a:lnSpc>
              <a:spcPct val="90000"/>
            </a:lnSpc>
            <a:spcBef>
              <a:spcPct val="0"/>
            </a:spcBef>
            <a:spcAft>
              <a:spcPct val="35000"/>
            </a:spcAft>
            <a:buNone/>
          </a:pPr>
          <a:r>
            <a:rPr lang="en-US" sz="1400" kern="1200"/>
            <a:t>Implemented ERP integration logic</a:t>
          </a:r>
        </a:p>
        <a:p>
          <a:pPr marL="0" lvl="0" indent="0" algn="r" defTabSz="622300">
            <a:lnSpc>
              <a:spcPct val="90000"/>
            </a:lnSpc>
            <a:spcBef>
              <a:spcPct val="0"/>
            </a:spcBef>
            <a:spcAft>
              <a:spcPct val="35000"/>
            </a:spcAft>
            <a:buNone/>
          </a:pPr>
          <a:r>
            <a:rPr lang="en-US" sz="1400" kern="1200" dirty="0"/>
            <a:t>Fetched data using </a:t>
          </a:r>
          <a:r>
            <a:rPr lang="en-US" sz="1400" kern="1200" dirty="0" err="1"/>
            <a:t>GraphQL</a:t>
          </a:r>
          <a:endParaRPr lang="en-US" sz="1400" kern="1200" dirty="0"/>
        </a:p>
      </dsp:txBody>
      <dsp:txXfrm>
        <a:off x="4782502" y="811639"/>
        <a:ext cx="1116055" cy="2840736"/>
      </dsp:txXfrm>
    </dsp:sp>
    <dsp:sp modelId="{4C66D42D-7E6D-4563-AFDC-369C30B73F70}">
      <dsp:nvSpPr>
        <dsp:cNvPr id="0" name=""/>
        <dsp:cNvSpPr/>
      </dsp:nvSpPr>
      <dsp:spPr>
        <a:xfrm>
          <a:off x="4620236" y="206156"/>
          <a:ext cx="1278320" cy="608729"/>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3</a:t>
          </a:r>
        </a:p>
      </dsp:txBody>
      <dsp:txXfrm>
        <a:off x="4620236" y="206156"/>
        <a:ext cx="1278320" cy="608729"/>
      </dsp:txXfrm>
    </dsp:sp>
    <dsp:sp modelId="{06F8D57B-EDF4-4CF4-8700-DC2CA3E3028E}">
      <dsp:nvSpPr>
        <dsp:cNvPr id="0" name=""/>
        <dsp:cNvSpPr/>
      </dsp:nvSpPr>
      <dsp:spPr>
        <a:xfrm>
          <a:off x="3341915" y="811639"/>
          <a:ext cx="1278320" cy="2637826"/>
        </a:xfrm>
        <a:prstGeom prst="wedgeRectCallout">
          <a:avLst>
            <a:gd name="adj1" fmla="val 62500"/>
            <a:gd name="adj2" fmla="val 20830"/>
          </a:avLst>
        </a:prstGeom>
        <a:solidFill>
          <a:schemeClr val="accent1">
            <a:tint val="50000"/>
            <a:hueOff val="-9539299"/>
            <a:satOff val="25556"/>
            <a:lumOff val="92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r>
            <a:rPr lang="en-US" sz="1400" kern="1200" dirty="0"/>
            <a:t>Built a demo </a:t>
          </a:r>
          <a:r>
            <a:rPr lang="en-US" sz="1400" b="1" kern="1200" dirty="0"/>
            <a:t>Backend project</a:t>
          </a:r>
          <a:endParaRPr lang="en-US" sz="1400" kern="1200" dirty="0">
            <a:latin typeface="Times New Roman" panose="02020603050405020304" pitchFamily="18" charset="0"/>
            <a:cs typeface="Times New Roman" panose="02020603050405020304" pitchFamily="18" charset="0"/>
          </a:endParaRPr>
        </a:p>
        <a:p>
          <a:pPr marL="0" lvl="0" indent="0" algn="r" defTabSz="622300">
            <a:lnSpc>
              <a:spcPct val="90000"/>
            </a:lnSpc>
            <a:spcBef>
              <a:spcPct val="0"/>
            </a:spcBef>
            <a:spcAft>
              <a:spcPct val="35000"/>
            </a:spcAft>
            <a:buNone/>
          </a:pPr>
          <a:r>
            <a:rPr lang="en-US" sz="1400" kern="1200"/>
            <a:t>Developed REST APIs</a:t>
          </a:r>
        </a:p>
        <a:p>
          <a:pPr marL="0" lvl="0" indent="0" algn="r" defTabSz="622300">
            <a:lnSpc>
              <a:spcPct val="90000"/>
            </a:lnSpc>
            <a:spcBef>
              <a:spcPct val="0"/>
            </a:spcBef>
            <a:spcAft>
              <a:spcPct val="35000"/>
            </a:spcAft>
            <a:buNone/>
          </a:pPr>
          <a:r>
            <a:rPr lang="en-US" sz="1400" kern="1200"/>
            <a:t>Built basic </a:t>
          </a:r>
          <a:r>
            <a:rPr lang="en-US" sz="1400" b="1" kern="1200"/>
            <a:t>Frontend interface</a:t>
          </a:r>
          <a:endParaRPr lang="en-US" sz="1400" kern="1200"/>
        </a:p>
        <a:p>
          <a:pPr marL="0" lvl="0" indent="0" algn="r" defTabSz="622300">
            <a:lnSpc>
              <a:spcPct val="90000"/>
            </a:lnSpc>
            <a:spcBef>
              <a:spcPct val="0"/>
            </a:spcBef>
            <a:spcAft>
              <a:spcPct val="35000"/>
            </a:spcAft>
            <a:buNone/>
          </a:pPr>
          <a:r>
            <a:rPr lang="en-US" sz="1400" kern="1200" dirty="0"/>
            <a:t>Integrated frontend with backend</a:t>
          </a:r>
        </a:p>
      </dsp:txBody>
      <dsp:txXfrm>
        <a:off x="3504181" y="811639"/>
        <a:ext cx="1116055" cy="2637826"/>
      </dsp:txXfrm>
    </dsp:sp>
    <dsp:sp modelId="{00BB3360-A9BB-4051-A4B1-1216F82F642C}">
      <dsp:nvSpPr>
        <dsp:cNvPr id="0" name=""/>
        <dsp:cNvSpPr/>
      </dsp:nvSpPr>
      <dsp:spPr>
        <a:xfrm>
          <a:off x="3341915" y="304364"/>
          <a:ext cx="1278320" cy="50727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2</a:t>
          </a:r>
        </a:p>
      </dsp:txBody>
      <dsp:txXfrm>
        <a:off x="3341915" y="304364"/>
        <a:ext cx="1278320" cy="507274"/>
      </dsp:txXfrm>
    </dsp:sp>
    <dsp:sp modelId="{A134CDD1-D85F-44EF-8BEE-9F99A855C1E6}">
      <dsp:nvSpPr>
        <dsp:cNvPr id="0" name=""/>
        <dsp:cNvSpPr/>
      </dsp:nvSpPr>
      <dsp:spPr>
        <a:xfrm>
          <a:off x="2063594" y="811639"/>
          <a:ext cx="1278320" cy="2434917"/>
        </a:xfrm>
        <a:prstGeom prst="wedgeRectCallout">
          <a:avLst>
            <a:gd name="adj1" fmla="val 62500"/>
            <a:gd name="adj2" fmla="val 20830"/>
          </a:avLst>
        </a:prstGeom>
        <a:solidFill>
          <a:schemeClr val="accent1">
            <a:tint val="50000"/>
            <a:hueOff val="-12719064"/>
            <a:satOff val="34075"/>
            <a:lumOff val="123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450" tIns="44450" rIns="44450" bIns="44450" numCol="1" spcCol="1270" anchor="t" anchorCtr="0">
          <a:noAutofit/>
        </a:bodyPr>
        <a:lstStyle/>
        <a:p>
          <a:pPr marL="0" lvl="0" indent="0" algn="r" defTabSz="622300">
            <a:lnSpc>
              <a:spcPct val="90000"/>
            </a:lnSpc>
            <a:spcBef>
              <a:spcPct val="0"/>
            </a:spcBef>
            <a:spcAft>
              <a:spcPct val="35000"/>
            </a:spcAft>
            <a:buNone/>
          </a:pPr>
          <a:endParaRPr lang="en-US" sz="1400" kern="1200" dirty="0">
            <a:latin typeface="Times New Roman" panose="02020603050405020304" pitchFamily="18" charset="0"/>
            <a:cs typeface="Times New Roman" panose="02020603050405020304" pitchFamily="18" charset="0"/>
          </a:endParaRPr>
        </a:p>
        <a:p>
          <a:pPr marL="0" lvl="0" indent="0" algn="r" defTabSz="622300">
            <a:lnSpc>
              <a:spcPct val="90000"/>
            </a:lnSpc>
            <a:spcBef>
              <a:spcPct val="0"/>
            </a:spcBef>
            <a:spcAft>
              <a:spcPct val="35000"/>
            </a:spcAft>
            <a:buNone/>
          </a:pPr>
          <a:r>
            <a:rPr lang="en-US" sz="1400" kern="1200" dirty="0"/>
            <a:t>Learned </a:t>
          </a:r>
          <a:r>
            <a:rPr lang="en-US" sz="1400" b="1" kern="1200" dirty="0"/>
            <a:t>Django</a:t>
          </a:r>
          <a:endParaRPr lang="en-US" sz="1400" kern="1200" dirty="0"/>
        </a:p>
        <a:p>
          <a:pPr marL="0" lvl="0" indent="0" algn="r" defTabSz="622300">
            <a:lnSpc>
              <a:spcPct val="90000"/>
            </a:lnSpc>
            <a:spcBef>
              <a:spcPct val="0"/>
            </a:spcBef>
            <a:spcAft>
              <a:spcPct val="35000"/>
            </a:spcAft>
            <a:buNone/>
          </a:pPr>
          <a:r>
            <a:rPr lang="en-US" sz="1400" kern="1200" dirty="0"/>
            <a:t>Learned </a:t>
          </a:r>
          <a:r>
            <a:rPr lang="en-US" sz="1400" b="1" kern="1200" dirty="0"/>
            <a:t>Django REST Framework</a:t>
          </a:r>
          <a:endParaRPr lang="en-US" sz="1400" kern="1200" dirty="0"/>
        </a:p>
        <a:p>
          <a:pPr marL="0" lvl="0" indent="0" algn="r" defTabSz="622300">
            <a:lnSpc>
              <a:spcPct val="90000"/>
            </a:lnSpc>
            <a:spcBef>
              <a:spcPct val="0"/>
            </a:spcBef>
            <a:spcAft>
              <a:spcPct val="35000"/>
            </a:spcAft>
            <a:buNone/>
          </a:pPr>
          <a:r>
            <a:rPr lang="en-US" sz="1400" kern="1200" dirty="0"/>
            <a:t>Understood </a:t>
          </a:r>
          <a:r>
            <a:rPr lang="en-US" sz="1400" b="1" kern="1200" dirty="0" err="1"/>
            <a:t>GraphQL</a:t>
          </a:r>
          <a:r>
            <a:rPr lang="en-US" sz="1400" b="1" kern="1200" dirty="0"/>
            <a:t> concepts</a:t>
          </a:r>
          <a:endParaRPr lang="en-US" sz="1400" kern="1200" dirty="0"/>
        </a:p>
      </dsp:txBody>
      <dsp:txXfrm>
        <a:off x="2225860" y="811639"/>
        <a:ext cx="1116055" cy="2434917"/>
      </dsp:txXfrm>
    </dsp:sp>
    <dsp:sp modelId="{65257024-FAC0-4522-B139-1CC85B547BE8}">
      <dsp:nvSpPr>
        <dsp:cNvPr id="0" name=""/>
        <dsp:cNvSpPr/>
      </dsp:nvSpPr>
      <dsp:spPr>
        <a:xfrm>
          <a:off x="2063594" y="405819"/>
          <a:ext cx="1278320" cy="40581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Review 1</a:t>
          </a:r>
        </a:p>
      </dsp:txBody>
      <dsp:txXfrm>
        <a:off x="2063594" y="405819"/>
        <a:ext cx="1278320" cy="405819"/>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t>26/04/2026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t>‹#›</a:t>
            </a:fld>
            <a:endParaRPr lang="en-GB" dirty="0"/>
          </a:p>
        </p:txBody>
      </p:sp>
    </p:spTree>
    <p:extLst>
      <p:ext uri="{BB962C8B-B14F-4D97-AF65-F5344CB8AC3E}">
        <p14:creationId xmlns:p14="http://schemas.microsoft.com/office/powerpoint/2010/main" val="30764507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1556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5634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B448-544F-1163-CF6D-D801EF6DAB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2240B45-37FF-28D2-69C1-D8842A0F2E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61B0F3-96B9-62B2-E1C5-4D3D4823B899}"/>
              </a:ext>
            </a:extLst>
          </p:cNvPr>
          <p:cNvSpPr>
            <a:spLocks noGrp="1"/>
          </p:cNvSpPr>
          <p:nvPr>
            <p:ph type="dt" sz="half" idx="10"/>
          </p:nvPr>
        </p:nvSpPr>
        <p:spPr/>
        <p:txBody>
          <a:bodyPr/>
          <a:lstStyle/>
          <a:p>
            <a:fld id="{1F66083A-C1B7-4B46-82C5-289BB6E6D5A4}" type="datetime1">
              <a:rPr lang="en-IN" smtClean="0"/>
              <a:t>26-04-2026</a:t>
            </a:fld>
            <a:endParaRPr lang="en-IN" dirty="0"/>
          </a:p>
        </p:txBody>
      </p:sp>
      <p:sp>
        <p:nvSpPr>
          <p:cNvPr id="5" name="Footer Placeholder 4">
            <a:extLst>
              <a:ext uri="{FF2B5EF4-FFF2-40B4-BE49-F238E27FC236}">
                <a16:creationId xmlns:a16="http://schemas.microsoft.com/office/drawing/2014/main" id="{15DB3F67-E836-5AA2-B32D-A0C3A933309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11EEA5E-DC19-ABCD-6267-C545BA777197}"/>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869472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0CDE-F21A-AC1C-7DD9-906370B0FA03}"/>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A4139EE0-A89B-B238-94A4-DB32BBD14E2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6BAB674-71DE-8BA7-9D0E-C99F6B3C0FBD}"/>
              </a:ext>
            </a:extLst>
          </p:cNvPr>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pPr/>
              <a:t>26-04-2026</a:t>
            </a:fld>
            <a:endParaRPr lang="en-IN" dirty="0"/>
          </a:p>
        </p:txBody>
      </p:sp>
      <p:sp>
        <p:nvSpPr>
          <p:cNvPr id="5" name="Footer Placeholder 4">
            <a:extLst>
              <a:ext uri="{FF2B5EF4-FFF2-40B4-BE49-F238E27FC236}">
                <a16:creationId xmlns:a16="http://schemas.microsoft.com/office/drawing/2014/main" id="{8B72554B-0ACB-E334-5BBE-7A83BFE374F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D3F062A5-E36B-5C05-6C36-F8372F2C1694}"/>
              </a:ext>
            </a:extLst>
          </p:cNvPr>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pPr/>
              <a:t>‹#›</a:t>
            </a:fld>
            <a:endParaRPr lang="en-IN" dirty="0"/>
          </a:p>
        </p:txBody>
      </p:sp>
    </p:spTree>
    <p:extLst>
      <p:ext uri="{BB962C8B-B14F-4D97-AF65-F5344CB8AC3E}">
        <p14:creationId xmlns:p14="http://schemas.microsoft.com/office/powerpoint/2010/main" val="1890550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2CC90-B089-5E25-D480-B40D5123BF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E671185-327E-E435-EB8B-F143CAF78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ADDF86-F686-ACE8-6852-5CEADD9A2870}"/>
              </a:ext>
            </a:extLst>
          </p:cNvPr>
          <p:cNvSpPr>
            <a:spLocks noGrp="1"/>
          </p:cNvSpPr>
          <p:nvPr>
            <p:ph type="dt" sz="half" idx="10"/>
          </p:nvPr>
        </p:nvSpPr>
        <p:spPr/>
        <p:txBody>
          <a:bodyPr/>
          <a:lstStyle/>
          <a:p>
            <a:fld id="{2B3E8F52-857A-4C89-954C-57943DB51290}" type="datetime1">
              <a:rPr lang="en-IN" smtClean="0"/>
              <a:t>26-04-2026</a:t>
            </a:fld>
            <a:endParaRPr lang="en-IN" dirty="0"/>
          </a:p>
        </p:txBody>
      </p:sp>
      <p:sp>
        <p:nvSpPr>
          <p:cNvPr id="5" name="Footer Placeholder 4">
            <a:extLst>
              <a:ext uri="{FF2B5EF4-FFF2-40B4-BE49-F238E27FC236}">
                <a16:creationId xmlns:a16="http://schemas.microsoft.com/office/drawing/2014/main" id="{8558F106-1FED-5AA1-CFDF-7FE21050717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FD45F0D7-F550-D351-1F6B-36B665CA0CDC}"/>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705203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98191-3055-3CE7-ABAB-BF52255689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B07F01E-C1BB-CFE3-1062-5A8CAD20F5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0F16ED-635D-3C12-AE3C-37A43EAF14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A80B84D-A3CA-9B7E-B7BB-4C18C18121B2}"/>
              </a:ext>
            </a:extLst>
          </p:cNvPr>
          <p:cNvSpPr>
            <a:spLocks noGrp="1"/>
          </p:cNvSpPr>
          <p:nvPr>
            <p:ph type="dt" sz="half" idx="10"/>
          </p:nvPr>
        </p:nvSpPr>
        <p:spPr/>
        <p:txBody>
          <a:bodyPr/>
          <a:lstStyle/>
          <a:p>
            <a:fld id="{2BBD7B4D-DDD6-4CA2-87A0-9BDD5E5268EC}" type="datetime1">
              <a:rPr lang="en-IN" smtClean="0"/>
              <a:t>26-04-2026</a:t>
            </a:fld>
            <a:endParaRPr lang="en-IN" dirty="0"/>
          </a:p>
        </p:txBody>
      </p:sp>
      <p:sp>
        <p:nvSpPr>
          <p:cNvPr id="6" name="Footer Placeholder 5">
            <a:extLst>
              <a:ext uri="{FF2B5EF4-FFF2-40B4-BE49-F238E27FC236}">
                <a16:creationId xmlns:a16="http://schemas.microsoft.com/office/drawing/2014/main" id="{05881B66-06CA-0AE9-B95B-21A45DC5B35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F4B7665D-74F3-FC85-8C37-77F44022327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79702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306E-11E1-8AB1-AF32-6F074D3C85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8E7AAE-4628-F916-89C8-10A970EC98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D7C0B7-4F02-5995-1FB1-8FB2DD1259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504026-A61A-C06F-3EA6-94F595A473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FF7FD0-380B-75A4-D9B0-F7EBC341DD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80AA233-A9EB-E98D-4DDF-BC4B72808326}"/>
              </a:ext>
            </a:extLst>
          </p:cNvPr>
          <p:cNvSpPr>
            <a:spLocks noGrp="1"/>
          </p:cNvSpPr>
          <p:nvPr>
            <p:ph type="dt" sz="half" idx="10"/>
          </p:nvPr>
        </p:nvSpPr>
        <p:spPr/>
        <p:txBody>
          <a:bodyPr/>
          <a:lstStyle/>
          <a:p>
            <a:fld id="{C130D9E5-0635-43A8-8973-488E7408FAF7}" type="datetime1">
              <a:rPr lang="en-IN" smtClean="0"/>
              <a:t>26-04-2026</a:t>
            </a:fld>
            <a:endParaRPr lang="en-IN" dirty="0"/>
          </a:p>
        </p:txBody>
      </p:sp>
      <p:sp>
        <p:nvSpPr>
          <p:cNvPr id="8" name="Footer Placeholder 7">
            <a:extLst>
              <a:ext uri="{FF2B5EF4-FFF2-40B4-BE49-F238E27FC236}">
                <a16:creationId xmlns:a16="http://schemas.microsoft.com/office/drawing/2014/main" id="{755E8074-1361-E322-F42C-F5D71409910F}"/>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6B9FECA-EE46-D87A-F259-E8022C3628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263430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92FB-DA41-9013-AE3A-5882CEEE8BF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2620A1-C0CA-1D0E-E85E-5C1326F8CB80}"/>
              </a:ext>
            </a:extLst>
          </p:cNvPr>
          <p:cNvSpPr>
            <a:spLocks noGrp="1"/>
          </p:cNvSpPr>
          <p:nvPr>
            <p:ph type="dt" sz="half" idx="10"/>
          </p:nvPr>
        </p:nvSpPr>
        <p:spPr/>
        <p:txBody>
          <a:bodyPr/>
          <a:lstStyle/>
          <a:p>
            <a:fld id="{E1D0CEA8-D591-4CC9-939A-A3BE6FD93E89}" type="datetime1">
              <a:rPr lang="en-IN" smtClean="0"/>
              <a:t>26-04-2026</a:t>
            </a:fld>
            <a:endParaRPr lang="en-IN" dirty="0"/>
          </a:p>
        </p:txBody>
      </p:sp>
      <p:sp>
        <p:nvSpPr>
          <p:cNvPr id="4" name="Footer Placeholder 3">
            <a:extLst>
              <a:ext uri="{FF2B5EF4-FFF2-40B4-BE49-F238E27FC236}">
                <a16:creationId xmlns:a16="http://schemas.microsoft.com/office/drawing/2014/main" id="{763BD8B1-5363-075D-CDCC-8CAC0A6A78E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46E4555F-1DC7-94CF-74D7-21521EE9398A}"/>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99682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97F04-5F5B-E4F7-0A48-A1FBAC01C3C4}"/>
              </a:ext>
            </a:extLst>
          </p:cNvPr>
          <p:cNvSpPr>
            <a:spLocks noGrp="1"/>
          </p:cNvSpPr>
          <p:nvPr>
            <p:ph type="dt" sz="half" idx="10"/>
          </p:nvPr>
        </p:nvSpPr>
        <p:spPr/>
        <p:txBody>
          <a:bodyPr/>
          <a:lstStyle/>
          <a:p>
            <a:fld id="{D2BE2297-DC8B-48E6-B6D6-34773F9A5984}" type="datetime1">
              <a:rPr lang="en-IN" smtClean="0"/>
              <a:t>26-04-2026</a:t>
            </a:fld>
            <a:endParaRPr lang="en-IN" dirty="0"/>
          </a:p>
        </p:txBody>
      </p:sp>
      <p:sp>
        <p:nvSpPr>
          <p:cNvPr id="3" name="Footer Placeholder 2">
            <a:extLst>
              <a:ext uri="{FF2B5EF4-FFF2-40B4-BE49-F238E27FC236}">
                <a16:creationId xmlns:a16="http://schemas.microsoft.com/office/drawing/2014/main" id="{3EDCC3BA-DF88-8CE4-AB31-983A3C796AD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2817982A-25A2-0FA2-0BC4-48C8775F8459}"/>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3113842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7936-1384-3D53-34C7-E638688EF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108029-8ADE-BDA5-4C8D-31C3615564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D6CB47A-C96A-8918-E1EB-9A8DBEC727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CB0D-C5CF-96B6-5923-222D7E403E92}"/>
              </a:ext>
            </a:extLst>
          </p:cNvPr>
          <p:cNvSpPr>
            <a:spLocks noGrp="1"/>
          </p:cNvSpPr>
          <p:nvPr>
            <p:ph type="dt" sz="half" idx="10"/>
          </p:nvPr>
        </p:nvSpPr>
        <p:spPr/>
        <p:txBody>
          <a:bodyPr/>
          <a:lstStyle/>
          <a:p>
            <a:fld id="{64C2A547-6E4B-4188-9BD5-035CB9C4BCC5}" type="datetime1">
              <a:rPr lang="en-IN" smtClean="0"/>
              <a:t>26-04-2026</a:t>
            </a:fld>
            <a:endParaRPr lang="en-IN" dirty="0"/>
          </a:p>
        </p:txBody>
      </p:sp>
      <p:sp>
        <p:nvSpPr>
          <p:cNvPr id="6" name="Footer Placeholder 5">
            <a:extLst>
              <a:ext uri="{FF2B5EF4-FFF2-40B4-BE49-F238E27FC236}">
                <a16:creationId xmlns:a16="http://schemas.microsoft.com/office/drawing/2014/main" id="{C9A0E17E-D21B-9F95-DB42-019C9AB18CB9}"/>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2431A4E0-3F3F-3857-C2B7-EEDD3DF99CB1}"/>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1923921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DF05-F2AE-B072-8E2E-CB4CF5B08F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0EF8F1-DFA6-282F-E8CD-83826A12E4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85808D68-B430-9A5B-4A9B-8549EA20A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002EBD-67C3-A4B8-A83C-896997C53EB8}"/>
              </a:ext>
            </a:extLst>
          </p:cNvPr>
          <p:cNvSpPr>
            <a:spLocks noGrp="1"/>
          </p:cNvSpPr>
          <p:nvPr>
            <p:ph type="dt" sz="half" idx="10"/>
          </p:nvPr>
        </p:nvSpPr>
        <p:spPr/>
        <p:txBody>
          <a:bodyPr/>
          <a:lstStyle/>
          <a:p>
            <a:fld id="{02706E29-16A1-4AAE-B55B-4E3DB7265605}" type="datetime1">
              <a:rPr lang="en-IN" smtClean="0"/>
              <a:t>26-04-2026</a:t>
            </a:fld>
            <a:endParaRPr lang="en-IN" dirty="0"/>
          </a:p>
        </p:txBody>
      </p:sp>
      <p:sp>
        <p:nvSpPr>
          <p:cNvPr id="6" name="Footer Placeholder 5">
            <a:extLst>
              <a:ext uri="{FF2B5EF4-FFF2-40B4-BE49-F238E27FC236}">
                <a16:creationId xmlns:a16="http://schemas.microsoft.com/office/drawing/2014/main" id="{92B00B68-5333-C602-6799-3D1B2E434B2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04925F4-1AF9-E8B5-0534-4714B5FAF5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479996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011F1-D172-AE20-8D21-0A938E210E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8E52B7-EB5E-AF2A-3525-5B4BBFD15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6D7DCF-1783-47F8-CDB8-8B7167ECD0D8}"/>
              </a:ext>
            </a:extLst>
          </p:cNvPr>
          <p:cNvSpPr>
            <a:spLocks noGrp="1"/>
          </p:cNvSpPr>
          <p:nvPr>
            <p:ph type="dt" sz="half" idx="10"/>
          </p:nvPr>
        </p:nvSpPr>
        <p:spPr/>
        <p:txBody>
          <a:bodyPr/>
          <a:lstStyle/>
          <a:p>
            <a:fld id="{3FC26915-BE00-456E-A9CA-DB9FE1FD674A}" type="datetime1">
              <a:rPr lang="en-IN" smtClean="0"/>
              <a:t>26-04-2026</a:t>
            </a:fld>
            <a:endParaRPr lang="en-IN" dirty="0"/>
          </a:p>
        </p:txBody>
      </p:sp>
      <p:sp>
        <p:nvSpPr>
          <p:cNvPr id="5" name="Footer Placeholder 4">
            <a:extLst>
              <a:ext uri="{FF2B5EF4-FFF2-40B4-BE49-F238E27FC236}">
                <a16:creationId xmlns:a16="http://schemas.microsoft.com/office/drawing/2014/main" id="{F46968A7-C083-F20B-0369-2067E75DE54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255429C-96E8-1064-0F87-6D95D15F9384}"/>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448761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A47F57-697A-B97E-DD3A-2910D126C5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3F252A-D3F9-0BB4-D962-668169761B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B93D65-8824-8EBE-4CB8-E4D7750FE881}"/>
              </a:ext>
            </a:extLst>
          </p:cNvPr>
          <p:cNvSpPr>
            <a:spLocks noGrp="1"/>
          </p:cNvSpPr>
          <p:nvPr>
            <p:ph type="dt" sz="half" idx="10"/>
          </p:nvPr>
        </p:nvSpPr>
        <p:spPr/>
        <p:txBody>
          <a:bodyPr/>
          <a:lstStyle/>
          <a:p>
            <a:fld id="{FAA2D233-408A-4415-B919-B7ECAA5043E2}" type="datetime1">
              <a:rPr lang="en-IN" smtClean="0"/>
              <a:t>26-04-2026</a:t>
            </a:fld>
            <a:endParaRPr lang="en-IN" dirty="0"/>
          </a:p>
        </p:txBody>
      </p:sp>
      <p:sp>
        <p:nvSpPr>
          <p:cNvPr id="5" name="Footer Placeholder 4">
            <a:extLst>
              <a:ext uri="{FF2B5EF4-FFF2-40B4-BE49-F238E27FC236}">
                <a16:creationId xmlns:a16="http://schemas.microsoft.com/office/drawing/2014/main" id="{2A1EA1BA-06A5-9F5B-136C-80EDFD72EB6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163C8CA-61F8-0704-0F6E-DDDD2B9987DD}"/>
              </a:ext>
            </a:extLst>
          </p:cNvPr>
          <p:cNvSpPr>
            <a:spLocks noGrp="1"/>
          </p:cNvSpPr>
          <p:nvPr>
            <p:ph type="sldNum" sz="quarter" idx="12"/>
          </p:nvPr>
        </p:nvSpPr>
        <p:spPr/>
        <p:txBody>
          <a:bodyPr/>
          <a:lstStyle/>
          <a:p>
            <a:fld id="{F32F6845-8F47-4AB8-B9CE-96D88E741707}" type="slidenum">
              <a:rPr lang="en-IN" smtClean="0"/>
              <a:t>‹#›</a:t>
            </a:fld>
            <a:endParaRPr lang="en-IN" dirty="0"/>
          </a:p>
        </p:txBody>
      </p:sp>
    </p:spTree>
    <p:extLst>
      <p:ext uri="{BB962C8B-B14F-4D97-AF65-F5344CB8AC3E}">
        <p14:creationId xmlns:p14="http://schemas.microsoft.com/office/powerpoint/2010/main" val="274878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9843D-C7AC-7DCA-D2A1-30C29BBAB6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0867-11DA-F019-8907-1B3D8BD7C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0DD53F-CA45-CCAE-9ADB-5B0F61393A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t>26-04-2026</a:t>
            </a:fld>
            <a:endParaRPr lang="en-IN" dirty="0"/>
          </a:p>
        </p:txBody>
      </p:sp>
      <p:sp>
        <p:nvSpPr>
          <p:cNvPr id="5" name="Footer Placeholder 4">
            <a:extLst>
              <a:ext uri="{FF2B5EF4-FFF2-40B4-BE49-F238E27FC236}">
                <a16:creationId xmlns:a16="http://schemas.microsoft.com/office/drawing/2014/main" id="{1C91FF70-F320-3E09-D811-B610D38CEA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99947EA-7073-9466-0549-46E86F1C89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t>‹#›</a:t>
            </a:fld>
            <a:endParaRPr lang="en-IN" dirty="0"/>
          </a:p>
        </p:txBody>
      </p:sp>
    </p:spTree>
    <p:extLst>
      <p:ext uri="{BB962C8B-B14F-4D97-AF65-F5344CB8AC3E}">
        <p14:creationId xmlns:p14="http://schemas.microsoft.com/office/powerpoint/2010/main" val="2041945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 </a:t>
            </a:r>
            <a:r>
              <a:rPr lang="en-GB" b="1" dirty="0">
                <a:solidFill>
                  <a:srgbClr val="17365D"/>
                </a:solidFill>
                <a:latin typeface="Cambria" panose="02040503050406030204" pitchFamily="18" charset="0"/>
                <a:ea typeface="Cambria" panose="02040503050406030204" pitchFamily="18" charset="0"/>
                <a:cs typeface="Verdana"/>
                <a:sym typeface="Verdana"/>
              </a:rPr>
              <a:t>Mohamed Shakir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School of CSE</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2000" b="1" dirty="0" err="1">
                <a:latin typeface="Cambria" panose="02040503050406030204" pitchFamily="18" charset="0"/>
                <a:ea typeface="Cambria" panose="02040503050406030204" pitchFamily="18" charset="0"/>
                <a:cs typeface="Verdana"/>
                <a:sym typeface="Verdana"/>
              </a:rPr>
              <a:t>B.Tech</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latin typeface="Cambria" panose="02040503050406030204" pitchFamily="18" charset="0"/>
                <a:ea typeface="Cambria" panose="02040503050406030204" pitchFamily="18" charset="0"/>
                <a:cs typeface="Verdana"/>
                <a:sym typeface="Verdana"/>
              </a:rPr>
              <a:t>Dr. Gopal Krishna Shyam</a:t>
            </a:r>
            <a:endParaRPr lang="en-US" sz="2000" b="1"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Internship Coordinator: </a:t>
            </a:r>
            <a:r>
              <a:rPr lang="en-US" sz="2000" b="1" dirty="0">
                <a:latin typeface="Cambria" panose="02040503050406030204" pitchFamily="18" charset="0"/>
                <a:ea typeface="Cambria" panose="02040503050406030204" pitchFamily="18" charset="0"/>
                <a:cs typeface="Verdana"/>
                <a:sym typeface="Verdana"/>
              </a:rPr>
              <a:t>Mr. Sreehari T M</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Internship Coordinator: </a:t>
            </a:r>
            <a:r>
              <a:rPr lang="en-US" sz="2000" b="1" dirty="0">
                <a:latin typeface="Cambria" panose="02040503050406030204" pitchFamily="18" charset="0"/>
                <a:ea typeface="Cambria" panose="02040503050406030204" pitchFamily="18" charset="0"/>
                <a:cs typeface="Verdana"/>
                <a:sym typeface="Verdana"/>
              </a:rPr>
              <a:t>Dr. Md Ziaur Rahman</a:t>
            </a:r>
          </a:p>
          <a:p>
            <a:pPr lvl="0">
              <a:buClr>
                <a:srgbClr val="17365D"/>
              </a:buClr>
              <a:buSzPct val="100000"/>
            </a:pPr>
            <a:r>
              <a:rPr lang="en-US" sz="2000" b="1" dirty="0">
                <a:latin typeface="Cambria" panose="02040503050406030204" pitchFamily="18" charset="0"/>
                <a:ea typeface="Cambria" panose="02040503050406030204" pitchFamily="18" charset="0"/>
                <a:cs typeface="Verdana"/>
                <a:sym typeface="Verdana"/>
              </a:rPr>
              <a:t> 													</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
        <p:nvSpPr>
          <p:cNvPr id="9" name="Title 1"/>
          <p:cNvSpPr txBox="1">
            <a:spLocks/>
          </p:cNvSpPr>
          <p:nvPr/>
        </p:nvSpPr>
        <p:spPr>
          <a:xfrm>
            <a:off x="838200" y="130629"/>
            <a:ext cx="10515600" cy="156006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17365D"/>
              </a:buClr>
              <a:buSzPts val="2800"/>
              <a:buFont typeface="Verdana"/>
              <a:buNone/>
              <a:defRPr sz="2800" b="1" i="0" u="none" strike="noStrike" cap="none">
                <a:solidFill>
                  <a:srgbClr val="17365D"/>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r>
              <a:rPr lang="en-US" altLang="en-US" dirty="0">
                <a:solidFill>
                  <a:schemeClr val="accent1">
                    <a:lumMod val="75000"/>
                  </a:schemeClr>
                </a:solidFill>
                <a:latin typeface="Times New Roman" panose="02020603050405020304" pitchFamily="18" charset="0"/>
                <a:cs typeface="Times New Roman" panose="02020603050405020304" pitchFamily="18" charset="0"/>
              </a:rPr>
              <a:t>CSE7302 - INTERNSHIP</a:t>
            </a:r>
            <a:br>
              <a:rPr lang="en-IN" dirty="0">
                <a:solidFill>
                  <a:srgbClr val="FF0000"/>
                </a:solidFill>
                <a:latin typeface="Times New Roman" panose="02020603050405020304" pitchFamily="18"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Review-3 Presentation </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r>
              <a:rPr lang="en-US" sz="2400" dirty="0">
                <a:solidFill>
                  <a:srgbClr val="0070C0"/>
                </a:solidFill>
                <a:latin typeface="Times New Roman" panose="02020603050405020304" pitchFamily="18" charset="0"/>
                <a:ea typeface="Tahoma" pitchFamily="34" charset="0"/>
                <a:cs typeface="Times New Roman" panose="02020603050405020304" pitchFamily="18" charset="0"/>
              </a:rPr>
              <a:t>Elevator Maintenance and Asset Tracking App</a:t>
            </a:r>
            <a:br>
              <a:rPr lang="en-US" sz="2400" dirty="0">
                <a:solidFill>
                  <a:srgbClr val="0070C0"/>
                </a:solidFill>
                <a:latin typeface="Times New Roman" panose="02020603050405020304" pitchFamily="18" charset="0"/>
                <a:ea typeface="Tahoma" pitchFamily="34"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4199754727"/>
              </p:ext>
            </p:extLst>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extLst>
                    <a:ext uri="{9D8B030D-6E8A-4147-A177-3AD203B41FA5}">
                      <a16:colId xmlns:a16="http://schemas.microsoft.com/office/drawing/2014/main" val="2689928737"/>
                    </a:ext>
                  </a:extLst>
                </a:gridCol>
                <a:gridCol w="3950282">
                  <a:extLst>
                    <a:ext uri="{9D8B030D-6E8A-4147-A177-3AD203B41FA5}">
                      <a16:colId xmlns:a16="http://schemas.microsoft.com/office/drawing/2014/main" val="3965538731"/>
                    </a:ext>
                  </a:extLst>
                </a:gridCol>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p>
                  </a:txBody>
                  <a:tcPr/>
                </a:tc>
                <a:tc hMerge="1">
                  <a:txBody>
                    <a:bodyPr/>
                    <a:lstStyle/>
                    <a:p>
                      <a:pPr algn="ct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6510531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ea typeface="Cambria" panose="02040503050406030204" pitchFamily="18" charset="0"/>
                          <a:cs typeface="Times New Roman" panose="02020603050405020304" pitchFamily="18" charset="0"/>
                        </a:rPr>
                        <a:t>Ann Olivia M</a:t>
                      </a:r>
                    </a:p>
                  </a:txBody>
                  <a:tcPr/>
                </a:tc>
                <a:extLst>
                  <a:ext uri="{0D108BD9-81ED-4DB2-BD59-A6C34878D82A}">
                    <a16:rowId xmlns:a16="http://schemas.microsoft.com/office/drawing/2014/main" val="673540802"/>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ea typeface="Cambria" panose="02040503050406030204" pitchFamily="18" charset="0"/>
                          <a:cs typeface="Times New Roman" panose="02020603050405020304" pitchFamily="18" charset="0"/>
                        </a:rPr>
                        <a:t>20221COM0208</a:t>
                      </a:r>
                    </a:p>
                  </a:txBody>
                  <a:tcPr/>
                </a:tc>
                <a:extLst>
                  <a:ext uri="{0D108BD9-81ED-4DB2-BD59-A6C34878D82A}">
                    <a16:rowId xmlns:a16="http://schemas.microsoft.com/office/drawing/2014/main" val="1825509489"/>
                  </a:ext>
                </a:extLst>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latin typeface="Cambria" panose="02040503050406030204" pitchFamily="18" charset="0"/>
                          <a:ea typeface="Cambria" panose="02040503050406030204" pitchFamily="18" charset="0"/>
                          <a:cs typeface="Times New Roman" panose="02020603050405020304" pitchFamily="18" charset="0"/>
                        </a:rPr>
                        <a:t>8-COM-01</a:t>
                      </a:r>
                    </a:p>
                  </a:txBody>
                  <a:tcPr/>
                </a:tc>
                <a:extLst>
                  <a:ext uri="{0D108BD9-81ED-4DB2-BD59-A6C34878D82A}">
                    <a16:rowId xmlns:a16="http://schemas.microsoft.com/office/drawing/2014/main" val="1278268189"/>
                  </a:ext>
                </a:extLst>
              </a:tr>
            </a:tbl>
          </a:graphicData>
        </a:graphic>
      </p:graphicFrame>
    </p:spTree>
    <p:extLst>
      <p:ext uri="{BB962C8B-B14F-4D97-AF65-F5344CB8AC3E}">
        <p14:creationId xmlns:p14="http://schemas.microsoft.com/office/powerpoint/2010/main" val="3066724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377968"/>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rgbClr val="0070C0"/>
                </a:solidFill>
                <a:latin typeface="Times New Roman" panose="02020603050405020304" pitchFamily="18" charset="0"/>
                <a:cs typeface="Times New Roman" panose="02020603050405020304" pitchFamily="18" charset="0"/>
              </a:rPr>
              <a:t>About Company or Organization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endParaRPr lang="en-US" sz="2000" dirty="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Literature Review</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Proposed System</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Problem Statement</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Requirements</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Design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System Implementation</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Internship Roadmap</a:t>
            </a: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2000" dirty="0">
              <a:latin typeface="Cambria" panose="02040503050406030204" pitchFamily="18" charset="0"/>
              <a:ea typeface="Cambria" panose="02040503050406030204" pitchFamily="18" charset="0"/>
            </a:endParaRPr>
          </a:p>
          <a:p>
            <a:pPr marL="495300" lvl="0" indent="-342900" algn="just" rtl="0">
              <a:lnSpc>
                <a:spcPct val="100000"/>
              </a:lnSpc>
              <a:spcBef>
                <a:spcPts val="0"/>
              </a:spcBef>
              <a:spcAft>
                <a:spcPts val="0"/>
              </a:spcAft>
              <a:buClr>
                <a:schemeClr val="dk1"/>
              </a:buClr>
              <a:buSzPts val="2400"/>
              <a:buFont typeface="Wingdings" panose="05000000000000000000" pitchFamily="2" charset="2"/>
              <a:buChar char="Ø"/>
            </a:pPr>
            <a:endParaRPr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62940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9904"/>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About Company or Organization</a:t>
            </a:r>
          </a:p>
        </p:txBody>
      </p:sp>
      <p:sp>
        <p:nvSpPr>
          <p:cNvPr id="3" name="Content Placeholder 2"/>
          <p:cNvSpPr>
            <a:spLocks noGrp="1"/>
          </p:cNvSpPr>
          <p:nvPr>
            <p:ph idx="1"/>
          </p:nvPr>
        </p:nvSpPr>
        <p:spPr>
          <a:xfrm>
            <a:off x="838200" y="1332412"/>
            <a:ext cx="10515600" cy="4193176"/>
          </a:xfrm>
        </p:spPr>
        <p:txBody>
          <a:bodyPr>
            <a:normAutofit fontScale="77500" lnSpcReduction="20000"/>
          </a:bodyPr>
          <a:lstStyle/>
          <a:p>
            <a:r>
              <a:rPr lang="en-US" b="1" dirty="0" err="1"/>
              <a:t>Axxonet</a:t>
            </a:r>
            <a:r>
              <a:rPr lang="en-US" b="1" dirty="0"/>
              <a:t> Technologies - </a:t>
            </a:r>
            <a:r>
              <a:rPr lang="en-US" dirty="0"/>
              <a:t>is a Bangalore-based technology and research-driven company founded in the year 2000.</a:t>
            </a:r>
            <a:br>
              <a:rPr lang="en-US" dirty="0"/>
            </a:br>
            <a:r>
              <a:rPr lang="en-US" dirty="0"/>
              <a:t>The company focuses on delivering innovative </a:t>
            </a:r>
            <a:r>
              <a:rPr lang="en-US" b="1" dirty="0"/>
              <a:t>IT solutions</a:t>
            </a:r>
            <a:r>
              <a:rPr lang="en-US" dirty="0"/>
              <a:t>, </a:t>
            </a:r>
            <a:r>
              <a:rPr lang="en-US" b="1" dirty="0"/>
              <a:t>analytics</a:t>
            </a:r>
            <a:r>
              <a:rPr lang="en-US" dirty="0"/>
              <a:t>, and </a:t>
            </a:r>
            <a:r>
              <a:rPr lang="en-US" b="1" dirty="0"/>
              <a:t>digital transformation services.</a:t>
            </a:r>
          </a:p>
          <a:p>
            <a:r>
              <a:rPr lang="en-US" dirty="0" err="1"/>
              <a:t>Axxonet</a:t>
            </a:r>
            <a:r>
              <a:rPr lang="en-US" dirty="0"/>
              <a:t> combines strong research capabilities with real-world business applications.</a:t>
            </a:r>
            <a:br>
              <a:rPr lang="en-US" dirty="0"/>
            </a:br>
            <a:r>
              <a:rPr lang="en-US" dirty="0"/>
              <a:t>It offers services in business intelligence, </a:t>
            </a:r>
            <a:r>
              <a:rPr lang="en-US" b="1" dirty="0"/>
              <a:t>data analytics</a:t>
            </a:r>
            <a:r>
              <a:rPr lang="en-US" dirty="0"/>
              <a:t>, </a:t>
            </a:r>
            <a:r>
              <a:rPr lang="en-US" b="1" dirty="0"/>
              <a:t>DevOps</a:t>
            </a:r>
            <a:r>
              <a:rPr lang="en-US" dirty="0"/>
              <a:t>, </a:t>
            </a:r>
            <a:r>
              <a:rPr lang="en-US" b="1" dirty="0"/>
              <a:t>cloud solutions</a:t>
            </a:r>
            <a:r>
              <a:rPr lang="en-US" dirty="0"/>
              <a:t>, and </a:t>
            </a:r>
            <a:r>
              <a:rPr lang="en-US" b="1" dirty="0"/>
              <a:t>software development</a:t>
            </a:r>
            <a:r>
              <a:rPr lang="en-US" dirty="0"/>
              <a:t>.</a:t>
            </a:r>
          </a:p>
          <a:p>
            <a:r>
              <a:rPr lang="en-US" dirty="0"/>
              <a:t>The organization is also well known for its work in </a:t>
            </a:r>
            <a:r>
              <a:rPr lang="en-US" b="1" dirty="0"/>
              <a:t>healthcare</a:t>
            </a:r>
            <a:r>
              <a:rPr lang="en-US" dirty="0"/>
              <a:t> and </a:t>
            </a:r>
            <a:r>
              <a:rPr lang="en-US" b="1" dirty="0"/>
              <a:t>neuroscience technologies.</a:t>
            </a:r>
          </a:p>
          <a:p>
            <a:r>
              <a:rPr lang="en-US" dirty="0" err="1"/>
              <a:t>Axxonet</a:t>
            </a:r>
            <a:r>
              <a:rPr lang="en-US" dirty="0"/>
              <a:t> develops advanced medical and laboratory systems for research and clinical use.</a:t>
            </a:r>
            <a:br>
              <a:rPr lang="en-US" dirty="0"/>
            </a:br>
            <a:r>
              <a:rPr lang="en-US" dirty="0"/>
              <a:t>The company follows global quality standards and is </a:t>
            </a:r>
            <a:r>
              <a:rPr lang="en-US" b="1" dirty="0"/>
              <a:t>ISO certified</a:t>
            </a:r>
            <a:r>
              <a:rPr lang="en-US" dirty="0"/>
              <a:t>.</a:t>
            </a:r>
            <a:br>
              <a:rPr lang="en-US" dirty="0"/>
            </a:br>
            <a:r>
              <a:rPr lang="en-US" dirty="0"/>
              <a:t>It serves clients across India and international markets.</a:t>
            </a:r>
            <a:br>
              <a:rPr lang="en-US" dirty="0"/>
            </a:br>
            <a:r>
              <a:rPr lang="en-US" dirty="0" err="1"/>
              <a:t>Axxonet</a:t>
            </a:r>
            <a:r>
              <a:rPr lang="en-US" dirty="0"/>
              <a:t> emphasizes innovation, problem-solving, and technology excellence.</a:t>
            </a:r>
            <a:br>
              <a:rPr lang="en-US" dirty="0"/>
            </a:br>
            <a:r>
              <a:rPr lang="en-US" dirty="0"/>
              <a:t>Overall, it bridges research, technology, and business to deliver impactful solutions.</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3</a:t>
            </a:fld>
            <a:endParaRPr lang="en-US" altLang="en-US"/>
          </a:p>
        </p:txBody>
      </p:sp>
    </p:spTree>
    <p:extLst>
      <p:ext uri="{BB962C8B-B14F-4D97-AF65-F5344CB8AC3E}">
        <p14:creationId xmlns:p14="http://schemas.microsoft.com/office/powerpoint/2010/main" val="1558138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Working domain or the technology</a:t>
            </a:r>
          </a:p>
        </p:txBody>
      </p:sp>
      <p:sp>
        <p:nvSpPr>
          <p:cNvPr id="3" name="Content Placeholder 2"/>
          <p:cNvSpPr>
            <a:spLocks noGrp="1"/>
          </p:cNvSpPr>
          <p:nvPr>
            <p:ph idx="1"/>
          </p:nvPr>
        </p:nvSpPr>
        <p:spPr>
          <a:xfrm>
            <a:off x="838200" y="1184367"/>
            <a:ext cx="10515600" cy="4058194"/>
          </a:xfrm>
        </p:spPr>
        <p:txBody>
          <a:bodyPr>
            <a:normAutofit fontScale="85000" lnSpcReduction="10000"/>
          </a:bodyPr>
          <a:lstStyle/>
          <a:p>
            <a:r>
              <a:rPr lang="en-US" dirty="0" err="1"/>
              <a:t>Axxonet</a:t>
            </a:r>
            <a:r>
              <a:rPr lang="en-US" dirty="0"/>
              <a:t> operates in </a:t>
            </a:r>
            <a:r>
              <a:rPr lang="en-US" b="1" dirty="0"/>
              <a:t>IT consulting, analytics, and digital transformation</a:t>
            </a:r>
            <a:r>
              <a:rPr lang="en-US" dirty="0"/>
              <a:t> services.</a:t>
            </a:r>
          </a:p>
          <a:p>
            <a:r>
              <a:rPr lang="en-US" dirty="0"/>
              <a:t>It specializes in </a:t>
            </a:r>
            <a:r>
              <a:rPr lang="en-US" b="1" dirty="0"/>
              <a:t>business intelligence and data analytics</a:t>
            </a:r>
            <a:r>
              <a:rPr lang="en-US" dirty="0"/>
              <a:t> for informed decision-making.</a:t>
            </a:r>
          </a:p>
          <a:p>
            <a:r>
              <a:rPr lang="en-US" dirty="0"/>
              <a:t>The company works with </a:t>
            </a:r>
            <a:r>
              <a:rPr lang="en-US" b="1" dirty="0"/>
              <a:t>AI, machine learning, and predictive analytics</a:t>
            </a:r>
            <a:r>
              <a:rPr lang="en-US" dirty="0"/>
              <a:t> technologies.</a:t>
            </a:r>
          </a:p>
          <a:p>
            <a:r>
              <a:rPr lang="en-US" dirty="0"/>
              <a:t>It delivers </a:t>
            </a:r>
            <a:r>
              <a:rPr lang="en-US" b="1" dirty="0"/>
              <a:t>cloud computing and DevOps solutions</a:t>
            </a:r>
            <a:r>
              <a:rPr lang="en-US" dirty="0"/>
              <a:t> for scalable digital platforms.</a:t>
            </a:r>
          </a:p>
          <a:p>
            <a:r>
              <a:rPr lang="en-US" dirty="0" err="1"/>
              <a:t>Axxonet</a:t>
            </a:r>
            <a:r>
              <a:rPr lang="en-US" dirty="0"/>
              <a:t> develops </a:t>
            </a:r>
            <a:r>
              <a:rPr lang="en-US" b="1" dirty="0"/>
              <a:t>custom web, mobile, and enterprise software applications</a:t>
            </a:r>
            <a:r>
              <a:rPr lang="en-US" dirty="0"/>
              <a:t>.</a:t>
            </a:r>
          </a:p>
          <a:p>
            <a:r>
              <a:rPr lang="en-US" dirty="0"/>
              <a:t>The organization uses </a:t>
            </a:r>
            <a:r>
              <a:rPr lang="en-US" b="1" dirty="0"/>
              <a:t>modern data platforms and visualization tools</a:t>
            </a:r>
            <a:r>
              <a:rPr lang="en-US" dirty="0"/>
              <a:t> for insights.</a:t>
            </a:r>
          </a:p>
          <a:p>
            <a:r>
              <a:rPr lang="en-US" dirty="0"/>
              <a:t>It also focuses on </a:t>
            </a:r>
            <a:r>
              <a:rPr lang="en-US" b="1" dirty="0"/>
              <a:t>healthcare and neuroscience technologies</a:t>
            </a:r>
            <a:r>
              <a:rPr lang="en-US" dirty="0"/>
              <a:t>, including EEG and research systems.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4</a:t>
            </a:fld>
            <a:endParaRPr lang="en-US" altLang="en-US"/>
          </a:p>
        </p:txBody>
      </p:sp>
    </p:spTree>
    <p:extLst>
      <p:ext uri="{BB962C8B-B14F-4D97-AF65-F5344CB8AC3E}">
        <p14:creationId xmlns:p14="http://schemas.microsoft.com/office/powerpoint/2010/main" val="658682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About your team and reporting Manager</a:t>
            </a:r>
          </a:p>
        </p:txBody>
      </p:sp>
      <p:sp>
        <p:nvSpPr>
          <p:cNvPr id="3" name="Content Placeholder 2"/>
          <p:cNvSpPr>
            <a:spLocks noGrp="1"/>
          </p:cNvSpPr>
          <p:nvPr>
            <p:ph idx="1"/>
          </p:nvPr>
        </p:nvSpPr>
        <p:spPr>
          <a:xfrm>
            <a:off x="838200" y="1399903"/>
            <a:ext cx="10515600" cy="4058194"/>
          </a:xfrm>
        </p:spPr>
        <p:txBody>
          <a:bodyPr>
            <a:normAutofit/>
          </a:bodyPr>
          <a:lstStyle/>
          <a:p>
            <a:pPr marL="0" indent="0">
              <a:buNone/>
            </a:pPr>
            <a:r>
              <a:rPr lang="en-US" sz="2600" dirty="0"/>
              <a:t>For the initial phase of my internship, I am currently working under the guidance of an internship guide </a:t>
            </a:r>
            <a:r>
              <a:rPr lang="en-US" sz="2600" b="1" dirty="0"/>
              <a:t>– Mr. Akash KJ, Mr. Mukesh, Mr. Akash Gupta</a:t>
            </a:r>
            <a:r>
              <a:rPr lang="en-US" sz="2600" dirty="0"/>
              <a:t> who acts as my reporting mentors and oversees my learning and progress. </a:t>
            </a:r>
          </a:p>
          <a:p>
            <a:pPr marL="0" indent="0">
              <a:buNone/>
            </a:pPr>
            <a:r>
              <a:rPr lang="en-US" sz="2600" dirty="0"/>
              <a:t>The first week was focused on training, where I was introduced to </a:t>
            </a:r>
            <a:r>
              <a:rPr lang="en-US" sz="2600" b="1" dirty="0"/>
              <a:t>Python</a:t>
            </a:r>
            <a:r>
              <a:rPr lang="en-US" sz="2600" dirty="0"/>
              <a:t> basics and </a:t>
            </a:r>
            <a:r>
              <a:rPr lang="en-US" sz="2600" b="1" dirty="0"/>
              <a:t>Django</a:t>
            </a:r>
            <a:r>
              <a:rPr lang="en-US" sz="2600" dirty="0"/>
              <a:t> fundamentals to build a strong technical foundation. In past one month, I have started working on a </a:t>
            </a:r>
            <a:r>
              <a:rPr lang="en-US" sz="2600" dirty="0" err="1"/>
              <a:t>demoproject</a:t>
            </a:r>
            <a:r>
              <a:rPr lang="en-US" sz="2600" dirty="0"/>
              <a:t> under my mentor’s supervision to apply the concepts learned. </a:t>
            </a:r>
          </a:p>
          <a:p>
            <a:pPr marL="0" indent="0">
              <a:buNone/>
            </a:pPr>
            <a:r>
              <a:rPr lang="en-IN" sz="2600" dirty="0">
                <a:latin typeface="Times New Roman" panose="02020603050405020304" pitchFamily="18" charset="0"/>
                <a:cs typeface="Times New Roman" panose="02020603050405020304" pitchFamily="18" charset="0"/>
              </a:rPr>
              <a:t>Later on I will be put into the core project team to work on ERP systems.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5</a:t>
            </a:fld>
            <a:endParaRPr lang="en-US" altLang="en-US"/>
          </a:p>
        </p:txBody>
      </p:sp>
    </p:spTree>
    <p:extLst>
      <p:ext uri="{BB962C8B-B14F-4D97-AF65-F5344CB8AC3E}">
        <p14:creationId xmlns:p14="http://schemas.microsoft.com/office/powerpoint/2010/main" val="2510696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Challenges Faced in Internship</a:t>
            </a:r>
          </a:p>
        </p:txBody>
      </p:sp>
      <p:sp>
        <p:nvSpPr>
          <p:cNvPr id="3" name="Content Placeholder 2"/>
          <p:cNvSpPr>
            <a:spLocks noGrp="1"/>
          </p:cNvSpPr>
          <p:nvPr>
            <p:ph idx="1"/>
          </p:nvPr>
        </p:nvSpPr>
        <p:spPr>
          <a:xfrm>
            <a:off x="838200" y="1399903"/>
            <a:ext cx="10515600" cy="4058194"/>
          </a:xfrm>
        </p:spPr>
        <p:txBody>
          <a:bodyPr/>
          <a:lstStyle/>
          <a:p>
            <a:pPr marL="0" lvl="0" indent="0" eaLnBrk="0" fontAlgn="base" hangingPunct="0">
              <a:lnSpc>
                <a:spcPct val="100000"/>
              </a:lnSpc>
              <a:spcBef>
                <a:spcPct val="0"/>
              </a:spcBef>
              <a:spcAft>
                <a:spcPct val="0"/>
              </a:spcAft>
              <a:buFontTx/>
              <a:buChar char="•"/>
            </a:pPr>
            <a:r>
              <a:rPr lang="en-US" altLang="en-US" sz="2600" dirty="0"/>
              <a:t>Adapting to a </a:t>
            </a:r>
            <a:r>
              <a:rPr lang="en-US" altLang="en-US" sz="2600" b="1" dirty="0"/>
              <a:t>new work environment and professional culture</a:t>
            </a:r>
            <a:endParaRPr lang="en-US" altLang="en-US" sz="2600" dirty="0"/>
          </a:p>
          <a:p>
            <a:pPr marL="0" lvl="0" indent="0" eaLnBrk="0" fontAlgn="base" hangingPunct="0">
              <a:lnSpc>
                <a:spcPct val="100000"/>
              </a:lnSpc>
              <a:spcBef>
                <a:spcPct val="0"/>
              </a:spcBef>
              <a:spcAft>
                <a:spcPct val="0"/>
              </a:spcAft>
              <a:buFontTx/>
              <a:buChar char="•"/>
            </a:pPr>
            <a:r>
              <a:rPr lang="en-US" altLang="en-US" sz="2600" dirty="0"/>
              <a:t>Understanding</a:t>
            </a:r>
            <a:r>
              <a:rPr lang="en-US" altLang="en-US" sz="2600" b="1" dirty="0"/>
              <a:t> requirements and expectations</a:t>
            </a:r>
            <a:r>
              <a:rPr lang="en-US" altLang="en-US" sz="2600" dirty="0"/>
              <a:t> initially</a:t>
            </a:r>
          </a:p>
          <a:p>
            <a:pPr marL="0" lvl="0" indent="0" eaLnBrk="0" fontAlgn="base" hangingPunct="0">
              <a:lnSpc>
                <a:spcPct val="100000"/>
              </a:lnSpc>
              <a:spcBef>
                <a:spcPct val="0"/>
              </a:spcBef>
              <a:spcAft>
                <a:spcPct val="0"/>
              </a:spcAft>
              <a:buFontTx/>
              <a:buChar char="•"/>
            </a:pPr>
            <a:r>
              <a:rPr lang="en-US" altLang="en-US" sz="2600" dirty="0"/>
              <a:t>Learning </a:t>
            </a:r>
            <a:r>
              <a:rPr lang="en-US" altLang="en-US" sz="2600" b="1" dirty="0"/>
              <a:t>new technologies and tools</a:t>
            </a:r>
            <a:r>
              <a:rPr lang="en-US" altLang="en-US" sz="2600" dirty="0"/>
              <a:t> within a limited time</a:t>
            </a:r>
          </a:p>
          <a:p>
            <a:pPr marL="0" lvl="0" indent="0" eaLnBrk="0" fontAlgn="base" hangingPunct="0">
              <a:lnSpc>
                <a:spcPct val="100000"/>
              </a:lnSpc>
              <a:spcBef>
                <a:spcPct val="0"/>
              </a:spcBef>
              <a:spcAft>
                <a:spcPct val="0"/>
              </a:spcAft>
              <a:buFontTx/>
              <a:buChar char="•"/>
            </a:pPr>
            <a:r>
              <a:rPr lang="en-US" altLang="en-US" sz="2600" dirty="0"/>
              <a:t>Applying </a:t>
            </a:r>
            <a:r>
              <a:rPr lang="en-US" altLang="en-US" sz="2600" b="1" dirty="0"/>
              <a:t>theoretical knowledge to practical tasks</a:t>
            </a:r>
            <a:endParaRPr lang="en-US" altLang="en-US" sz="2600" dirty="0"/>
          </a:p>
          <a:p>
            <a:pPr marL="0" lvl="0" indent="0" eaLnBrk="0" fontAlgn="base" hangingPunct="0">
              <a:lnSpc>
                <a:spcPct val="100000"/>
              </a:lnSpc>
              <a:spcBef>
                <a:spcPct val="0"/>
              </a:spcBef>
              <a:spcAft>
                <a:spcPct val="0"/>
              </a:spcAft>
              <a:buFontTx/>
              <a:buChar char="•"/>
            </a:pPr>
            <a:r>
              <a:rPr lang="en-US" altLang="en-US" sz="2600" dirty="0"/>
              <a:t>Managing time between </a:t>
            </a:r>
            <a:r>
              <a:rPr lang="en-US" altLang="en-US" sz="2600" b="1" dirty="0"/>
              <a:t>learning and assigned tasks</a:t>
            </a:r>
            <a:endParaRPr lang="en-US" altLang="en-US" sz="2600" dirty="0"/>
          </a:p>
          <a:p>
            <a:pPr marL="0" lvl="0" indent="0" eaLnBrk="0" fontAlgn="base" hangingPunct="0">
              <a:lnSpc>
                <a:spcPct val="100000"/>
              </a:lnSpc>
              <a:spcBef>
                <a:spcPct val="0"/>
              </a:spcBef>
              <a:spcAft>
                <a:spcPct val="0"/>
              </a:spcAft>
              <a:buFontTx/>
              <a:buChar char="•"/>
            </a:pPr>
            <a:r>
              <a:rPr lang="en-US" altLang="en-US" sz="2600" dirty="0"/>
              <a:t>Gaining confidence while asking questions and seeking guidance</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6</a:t>
            </a:fld>
            <a:endParaRPr lang="en-US" altLang="en-US"/>
          </a:p>
        </p:txBody>
      </p:sp>
    </p:spTree>
    <p:extLst>
      <p:ext uri="{BB962C8B-B14F-4D97-AF65-F5344CB8AC3E}">
        <p14:creationId xmlns:p14="http://schemas.microsoft.com/office/powerpoint/2010/main" val="120615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838200" y="1184367"/>
            <a:ext cx="10515600" cy="4058194"/>
          </a:xfrm>
        </p:spPr>
        <p:txBody>
          <a:bodyPr/>
          <a:lstStyle/>
          <a:p>
            <a:pPr marL="0" lvl="0" indent="0" eaLnBrk="0" fontAlgn="base" hangingPunct="0">
              <a:lnSpc>
                <a:spcPct val="100000"/>
              </a:lnSpc>
              <a:spcBef>
                <a:spcPct val="0"/>
              </a:spcBef>
              <a:spcAft>
                <a:spcPct val="0"/>
              </a:spcAft>
              <a:buFontTx/>
              <a:buChar char="•"/>
            </a:pPr>
            <a:r>
              <a:rPr lang="en-US" altLang="en-US" sz="2600" dirty="0"/>
              <a:t>To understand how real-world software development works</a:t>
            </a:r>
          </a:p>
          <a:p>
            <a:pPr marL="0" lvl="0" indent="0" eaLnBrk="0" fontAlgn="base" hangingPunct="0">
              <a:lnSpc>
                <a:spcPct val="100000"/>
              </a:lnSpc>
              <a:spcBef>
                <a:spcPct val="0"/>
              </a:spcBef>
              <a:spcAft>
                <a:spcPct val="0"/>
              </a:spcAft>
              <a:buFontTx/>
              <a:buChar char="•"/>
            </a:pPr>
            <a:r>
              <a:rPr lang="en-US" altLang="en-US" sz="2600" dirty="0"/>
              <a:t>To improve my skills in both </a:t>
            </a:r>
            <a:r>
              <a:rPr lang="en-US" altLang="en-US" sz="2600" b="1" dirty="0"/>
              <a:t>Front-end and Back-end</a:t>
            </a:r>
            <a:r>
              <a:rPr lang="en-US" altLang="en-US" sz="2600" dirty="0"/>
              <a:t>.</a:t>
            </a:r>
          </a:p>
          <a:p>
            <a:pPr marL="0" lvl="0" indent="0" eaLnBrk="0" fontAlgn="base" hangingPunct="0">
              <a:lnSpc>
                <a:spcPct val="100000"/>
              </a:lnSpc>
              <a:spcBef>
                <a:spcPct val="0"/>
              </a:spcBef>
              <a:spcAft>
                <a:spcPct val="0"/>
              </a:spcAft>
              <a:buFontTx/>
              <a:buChar char="•"/>
            </a:pPr>
            <a:r>
              <a:rPr lang="en-US" altLang="en-US" sz="2600" dirty="0"/>
              <a:t>To apply classroom concepts to practical tasks and mini projects</a:t>
            </a:r>
          </a:p>
          <a:p>
            <a:pPr marL="0" lvl="0" indent="0" eaLnBrk="0" fontAlgn="base" hangingPunct="0">
              <a:lnSpc>
                <a:spcPct val="100000"/>
              </a:lnSpc>
              <a:spcBef>
                <a:spcPct val="0"/>
              </a:spcBef>
              <a:spcAft>
                <a:spcPct val="0"/>
              </a:spcAft>
              <a:buFontTx/>
              <a:buChar char="•"/>
            </a:pPr>
            <a:r>
              <a:rPr lang="en-US" altLang="en-US" sz="2600" dirty="0"/>
              <a:t>To follow proper coding standards and development practices</a:t>
            </a:r>
          </a:p>
          <a:p>
            <a:pPr marL="0" lvl="0" indent="0" eaLnBrk="0" fontAlgn="base" hangingPunct="0">
              <a:lnSpc>
                <a:spcPct val="100000"/>
              </a:lnSpc>
              <a:spcBef>
                <a:spcPct val="0"/>
              </a:spcBef>
              <a:spcAft>
                <a:spcPct val="0"/>
              </a:spcAft>
              <a:buFontTx/>
              <a:buChar char="•"/>
            </a:pPr>
            <a:r>
              <a:rPr lang="en-US" altLang="en-US" sz="2600" dirty="0"/>
              <a:t>To gain confidence in working on assigned tasks independently</a:t>
            </a:r>
          </a:p>
          <a:p>
            <a:pPr marL="0" lvl="0" indent="0" eaLnBrk="0" fontAlgn="base" hangingPunct="0">
              <a:lnSpc>
                <a:spcPct val="100000"/>
              </a:lnSpc>
              <a:spcBef>
                <a:spcPct val="0"/>
              </a:spcBef>
              <a:spcAft>
                <a:spcPct val="0"/>
              </a:spcAft>
              <a:buFontTx/>
              <a:buChar char="•"/>
            </a:pPr>
            <a:r>
              <a:rPr lang="en-US" altLang="en-US" sz="2600" dirty="0"/>
              <a:t>To prepare myself for contributing to major projects in later stages of the internship</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7</a:t>
            </a:fld>
            <a:endParaRPr lang="en-US" altLang="en-US"/>
          </a:p>
        </p:txBody>
      </p:sp>
    </p:spTree>
    <p:extLst>
      <p:ext uri="{BB962C8B-B14F-4D97-AF65-F5344CB8AC3E}">
        <p14:creationId xmlns:p14="http://schemas.microsoft.com/office/powerpoint/2010/main" val="2516334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Literature Review</a:t>
            </a:r>
          </a:p>
        </p:txBody>
      </p:sp>
      <p:sp>
        <p:nvSpPr>
          <p:cNvPr id="3" name="Content Placeholder 2"/>
          <p:cNvSpPr>
            <a:spLocks noGrp="1"/>
          </p:cNvSpPr>
          <p:nvPr>
            <p:ph idx="1"/>
          </p:nvPr>
        </p:nvSpPr>
        <p:spPr>
          <a:xfrm>
            <a:off x="838200" y="1300114"/>
            <a:ext cx="10515600" cy="4058194"/>
          </a:xfrm>
        </p:spPr>
        <p:txBody>
          <a:bodyPr>
            <a:normAutofit/>
          </a:bodyPr>
          <a:lstStyle/>
          <a:p>
            <a:r>
              <a:rPr lang="en-US" sz="2600" dirty="0"/>
              <a:t>Before starting the development process, I explored backend development using </a:t>
            </a:r>
            <a:r>
              <a:rPr lang="en-US" sz="2600" b="1" dirty="0"/>
              <a:t>Django</a:t>
            </a:r>
            <a:r>
              <a:rPr lang="en-US" sz="2600" dirty="0"/>
              <a:t>, </a:t>
            </a:r>
            <a:r>
              <a:rPr lang="en-US" sz="2600" b="1" dirty="0"/>
              <a:t>Django REST Framework</a:t>
            </a:r>
            <a:r>
              <a:rPr lang="en-US" sz="2600" dirty="0"/>
              <a:t>, and </a:t>
            </a:r>
            <a:r>
              <a:rPr lang="en-US" sz="2600" b="1" dirty="0" err="1"/>
              <a:t>GraphQL</a:t>
            </a:r>
            <a:r>
              <a:rPr lang="en-US" sz="2600" dirty="0"/>
              <a:t>. I learned core concepts such as </a:t>
            </a:r>
            <a:r>
              <a:rPr lang="en-US" sz="2600" b="1" dirty="0"/>
              <a:t>API design, layered architecture, data validation, and exception handling</a:t>
            </a:r>
            <a:r>
              <a:rPr lang="en-US" sz="2600" dirty="0"/>
              <a:t>.</a:t>
            </a:r>
          </a:p>
          <a:p>
            <a:r>
              <a:rPr lang="en-US" sz="2600" dirty="0"/>
              <a:t>Based on this, I implemented the backend using </a:t>
            </a:r>
            <a:r>
              <a:rPr lang="en-US" sz="2600" b="1" dirty="0"/>
              <a:t>Django</a:t>
            </a:r>
            <a:r>
              <a:rPr lang="en-US" sz="2600" dirty="0"/>
              <a:t>, built APIs with </a:t>
            </a:r>
            <a:r>
              <a:rPr lang="en-US" sz="2600" b="1" dirty="0"/>
              <a:t>Django REST Framework</a:t>
            </a:r>
            <a:r>
              <a:rPr lang="en-US" sz="2600" dirty="0"/>
              <a:t>, and designed </a:t>
            </a:r>
            <a:r>
              <a:rPr lang="en-US" sz="2600" b="1" dirty="0" err="1"/>
              <a:t>GraphQL</a:t>
            </a:r>
            <a:r>
              <a:rPr lang="en-US" sz="2600" b="1" dirty="0"/>
              <a:t> queries and mutations using the Graphene package</a:t>
            </a:r>
            <a:r>
              <a:rPr lang="en-US" sz="2600" dirty="0"/>
              <a:t>. The frontend was developed using </a:t>
            </a:r>
            <a:r>
              <a:rPr lang="en-US" sz="2600" b="1" dirty="0"/>
              <a:t>HTML, CSS, and JavaScript</a:t>
            </a:r>
            <a:r>
              <a:rPr lang="en-US" sz="2600" dirty="0"/>
              <a:t> to interact with the backend services. This preparation helped me effectively complete my assigned tasks and understand how my modules fit into the overall project.</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8</a:t>
            </a:fld>
            <a:endParaRPr lang="en-US" altLang="en-US"/>
          </a:p>
        </p:txBody>
      </p:sp>
    </p:spTree>
    <p:extLst>
      <p:ext uri="{BB962C8B-B14F-4D97-AF65-F5344CB8AC3E}">
        <p14:creationId xmlns:p14="http://schemas.microsoft.com/office/powerpoint/2010/main" val="97292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Proposed System / Work</a:t>
            </a:r>
          </a:p>
        </p:txBody>
      </p:sp>
      <p:sp>
        <p:nvSpPr>
          <p:cNvPr id="3" name="Content Placeholder 2"/>
          <p:cNvSpPr>
            <a:spLocks noGrp="1"/>
          </p:cNvSpPr>
          <p:nvPr>
            <p:ph idx="1"/>
          </p:nvPr>
        </p:nvSpPr>
        <p:spPr>
          <a:xfrm>
            <a:off x="838200" y="1184367"/>
            <a:ext cx="10515600" cy="4058194"/>
          </a:xfrm>
        </p:spPr>
        <p:txBody>
          <a:bodyPr>
            <a:normAutofit fontScale="92500" lnSpcReduction="10000"/>
          </a:bodyPr>
          <a:lstStyle/>
          <a:p>
            <a:r>
              <a:rPr lang="en-US" dirty="0"/>
              <a:t>The proposed work for the internship period involves the development of both backend and integration components of a web-based enterprise application. Initially, I am working on a demo project to gain practical exposure to full-stack development concepts, including designing RESTful APIs, implementing authentication mechanisms, managing databases, and integrating frontend interfaces with backend services.</a:t>
            </a:r>
          </a:p>
          <a:p>
            <a:r>
              <a:rPr lang="en-US" dirty="0"/>
              <a:t>The core focus of my work at </a:t>
            </a:r>
            <a:r>
              <a:rPr lang="en-US" b="1" dirty="0"/>
              <a:t>Avia Enterprises</a:t>
            </a:r>
            <a:r>
              <a:rPr lang="en-US" dirty="0"/>
              <a:t> is to develop an </a:t>
            </a:r>
            <a:r>
              <a:rPr lang="en-US" b="1" dirty="0"/>
              <a:t>ERP Integration Adapter Module</a:t>
            </a:r>
            <a:r>
              <a:rPr lang="en-US" dirty="0"/>
              <a:t> that enables seamless switching between multiple ERP platforms and facilitates efficient data retrieval. This module acts as an intermediate layer between different ERP systems and the company’s central application, ensuring standardized data flow across platforms.</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9</a:t>
            </a:fld>
            <a:endParaRPr lang="en-US" altLang="en-US"/>
          </a:p>
        </p:txBody>
      </p:sp>
    </p:spTree>
    <p:extLst>
      <p:ext uri="{BB962C8B-B14F-4D97-AF65-F5344CB8AC3E}">
        <p14:creationId xmlns:p14="http://schemas.microsoft.com/office/powerpoint/2010/main" val="355247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Problem Statement</a:t>
            </a:r>
          </a:p>
        </p:txBody>
      </p:sp>
      <p:sp>
        <p:nvSpPr>
          <p:cNvPr id="3" name="Content Placeholder 2"/>
          <p:cNvSpPr>
            <a:spLocks noGrp="1"/>
          </p:cNvSpPr>
          <p:nvPr>
            <p:ph idx="1"/>
          </p:nvPr>
        </p:nvSpPr>
        <p:spPr>
          <a:xfrm>
            <a:off x="838200" y="1184367"/>
            <a:ext cx="10515600" cy="4058194"/>
          </a:xfrm>
        </p:spPr>
        <p:txBody>
          <a:bodyPr>
            <a:normAutofit fontScale="92500" lnSpcReduction="20000"/>
          </a:bodyPr>
          <a:lstStyle/>
          <a:p>
            <a:r>
              <a:rPr lang="en-US" dirty="0"/>
              <a:t>Large enterprises often build customized ERP systems to manage their operations, but small and mid-sized businesses cannot afford such infrastructure. Many of them still rely on books, physical records, or manual entries to maintain customer data, invoices, and warranty details. When records are lost or damaged, there is no reliable proof or backup of the stored data.</a:t>
            </a:r>
          </a:p>
          <a:p>
            <a:r>
              <a:rPr lang="en-US" b="1" dirty="0"/>
              <a:t>Avia Enterprises</a:t>
            </a:r>
            <a:r>
              <a:rPr lang="en-US" dirty="0"/>
              <a:t> was created to overcome these challenges by providing a centralized digital platform for managing business data and workflows.</a:t>
            </a:r>
          </a:p>
          <a:p>
            <a:r>
              <a:rPr lang="en-US" dirty="0"/>
              <a:t>However, since different clients use different ERP systems with varying data structures, integration becomes complex and inconsistent. Therefore, there is a need for a flexible ERP Integration Adapter that can standardize data and ensure seamless synchronization across multiple platforms.</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10</a:t>
            </a:fld>
            <a:endParaRPr lang="en-US" altLang="en-US"/>
          </a:p>
        </p:txBody>
      </p:sp>
    </p:spTree>
    <p:extLst>
      <p:ext uri="{BB962C8B-B14F-4D97-AF65-F5344CB8AC3E}">
        <p14:creationId xmlns:p14="http://schemas.microsoft.com/office/powerpoint/2010/main" val="450598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Requirements</a:t>
            </a:r>
          </a:p>
        </p:txBody>
      </p:sp>
      <p:sp>
        <p:nvSpPr>
          <p:cNvPr id="3" name="Content Placeholder 2"/>
          <p:cNvSpPr>
            <a:spLocks noGrp="1"/>
          </p:cNvSpPr>
          <p:nvPr>
            <p:ph idx="1"/>
          </p:nvPr>
        </p:nvSpPr>
        <p:spPr>
          <a:xfrm>
            <a:off x="838200" y="1184367"/>
            <a:ext cx="10515600" cy="4058194"/>
          </a:xfrm>
        </p:spPr>
        <p:txBody>
          <a:bodyPr>
            <a:normAutofit fontScale="25000" lnSpcReduction="20000"/>
          </a:bodyPr>
          <a:lstStyle/>
          <a:p>
            <a:r>
              <a:rPr lang="en-US" sz="8000" b="1" dirty="0"/>
              <a:t>1. Hardware Requirements</a:t>
            </a:r>
          </a:p>
          <a:p>
            <a:r>
              <a:rPr lang="en-US" sz="8000" dirty="0"/>
              <a:t>Processor: Intel i5 or higher</a:t>
            </a:r>
          </a:p>
          <a:p>
            <a:r>
              <a:rPr lang="en-US" sz="8000" dirty="0"/>
              <a:t>RAM: Minimum 8 GB (16 GB recommended for development)</a:t>
            </a:r>
          </a:p>
          <a:p>
            <a:r>
              <a:rPr lang="en-US" sz="8000" dirty="0"/>
              <a:t>Storage: Minimum 256 GB SSD</a:t>
            </a:r>
          </a:p>
          <a:p>
            <a:r>
              <a:rPr lang="en-US" sz="8000" dirty="0"/>
              <a:t>Stable Internet connection</a:t>
            </a:r>
          </a:p>
          <a:p>
            <a:r>
              <a:rPr lang="en-US" sz="8000" b="1" dirty="0"/>
              <a:t>2. Software Requirements</a:t>
            </a:r>
          </a:p>
          <a:p>
            <a:r>
              <a:rPr lang="en-US" sz="8000" dirty="0"/>
              <a:t>Operating System: Windows / Linux / macOS</a:t>
            </a:r>
          </a:p>
          <a:p>
            <a:r>
              <a:rPr lang="en-US" sz="8000" dirty="0"/>
              <a:t>Backend Framework: Django / Django REST Framework</a:t>
            </a:r>
          </a:p>
          <a:p>
            <a:r>
              <a:rPr lang="en-US" sz="8000" dirty="0"/>
              <a:t>Database: </a:t>
            </a:r>
            <a:r>
              <a:rPr lang="en-US" sz="8000" dirty="0" err="1"/>
              <a:t>GraphQL</a:t>
            </a:r>
            <a:r>
              <a:rPr lang="en-US" sz="8000" dirty="0"/>
              <a:t> / MySQL</a:t>
            </a:r>
          </a:p>
          <a:p>
            <a:r>
              <a:rPr lang="en-US" sz="8000" dirty="0"/>
              <a:t>API Testing Tool: Postman/</a:t>
            </a:r>
            <a:r>
              <a:rPr lang="en-US" sz="8000" dirty="0" err="1"/>
              <a:t>Thunderclient</a:t>
            </a:r>
            <a:endParaRPr lang="en-US" sz="8000" dirty="0"/>
          </a:p>
          <a:p>
            <a:r>
              <a:rPr lang="en-US" sz="8000" dirty="0"/>
              <a:t>Version Control: Git</a:t>
            </a:r>
          </a:p>
          <a:p>
            <a:r>
              <a:rPr lang="en-US" sz="8000" dirty="0"/>
              <a:t>Code Editor: VS Code</a:t>
            </a:r>
          </a:p>
          <a:p>
            <a:r>
              <a:rPr lang="en-US" sz="8000" dirty="0"/>
              <a:t>Web Browser: Chrome / Edge</a:t>
            </a:r>
          </a:p>
          <a:p>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11</a:t>
            </a:fld>
            <a:endParaRPr lang="en-US" altLang="en-US"/>
          </a:p>
        </p:txBody>
      </p:sp>
    </p:spTree>
    <p:extLst>
      <p:ext uri="{BB962C8B-B14F-4D97-AF65-F5344CB8AC3E}">
        <p14:creationId xmlns:p14="http://schemas.microsoft.com/office/powerpoint/2010/main" val="3128696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System/Work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12</a:t>
            </a:fld>
            <a:endParaRPr lang="en-US" altLang="en-US"/>
          </a:p>
        </p:txBody>
      </p:sp>
      <p:sp>
        <p:nvSpPr>
          <p:cNvPr id="5" name="Rectangle 1">
            <a:extLst>
              <a:ext uri="{FF2B5EF4-FFF2-40B4-BE49-F238E27FC236}">
                <a16:creationId xmlns:a16="http://schemas.microsoft.com/office/drawing/2014/main" id="{BACC22B6-587E-4961-4476-804C02ACA63C}"/>
              </a:ext>
            </a:extLst>
          </p:cNvPr>
          <p:cNvSpPr>
            <a:spLocks noGrp="1" noChangeArrowheads="1"/>
          </p:cNvSpPr>
          <p:nvPr>
            <p:ph idx="1"/>
          </p:nvPr>
        </p:nvSpPr>
        <p:spPr bwMode="auto">
          <a:xfrm>
            <a:off x="977096" y="1526767"/>
            <a:ext cx="5312673"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Centralized Data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Improved Data Security &amp; Backup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Seamless ERP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Standardized Data Format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Reduced Manual Errors</a:t>
            </a:r>
          </a:p>
        </p:txBody>
      </p:sp>
    </p:spTree>
    <p:extLst>
      <p:ext uri="{BB962C8B-B14F-4D97-AF65-F5344CB8AC3E}">
        <p14:creationId xmlns:p14="http://schemas.microsoft.com/office/powerpoint/2010/main" val="224665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Design</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13</a:t>
            </a:fld>
            <a:endParaRPr lang="en-US" altLang="en-US"/>
          </a:p>
        </p:txBody>
      </p:sp>
      <p:sp>
        <p:nvSpPr>
          <p:cNvPr id="5" name="Rectangle 1">
            <a:extLst>
              <a:ext uri="{FF2B5EF4-FFF2-40B4-BE49-F238E27FC236}">
                <a16:creationId xmlns:a16="http://schemas.microsoft.com/office/drawing/2014/main" id="{C12AE9A8-4AE7-4BB6-5923-6472DCB736FC}"/>
              </a:ext>
            </a:extLst>
          </p:cNvPr>
          <p:cNvSpPr>
            <a:spLocks noGrp="1" noChangeArrowheads="1"/>
          </p:cNvSpPr>
          <p:nvPr>
            <p:ph idx="1"/>
          </p:nvPr>
        </p:nvSpPr>
        <p:spPr bwMode="auto">
          <a:xfrm>
            <a:off x="838200" y="1184366"/>
            <a:ext cx="1031686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Follows a </a:t>
            </a:r>
            <a:r>
              <a:rPr kumimoji="0" lang="en-US" altLang="en-US" sz="2600" b="1" i="0" u="none" strike="noStrike" cap="none" normalizeH="0" baseline="0" dirty="0">
                <a:ln>
                  <a:noFill/>
                </a:ln>
                <a:solidFill>
                  <a:schemeClr val="tx1"/>
                </a:solidFill>
                <a:effectLst/>
                <a:latin typeface="Arial" panose="020B0604020202020204" pitchFamily="34" charset="0"/>
              </a:rPr>
              <a:t>Layered Architecture</a:t>
            </a:r>
            <a:r>
              <a:rPr kumimoji="0" lang="en-US" altLang="en-US" sz="2600" b="0" i="0" u="none" strike="noStrike" cap="none" normalizeH="0" baseline="0" dirty="0">
                <a:ln>
                  <a:noFill/>
                </a:ln>
                <a:solidFill>
                  <a:schemeClr val="tx1"/>
                </a:solidFill>
                <a:effectLst/>
                <a:latin typeface="Arial" panose="020B0604020202020204" pitchFamily="34" charset="0"/>
              </a:rPr>
              <a:t>: Presentation Layer, API Layer,</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 Service Layer, ERP Adapter Layer, and Database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The </a:t>
            </a:r>
            <a:r>
              <a:rPr kumimoji="0" lang="en-US" altLang="en-US" sz="2600" b="1" i="0" u="none" strike="noStrike" cap="none" normalizeH="0" baseline="0" dirty="0">
                <a:ln>
                  <a:noFill/>
                </a:ln>
                <a:solidFill>
                  <a:schemeClr val="tx1"/>
                </a:solidFill>
                <a:effectLst/>
                <a:latin typeface="Arial" panose="020B0604020202020204" pitchFamily="34" charset="0"/>
              </a:rPr>
              <a:t>ERP Adapter</a:t>
            </a:r>
            <a:r>
              <a:rPr kumimoji="0" lang="en-US" altLang="en-US" sz="2600" b="0" i="0" u="none" strike="noStrike" cap="none" normalizeH="0" baseline="0" dirty="0">
                <a:ln>
                  <a:noFill/>
                </a:ln>
                <a:solidFill>
                  <a:schemeClr val="tx1"/>
                </a:solidFill>
                <a:effectLst/>
                <a:latin typeface="Arial" panose="020B0604020202020204" pitchFamily="34" charset="0"/>
              </a:rPr>
              <a:t> connects to multiple ERP systems, fetches data, </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and converts it into a standardized format.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A </a:t>
            </a:r>
            <a:r>
              <a:rPr kumimoji="0" lang="en-US" altLang="en-US" sz="2600" b="1" i="0" u="none" strike="noStrike" cap="none" normalizeH="0" baseline="0" dirty="0">
                <a:ln>
                  <a:noFill/>
                </a:ln>
                <a:solidFill>
                  <a:schemeClr val="tx1"/>
                </a:solidFill>
                <a:effectLst/>
                <a:latin typeface="Arial" panose="020B0604020202020204" pitchFamily="34" charset="0"/>
              </a:rPr>
              <a:t>Switching Mechanism</a:t>
            </a:r>
            <a:r>
              <a:rPr kumimoji="0" lang="en-US" altLang="en-US" sz="2600" b="0" i="0" u="none" strike="noStrike" cap="none" normalizeH="0" baseline="0" dirty="0">
                <a:ln>
                  <a:noFill/>
                </a:ln>
                <a:solidFill>
                  <a:schemeClr val="tx1"/>
                </a:solidFill>
                <a:effectLst/>
                <a:latin typeface="Arial" panose="020B0604020202020204" pitchFamily="34" charset="0"/>
              </a:rPr>
              <a:t> selects the appropriate ERP based on </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client configuration.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Processed data is stored securely and displayed through the</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 frontend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Security is ensured using authentication, role-based access, </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and encrypted API communication.</a:t>
            </a:r>
          </a:p>
        </p:txBody>
      </p:sp>
    </p:spTree>
    <p:extLst>
      <p:ext uri="{BB962C8B-B14F-4D97-AF65-F5344CB8AC3E}">
        <p14:creationId xmlns:p14="http://schemas.microsoft.com/office/powerpoint/2010/main" val="3365432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241"/>
          </a:xfrm>
        </p:spPr>
        <p:txBody>
          <a:bodyPr/>
          <a:lstStyle/>
          <a:p>
            <a:pPr marL="152400" algn="just">
              <a:lnSpc>
                <a:spcPct val="100000"/>
              </a:lnSpc>
              <a:spcBef>
                <a:spcPts val="0"/>
              </a:spcBef>
            </a:pPr>
            <a:r>
              <a:rPr lang="en-IN" sz="3200" b="1" dirty="0">
                <a:solidFill>
                  <a:schemeClr val="accent1">
                    <a:lumMod val="75000"/>
                  </a:schemeClr>
                </a:solidFill>
                <a:latin typeface="Times New Roman" panose="02020603050405020304" pitchFamily="18" charset="0"/>
                <a:cs typeface="Times New Roman" panose="02020603050405020304" pitchFamily="18" charset="0"/>
              </a:rPr>
              <a:t>System Implementation (At least 50%)</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14</a:t>
            </a:fld>
            <a:endParaRPr lang="en-US" altLang="en-US"/>
          </a:p>
        </p:txBody>
      </p:sp>
      <p:sp>
        <p:nvSpPr>
          <p:cNvPr id="5" name="Rectangle 1">
            <a:extLst>
              <a:ext uri="{FF2B5EF4-FFF2-40B4-BE49-F238E27FC236}">
                <a16:creationId xmlns:a16="http://schemas.microsoft.com/office/drawing/2014/main" id="{3112143B-E374-3089-FC9F-70A20F07C504}"/>
              </a:ext>
            </a:extLst>
          </p:cNvPr>
          <p:cNvSpPr>
            <a:spLocks noGrp="1" noChangeArrowheads="1"/>
          </p:cNvSpPr>
          <p:nvPr>
            <p:ph idx="1"/>
          </p:nvPr>
        </p:nvSpPr>
        <p:spPr bwMode="auto">
          <a:xfrm>
            <a:off x="783071" y="1382286"/>
            <a:ext cx="10625858"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Set up and configured </a:t>
            </a:r>
            <a:r>
              <a:rPr kumimoji="0" lang="en-US" altLang="en-US" sz="2600" b="1" i="0" u="none" strike="noStrike" cap="none" normalizeH="0" baseline="0" dirty="0">
                <a:ln>
                  <a:noFill/>
                </a:ln>
                <a:solidFill>
                  <a:schemeClr val="tx1"/>
                </a:solidFill>
                <a:effectLst/>
                <a:latin typeface="Arial" panose="020B0604020202020204" pitchFamily="34" charset="0"/>
              </a:rPr>
              <a:t>Frappe</a:t>
            </a:r>
            <a:r>
              <a:rPr kumimoji="0" lang="en-US" altLang="en-US" sz="2600" b="0" i="0" u="none" strike="noStrike" cap="none" normalizeH="0" baseline="0" dirty="0">
                <a:ln>
                  <a:noFill/>
                </a:ln>
                <a:solidFill>
                  <a:schemeClr val="tx1"/>
                </a:solidFill>
                <a:effectLst/>
                <a:latin typeface="Arial" panose="020B0604020202020204" pitchFamily="34" charset="0"/>
              </a:rPr>
              <a:t> environment using Docker.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Created and tested REST APIs for data access and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Studied and analyzed existing internal APIs provided by the company </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for ERP communication.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Implemented integration logic to connect with ERP systems using </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the provided APIs.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Integrated </a:t>
            </a:r>
            <a:r>
              <a:rPr kumimoji="0" lang="en-US" altLang="en-US" sz="2600" b="1" i="0" u="none" strike="noStrike" cap="none" normalizeH="0" baseline="0" dirty="0" err="1">
                <a:ln>
                  <a:noFill/>
                </a:ln>
                <a:solidFill>
                  <a:schemeClr val="tx1"/>
                </a:solidFill>
                <a:effectLst/>
                <a:latin typeface="Arial" panose="020B0604020202020204" pitchFamily="34" charset="0"/>
              </a:rPr>
              <a:t>GraphQL</a:t>
            </a:r>
            <a:r>
              <a:rPr kumimoji="0" lang="en-US" altLang="en-US" sz="2600" b="0" i="0" u="none" strike="noStrike" cap="none" normalizeH="0" baseline="0" dirty="0">
                <a:ln>
                  <a:noFill/>
                </a:ln>
                <a:solidFill>
                  <a:schemeClr val="tx1"/>
                </a:solidFill>
                <a:effectLst/>
                <a:latin typeface="Arial" panose="020B0604020202020204" pitchFamily="34" charset="0"/>
              </a:rPr>
              <a:t> to fetch and query structured data dynamically </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from ERP platforms.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b="0" i="0" u="none" strike="noStrike" cap="none" normalizeH="0" baseline="0" dirty="0">
                <a:ln>
                  <a:noFill/>
                </a:ln>
                <a:solidFill>
                  <a:schemeClr val="tx1"/>
                </a:solidFill>
                <a:effectLst/>
                <a:latin typeface="Arial" panose="020B0604020202020204" pitchFamily="34" charset="0"/>
              </a:rPr>
              <a:t>Successfully retrieved and validated ERP data flow from Frappe </a:t>
            </a:r>
          </a:p>
          <a:p>
            <a:pPr marL="0" marR="0" lvl="0" indent="0" algn="l" defTabSz="914400" rtl="0" eaLnBrk="0" fontAlgn="base" latinLnBrk="0" hangingPunct="0">
              <a:lnSpc>
                <a:spcPct val="100000"/>
              </a:lnSpc>
              <a:spcBef>
                <a:spcPct val="0"/>
              </a:spcBef>
              <a:spcAft>
                <a:spcPct val="0"/>
              </a:spcAft>
              <a:buClrTx/>
              <a:buSzTx/>
              <a:buNone/>
              <a:tabLst/>
            </a:pPr>
            <a:r>
              <a:rPr lang="en-US" altLang="en-US" sz="2600" dirty="0">
                <a:latin typeface="Arial" panose="020B0604020202020204" pitchFamily="34" charset="0"/>
              </a:rPr>
              <a:t>   </a:t>
            </a:r>
            <a:r>
              <a:rPr kumimoji="0" lang="en-US" altLang="en-US" sz="2600" b="0" i="0" u="none" strike="noStrike" cap="none" normalizeH="0" baseline="0" dirty="0">
                <a:ln>
                  <a:noFill/>
                </a:ln>
                <a:solidFill>
                  <a:schemeClr val="tx1"/>
                </a:solidFill>
                <a:effectLst/>
                <a:latin typeface="Arial" panose="020B0604020202020204" pitchFamily="34" charset="0"/>
              </a:rPr>
              <a:t>into the application database.</a:t>
            </a:r>
          </a:p>
        </p:txBody>
      </p:sp>
    </p:spTree>
    <p:extLst>
      <p:ext uri="{BB962C8B-B14F-4D97-AF65-F5344CB8AC3E}">
        <p14:creationId xmlns:p14="http://schemas.microsoft.com/office/powerpoint/2010/main" val="2202617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Internship Road Map</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15</a:t>
            </a:fld>
            <a:endParaRPr lang="en-US" altLang="en-US"/>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2528571765"/>
              </p:ext>
            </p:extLst>
          </p:nvPr>
        </p:nvGraphicFramePr>
        <p:xfrm>
          <a:off x="838200" y="1210491"/>
          <a:ext cx="10515600" cy="40581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p:cNvSpPr txBox="1"/>
          <p:nvPr/>
        </p:nvSpPr>
        <p:spPr>
          <a:xfrm>
            <a:off x="470371" y="901298"/>
            <a:ext cx="6948890" cy="369332"/>
          </a:xfrm>
          <a:prstGeom prst="rect">
            <a:avLst/>
          </a:prstGeom>
          <a:noFill/>
        </p:spPr>
        <p:txBody>
          <a:bodyPr wrap="none" rtlCol="0">
            <a:spAutoFit/>
          </a:bodyPr>
          <a:lstStyle/>
          <a:p>
            <a:r>
              <a:rPr lang="en-GB" dirty="0">
                <a:solidFill>
                  <a:srgbClr val="0070C0"/>
                </a:solidFill>
              </a:rPr>
              <a:t>Note: Write in the below table what u will be achieving in each review</a:t>
            </a:r>
          </a:p>
        </p:txBody>
      </p:sp>
    </p:spTree>
    <p:extLst>
      <p:ext uri="{BB962C8B-B14F-4D97-AF65-F5344CB8AC3E}">
        <p14:creationId xmlns:p14="http://schemas.microsoft.com/office/powerpoint/2010/main" val="3497100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rgbClr val="0070C0"/>
                </a:solidFill>
                <a:latin typeface="Times New Roman" panose="02020603050405020304" pitchFamily="18" charset="0"/>
                <a:cs typeface="Times New Roman" panose="02020603050405020304" pitchFamily="18" charset="0"/>
              </a:rPr>
              <a:t>Github Link</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16</a:t>
            </a:fld>
            <a:endParaRPr lang="en-US" altLang="en-US"/>
          </a:p>
        </p:txBody>
      </p:sp>
      <p:sp>
        <p:nvSpPr>
          <p:cNvPr id="3" name="Content Placeholder 2"/>
          <p:cNvSpPr>
            <a:spLocks noGrp="1"/>
          </p:cNvSpPr>
          <p:nvPr>
            <p:ph idx="1"/>
          </p:nvPr>
        </p:nvSpPr>
        <p:spPr>
          <a:xfrm>
            <a:off x="446308" y="1061297"/>
            <a:ext cx="10515600" cy="4351338"/>
          </a:xfrm>
        </p:spPr>
        <p:txBody>
          <a:bodyPr/>
          <a:lstStyle/>
          <a:p>
            <a:endParaRPr lang="en-US" dirty="0"/>
          </a:p>
        </p:txBody>
      </p:sp>
    </p:spTree>
    <p:extLst>
      <p:ext uri="{BB962C8B-B14F-4D97-AF65-F5344CB8AC3E}">
        <p14:creationId xmlns:p14="http://schemas.microsoft.com/office/powerpoint/2010/main" val="295621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a:solidFill>
            <a:schemeClr val="accent1">
              <a:lumMod val="50000"/>
            </a:schemeClr>
          </a:solidFill>
        </p:spPr>
        <p:txBody>
          <a:bodyPr/>
          <a:lstStyle/>
          <a:p>
            <a:pPr marL="0" indent="0" algn="ctr">
              <a:buNone/>
            </a:pPr>
            <a:endParaRPr lang="en-US" sz="6600" dirty="0">
              <a:solidFill>
                <a:srgbClr val="FFFF00"/>
              </a:solidFill>
              <a:latin typeface="Times New Roman" panose="02020603050405020304" pitchFamily="18" charset="0"/>
              <a:cs typeface="Times New Roman" panose="02020603050405020304" pitchFamily="18" charset="0"/>
            </a:endParaRPr>
          </a:p>
          <a:p>
            <a:pPr marL="0" indent="0" algn="ctr">
              <a:buNone/>
            </a:pPr>
            <a:r>
              <a:rPr lang="en-US" sz="6600" dirty="0">
                <a:solidFill>
                  <a:srgbClr val="FFFF00"/>
                </a:solidFill>
                <a:latin typeface="Times New Roman" panose="02020603050405020304" pitchFamily="18" charset="0"/>
                <a:cs typeface="Times New Roman" panose="02020603050405020304" pitchFamily="18" charset="0"/>
              </a:rPr>
              <a:t>  </a:t>
            </a:r>
            <a:r>
              <a:rPr lang="en-US" sz="6600" dirty="0">
                <a:solidFill>
                  <a:schemeClr val="accent2">
                    <a:lumMod val="40000"/>
                    <a:lumOff val="60000"/>
                  </a:schemeClr>
                </a:solidFill>
                <a:latin typeface="Times New Roman" panose="02020603050405020304" pitchFamily="18" charset="0"/>
                <a:cs typeface="Times New Roman" panose="02020603050405020304" pitchFamily="18" charset="0"/>
              </a:rPr>
              <a:t>Q&amp;A</a:t>
            </a:r>
          </a:p>
          <a:p>
            <a:pPr marL="0" indent="0" algn="ctr">
              <a:buNone/>
            </a:pP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latin typeface="Times New Roman" panose="02020603050405020304" pitchFamily="18" charset="0"/>
                <a:cs typeface="Times New Roman" panose="02020603050405020304" pitchFamily="18" charset="0"/>
              </a:rPr>
              <a:pPr>
                <a:defRPr/>
              </a:pPr>
              <a:t>17</a:t>
            </a:fld>
            <a:endParaRPr lang="en-US" altLang="en-US">
              <a:latin typeface="Times New Roman" panose="02020603050405020304" pitchFamily="18" charset="0"/>
              <a:cs typeface="Times New Roman" panose="02020603050405020304" pitchFamily="18" charset="0"/>
            </a:endParaRPr>
          </a:p>
        </p:txBody>
      </p:sp>
      <p:pic>
        <p:nvPicPr>
          <p:cNvPr id="5" name="Picture 7" descr="bd04924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253" y="2150340"/>
            <a:ext cx="2841170" cy="3832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546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pPr>
                <a:defRPr/>
              </a:pPr>
              <a:t>18</a:t>
            </a:fld>
            <a:endParaRPr lang="en-US" altLang="en-US"/>
          </a:p>
        </p:txBody>
      </p:sp>
    </p:spTree>
    <p:extLst>
      <p:ext uri="{BB962C8B-B14F-4D97-AF65-F5344CB8AC3E}">
        <p14:creationId xmlns:p14="http://schemas.microsoft.com/office/powerpoint/2010/main" val="696605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7151</TotalTime>
  <Words>1351</Words>
  <Application>Microsoft Office PowerPoint</Application>
  <PresentationFormat>Widescreen</PresentationFormat>
  <Paragraphs>156</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vt:lpstr>
      <vt:lpstr>Times New Roman</vt:lpstr>
      <vt:lpstr>Verdana</vt:lpstr>
      <vt:lpstr>Wingdings</vt:lpstr>
      <vt:lpstr>Office Theme</vt:lpstr>
      <vt:lpstr>PowerPoint Presentation</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(At least 50%)</vt:lpstr>
      <vt:lpstr>Internship Road Map</vt:lpstr>
      <vt:lpstr>Github Link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ann olivia</cp:lastModifiedBy>
  <cp:revision>724</cp:revision>
  <dcterms:created xsi:type="dcterms:W3CDTF">2022-10-14T07:18:17Z</dcterms:created>
  <dcterms:modified xsi:type="dcterms:W3CDTF">2026-04-26T11:18:20Z</dcterms:modified>
</cp:coreProperties>
</file>