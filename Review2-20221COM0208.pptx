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270" r:id="rId3"/>
    <p:sldId id="261" r:id="rId4"/>
    <p:sldId id="262" r:id="rId5"/>
    <p:sldId id="263" r:id="rId6"/>
    <p:sldId id="264" r:id="rId7"/>
    <p:sldId id="265" r:id="rId8"/>
    <p:sldId id="271" r:id="rId9"/>
    <p:sldId id="272" r:id="rId10"/>
    <p:sldId id="273" r:id="rId11"/>
    <p:sldId id="274" r:id="rId12"/>
    <p:sldId id="27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96" d="100"/>
          <a:sy n="96" d="100"/>
        </p:scale>
        <p:origin x="28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pPr>
            <a:buNone/>
          </a:pPr>
          <a:r>
            <a:rPr lang="en-US" dirty="0"/>
            <a:t>1. Understanding the organization and internship workflow</a:t>
          </a:r>
          <a:endParaRPr lang="en-US"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buNone/>
          </a:pPr>
          <a:r>
            <a:rPr lang="en-US" dirty="0"/>
            <a:t>1. Working on small tasks using Python and Django</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pPr>
            <a:buNone/>
          </a:pPr>
          <a:r>
            <a:rPr lang="en-US" dirty="0"/>
            <a:t>1. Contributing to module-level development</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590345EF-2C7B-468C-8A53-873AE9560AAA}">
      <dgm:prSet/>
      <dgm:spPr/>
      <dgm:t>
        <a:bodyPr/>
        <a:lstStyle/>
        <a:p>
          <a:r>
            <a:rPr lang="en-US"/>
            <a:t>2. Training on Python fundamentals and Django basics</a:t>
          </a:r>
          <a:endParaRPr lang="en-US" dirty="0">
            <a:latin typeface="Times New Roman" panose="02020603050405020304" pitchFamily="18" charset="0"/>
            <a:cs typeface="Times New Roman" panose="02020603050405020304" pitchFamily="18" charset="0"/>
          </a:endParaRPr>
        </a:p>
      </dgm:t>
    </dgm:pt>
    <dgm:pt modelId="{BE08EB35-DDA4-4118-9C3E-40DFEB652CE6}" type="parTrans" cxnId="{C7039981-368B-4310-878D-7B3AF3558070}">
      <dgm:prSet/>
      <dgm:spPr/>
      <dgm:t>
        <a:bodyPr/>
        <a:lstStyle/>
        <a:p>
          <a:endParaRPr lang="en-US"/>
        </a:p>
      </dgm:t>
    </dgm:pt>
    <dgm:pt modelId="{61EE637A-94D6-46E1-834A-06C64F500504}" type="sibTrans" cxnId="{C7039981-368B-4310-878D-7B3AF3558070}">
      <dgm:prSet/>
      <dgm:spPr/>
      <dgm:t>
        <a:bodyPr/>
        <a:lstStyle/>
        <a:p>
          <a:endParaRPr lang="en-US"/>
        </a:p>
      </dgm:t>
    </dgm:pt>
    <dgm:pt modelId="{F4DF7D2D-F00D-4624-8DAE-686909A5F5B6}">
      <dgm:prSet/>
      <dgm:spPr/>
      <dgm:t>
        <a:bodyPr/>
        <a:lstStyle/>
        <a:p>
          <a:r>
            <a:rPr lang="en-US"/>
            <a:t>3. Setting up the development environment</a:t>
          </a:r>
          <a:endParaRPr lang="en-US" dirty="0"/>
        </a:p>
      </dgm:t>
    </dgm:pt>
    <dgm:pt modelId="{9BBDF839-C86D-4BB5-B51D-6BC28F8D0CE0}" type="parTrans" cxnId="{26FF741E-8D9D-421F-937E-C14FDB2B5235}">
      <dgm:prSet/>
      <dgm:spPr/>
      <dgm:t>
        <a:bodyPr/>
        <a:lstStyle/>
        <a:p>
          <a:endParaRPr lang="en-US"/>
        </a:p>
      </dgm:t>
    </dgm:pt>
    <dgm:pt modelId="{B608A55D-3FCD-4FC7-BB98-0E9C2258AC67}" type="sibTrans" cxnId="{26FF741E-8D9D-421F-937E-C14FDB2B5235}">
      <dgm:prSet/>
      <dgm:spPr/>
      <dgm:t>
        <a:bodyPr/>
        <a:lstStyle/>
        <a:p>
          <a:endParaRPr lang="en-US"/>
        </a:p>
      </dgm:t>
    </dgm:pt>
    <dgm:pt modelId="{45FE41B1-3957-4022-98ED-D01111315C70}">
      <dgm:prSet/>
      <dgm:spPr/>
      <dgm:t>
        <a:bodyPr/>
        <a:lstStyle/>
        <a:p>
          <a:r>
            <a:rPr lang="en-US" dirty="0"/>
            <a:t>4. Learning basic backend concepts </a:t>
          </a:r>
        </a:p>
      </dgm:t>
    </dgm:pt>
    <dgm:pt modelId="{E0DE2E2D-8C4B-47C8-B957-A4F201946A24}" type="parTrans" cxnId="{63332610-D546-4264-BAD4-2B87A9DC03FE}">
      <dgm:prSet/>
      <dgm:spPr/>
      <dgm:t>
        <a:bodyPr/>
        <a:lstStyle/>
        <a:p>
          <a:endParaRPr lang="en-US"/>
        </a:p>
      </dgm:t>
    </dgm:pt>
    <dgm:pt modelId="{F95C8EEB-8B21-4DAD-AF95-38158530162E}" type="sibTrans" cxnId="{63332610-D546-4264-BAD4-2B87A9DC03FE}">
      <dgm:prSet/>
      <dgm:spPr/>
      <dgm:t>
        <a:bodyPr/>
        <a:lstStyle/>
        <a:p>
          <a:endParaRPr lang="en-US"/>
        </a:p>
      </dgm:t>
    </dgm:pt>
    <dgm:pt modelId="{C761B021-4D6C-4770-976E-616B751C2CC2}">
      <dgm:prSet/>
      <dgm:spPr/>
      <dgm:t>
        <a:bodyPr/>
        <a:lstStyle/>
        <a:p>
          <a:r>
            <a:rPr lang="en-US"/>
            <a:t>2. Implementing basic CRUD operations</a:t>
          </a:r>
          <a:endParaRPr lang="en-US" dirty="0"/>
        </a:p>
      </dgm:t>
    </dgm:pt>
    <dgm:pt modelId="{16219241-EF6B-4024-B06F-A0C815C7CAF3}" type="parTrans" cxnId="{65875EEC-5DF6-4CB8-A1C1-88BA5BAB971E}">
      <dgm:prSet/>
      <dgm:spPr/>
      <dgm:t>
        <a:bodyPr/>
        <a:lstStyle/>
        <a:p>
          <a:endParaRPr lang="en-US"/>
        </a:p>
      </dgm:t>
    </dgm:pt>
    <dgm:pt modelId="{6E3F5F0A-C02E-42D0-807B-827AA3334D32}" type="sibTrans" cxnId="{65875EEC-5DF6-4CB8-A1C1-88BA5BAB971E}">
      <dgm:prSet/>
      <dgm:spPr/>
      <dgm:t>
        <a:bodyPr/>
        <a:lstStyle/>
        <a:p>
          <a:endParaRPr lang="en-US"/>
        </a:p>
      </dgm:t>
    </dgm:pt>
    <dgm:pt modelId="{F14DC806-C499-404D-A65F-8FF25A89FA0E}">
      <dgm:prSet/>
      <dgm:spPr/>
      <dgm:t>
        <a:bodyPr/>
        <a:lstStyle/>
        <a:p>
          <a:r>
            <a:rPr lang="en-US"/>
            <a:t>3. Understanding Django project structure and apps</a:t>
          </a:r>
          <a:endParaRPr lang="en-US" dirty="0"/>
        </a:p>
      </dgm:t>
    </dgm:pt>
    <dgm:pt modelId="{903E682D-08C1-4CD8-BDCC-4575494CAF1B}" type="parTrans" cxnId="{D26EE08E-CFA8-4F8F-90CF-F7175BBB15B4}">
      <dgm:prSet/>
      <dgm:spPr/>
      <dgm:t>
        <a:bodyPr/>
        <a:lstStyle/>
        <a:p>
          <a:endParaRPr lang="en-US"/>
        </a:p>
      </dgm:t>
    </dgm:pt>
    <dgm:pt modelId="{B9CDF3F5-93BC-4477-967E-D8F2CF465DA7}" type="sibTrans" cxnId="{D26EE08E-CFA8-4F8F-90CF-F7175BBB15B4}">
      <dgm:prSet/>
      <dgm:spPr/>
      <dgm:t>
        <a:bodyPr/>
        <a:lstStyle/>
        <a:p>
          <a:endParaRPr lang="en-US"/>
        </a:p>
      </dgm:t>
    </dgm:pt>
    <dgm:pt modelId="{79E0177B-20E9-4B67-BB62-8601EF4FE2AC}">
      <dgm:prSet/>
      <dgm:spPr/>
      <dgm:t>
        <a:bodyPr/>
        <a:lstStyle/>
        <a:p>
          <a:r>
            <a:rPr lang="en-US" dirty="0"/>
            <a:t>4. Improving debugging and coding practices</a:t>
          </a:r>
        </a:p>
      </dgm:t>
    </dgm:pt>
    <dgm:pt modelId="{1B68DB66-2CC8-4F27-A006-B40E3E951791}" type="parTrans" cxnId="{19A44616-B68F-4A68-A3DA-AFD226F4CC77}">
      <dgm:prSet/>
      <dgm:spPr/>
      <dgm:t>
        <a:bodyPr/>
        <a:lstStyle/>
        <a:p>
          <a:endParaRPr lang="en-US"/>
        </a:p>
      </dgm:t>
    </dgm:pt>
    <dgm:pt modelId="{BA4D7742-D782-429C-8D70-9A2D37088DAE}" type="sibTrans" cxnId="{19A44616-B68F-4A68-A3DA-AFD226F4CC77}">
      <dgm:prSet/>
      <dgm:spPr/>
      <dgm:t>
        <a:bodyPr/>
        <a:lstStyle/>
        <a:p>
          <a:endParaRPr lang="en-US"/>
        </a:p>
      </dgm:t>
    </dgm:pt>
    <dgm:pt modelId="{4EEA18DD-7BC6-48C6-B40D-6E96066C90A3}">
      <dgm:prSet/>
      <dgm:spPr/>
      <dgm:t>
        <a:bodyPr/>
        <a:lstStyle/>
        <a:p>
          <a:r>
            <a:rPr lang="en-US"/>
            <a:t>2. Working on mini projects or assigned features</a:t>
          </a:r>
          <a:endParaRPr lang="en-US" dirty="0"/>
        </a:p>
      </dgm:t>
    </dgm:pt>
    <dgm:pt modelId="{E0362C51-E717-47F2-B0BC-CEF8AB13788F}" type="parTrans" cxnId="{7FD30888-8B53-4797-A6B5-DC49BE01A269}">
      <dgm:prSet/>
      <dgm:spPr/>
      <dgm:t>
        <a:bodyPr/>
        <a:lstStyle/>
        <a:p>
          <a:endParaRPr lang="en-US"/>
        </a:p>
      </dgm:t>
    </dgm:pt>
    <dgm:pt modelId="{D97238E6-E427-4030-938F-71F9F0E6E9D4}" type="sibTrans" cxnId="{7FD30888-8B53-4797-A6B5-DC49BE01A269}">
      <dgm:prSet/>
      <dgm:spPr/>
      <dgm:t>
        <a:bodyPr/>
        <a:lstStyle/>
        <a:p>
          <a:endParaRPr lang="en-US"/>
        </a:p>
      </dgm:t>
    </dgm:pt>
    <dgm:pt modelId="{D6F0B650-8C12-4091-A23D-DA094196DC62}">
      <dgm:prSet/>
      <dgm:spPr/>
      <dgm:t>
        <a:bodyPr/>
        <a:lstStyle/>
        <a:p>
          <a:r>
            <a:rPr lang="en-US"/>
            <a:t>3. Understanding database integration and APIs</a:t>
          </a:r>
          <a:endParaRPr lang="en-US" dirty="0"/>
        </a:p>
      </dgm:t>
    </dgm:pt>
    <dgm:pt modelId="{13FD0A68-253E-49BD-9FA8-B2D1B8D0A761}" type="parTrans" cxnId="{F71523CA-61CD-476A-BA8C-071A0324C2B7}">
      <dgm:prSet/>
      <dgm:spPr/>
      <dgm:t>
        <a:bodyPr/>
        <a:lstStyle/>
        <a:p>
          <a:endParaRPr lang="en-US"/>
        </a:p>
      </dgm:t>
    </dgm:pt>
    <dgm:pt modelId="{8285E79F-1609-4582-8E1E-59897C745B42}" type="sibTrans" cxnId="{F71523CA-61CD-476A-BA8C-071A0324C2B7}">
      <dgm:prSet/>
      <dgm:spPr/>
      <dgm:t>
        <a:bodyPr/>
        <a:lstStyle/>
        <a:p>
          <a:endParaRPr lang="en-US"/>
        </a:p>
      </dgm:t>
    </dgm:pt>
    <dgm:pt modelId="{10534784-FDA1-42B3-B52D-9A1EEA6A3A86}">
      <dgm:prSet/>
      <dgm:spPr/>
      <dgm:t>
        <a:bodyPr/>
        <a:lstStyle/>
        <a:p>
          <a:r>
            <a:rPr lang="en-US" dirty="0"/>
            <a:t>4. Collaborating with the project team</a:t>
          </a:r>
        </a:p>
      </dgm:t>
    </dgm:pt>
    <dgm:pt modelId="{A3D48903-C7E9-4BE3-B5B5-7AC0CEDE9F2E}" type="parTrans" cxnId="{535244B5-410C-4762-B9A5-C4921DCCDEB1}">
      <dgm:prSet/>
      <dgm:spPr/>
      <dgm:t>
        <a:bodyPr/>
        <a:lstStyle/>
        <a:p>
          <a:endParaRPr lang="en-US"/>
        </a:p>
      </dgm:t>
    </dgm:pt>
    <dgm:pt modelId="{CA12F28D-D920-4DD2-8EFD-BD87AB615B91}" type="sibTrans" cxnId="{535244B5-410C-4762-B9A5-C4921DCCDEB1}">
      <dgm:prSet/>
      <dgm:spPr/>
      <dgm:t>
        <a:bodyPr/>
        <a:lstStyle/>
        <a:p>
          <a:endParaRPr lang="en-US"/>
        </a:p>
      </dgm:t>
    </dgm:pt>
    <dgm:pt modelId="{5BC99083-BFC0-4D18-83D2-4D92693766D9}">
      <dgm:prSet/>
      <dgm:spPr/>
      <dgm:t>
        <a:bodyPr/>
        <a:lstStyle/>
        <a:p>
          <a:pPr>
            <a:buNone/>
          </a:pPr>
          <a:r>
            <a:rPr lang="en-US"/>
            <a:t>1. Working on major project components</a:t>
          </a:r>
        </a:p>
      </dgm:t>
    </dgm:pt>
    <dgm:pt modelId="{BF4AFC24-A34E-4E75-B139-546EB1C670EF}" type="parTrans" cxnId="{96332216-3824-490B-9EDA-A408BBF77323}">
      <dgm:prSet/>
      <dgm:spPr/>
      <dgm:t>
        <a:bodyPr/>
        <a:lstStyle/>
        <a:p>
          <a:endParaRPr lang="en-US"/>
        </a:p>
      </dgm:t>
    </dgm:pt>
    <dgm:pt modelId="{1AFA0760-1CC5-46EF-9346-D89DFD1475CA}" type="sibTrans" cxnId="{96332216-3824-490B-9EDA-A408BBF77323}">
      <dgm:prSet/>
      <dgm:spPr/>
      <dgm:t>
        <a:bodyPr/>
        <a:lstStyle/>
        <a:p>
          <a:endParaRPr lang="en-US"/>
        </a:p>
      </dgm:t>
    </dgm:pt>
    <dgm:pt modelId="{0CB876FE-3B49-4877-A943-406FC0A66441}">
      <dgm:prSet/>
      <dgm:spPr/>
      <dgm:t>
        <a:bodyPr/>
        <a:lstStyle/>
        <a:p>
          <a:r>
            <a:rPr lang="en-US"/>
            <a:t>2. Implementing backend logic independently</a:t>
          </a:r>
          <a:endParaRPr lang="en-US" dirty="0"/>
        </a:p>
      </dgm:t>
    </dgm:pt>
    <dgm:pt modelId="{0820C232-50FE-4953-8483-5650C8D4EEA1}" type="parTrans" cxnId="{750F7132-C25B-4983-A3A0-2A05C4D74955}">
      <dgm:prSet/>
      <dgm:spPr/>
      <dgm:t>
        <a:bodyPr/>
        <a:lstStyle/>
        <a:p>
          <a:endParaRPr lang="en-US"/>
        </a:p>
      </dgm:t>
    </dgm:pt>
    <dgm:pt modelId="{ADB3B1BC-6972-410A-9142-9BB40A33BA05}" type="sibTrans" cxnId="{750F7132-C25B-4983-A3A0-2A05C4D74955}">
      <dgm:prSet/>
      <dgm:spPr/>
      <dgm:t>
        <a:bodyPr/>
        <a:lstStyle/>
        <a:p>
          <a:endParaRPr lang="en-US"/>
        </a:p>
      </dgm:t>
    </dgm:pt>
    <dgm:pt modelId="{740497F5-324F-41B6-BE8B-CB0D0498186E}">
      <dgm:prSet/>
      <dgm:spPr/>
      <dgm:t>
        <a:bodyPr/>
        <a:lstStyle/>
        <a:p>
          <a:r>
            <a:rPr lang="en-US"/>
            <a:t>3. Testing and optimizing the application</a:t>
          </a:r>
          <a:endParaRPr lang="en-US" dirty="0"/>
        </a:p>
      </dgm:t>
    </dgm:pt>
    <dgm:pt modelId="{80CF820F-0649-41F5-BC98-DC5F6EDF4E4A}" type="parTrans" cxnId="{BFB83DAA-21B6-466B-83CF-4070221514B2}">
      <dgm:prSet/>
      <dgm:spPr/>
      <dgm:t>
        <a:bodyPr/>
        <a:lstStyle/>
        <a:p>
          <a:endParaRPr lang="en-US"/>
        </a:p>
      </dgm:t>
    </dgm:pt>
    <dgm:pt modelId="{D9604B91-E831-4454-9AAF-3DD653745DAE}" type="sibTrans" cxnId="{BFB83DAA-21B6-466B-83CF-4070221514B2}">
      <dgm:prSet/>
      <dgm:spPr/>
      <dgm:t>
        <a:bodyPr/>
        <a:lstStyle/>
        <a:p>
          <a:endParaRPr lang="en-US"/>
        </a:p>
      </dgm:t>
    </dgm:pt>
    <dgm:pt modelId="{75CD97D2-61D1-482B-953B-DC99A1A68A16}">
      <dgm:prSet/>
      <dgm:spPr/>
      <dgm:t>
        <a:bodyPr/>
        <a:lstStyle/>
        <a:p>
          <a:r>
            <a:rPr lang="en-US"/>
            <a:t>4. Understanding real-time project workflows</a:t>
          </a:r>
          <a:endParaRPr lang="en-US" dirty="0"/>
        </a:p>
      </dgm:t>
    </dgm:pt>
    <dgm:pt modelId="{3BC7C41D-537E-47FA-BC06-6D7E5D466BB8}" type="parTrans" cxnId="{E01C9C62-4CAA-4C2D-8442-E4EEC4C7008B}">
      <dgm:prSet/>
      <dgm:spPr/>
      <dgm:t>
        <a:bodyPr/>
        <a:lstStyle/>
        <a:p>
          <a:endParaRPr lang="en-US"/>
        </a:p>
      </dgm:t>
    </dgm:pt>
    <dgm:pt modelId="{68B519C3-CF0E-4422-8DC7-3887F4C3E37D}" type="sibTrans" cxnId="{E01C9C62-4CAA-4C2D-8442-E4EEC4C7008B}">
      <dgm:prSet/>
      <dgm:spPr/>
      <dgm:t>
        <a:bodyPr/>
        <a:lstStyle/>
        <a:p>
          <a:endParaRPr lang="en-US"/>
        </a:p>
      </dgm:t>
    </dgm:pt>
    <dgm:pt modelId="{43D4A7E0-0C23-48F8-9727-85DD5A42CA5E}">
      <dgm:prSet/>
      <dgm:spPr/>
      <dgm:t>
        <a:bodyPr/>
        <a:lstStyle/>
        <a:p>
          <a:pPr>
            <a:buNone/>
          </a:pPr>
          <a:r>
            <a:rPr lang="en-US"/>
            <a:t>1. Completion of assigned project tasks</a:t>
          </a:r>
        </a:p>
      </dgm:t>
    </dgm:pt>
    <dgm:pt modelId="{B6A71700-BCE3-4DFC-ACEE-B0AEDB238DEA}" type="parTrans" cxnId="{D6ABBE82-A16B-4B78-B14C-C15C67396364}">
      <dgm:prSet/>
      <dgm:spPr/>
      <dgm:t>
        <a:bodyPr/>
        <a:lstStyle/>
        <a:p>
          <a:endParaRPr lang="en-US"/>
        </a:p>
      </dgm:t>
    </dgm:pt>
    <dgm:pt modelId="{C0031EBE-51F7-4648-BD6C-0E663F81F7BF}" type="sibTrans" cxnId="{D6ABBE82-A16B-4B78-B14C-C15C67396364}">
      <dgm:prSet/>
      <dgm:spPr/>
      <dgm:t>
        <a:bodyPr/>
        <a:lstStyle/>
        <a:p>
          <a:endParaRPr lang="en-US"/>
        </a:p>
      </dgm:t>
    </dgm:pt>
    <dgm:pt modelId="{4FAD86C1-72B2-48C6-92DD-63BBC0BC64EA}">
      <dgm:prSet/>
      <dgm:spPr/>
      <dgm:t>
        <a:bodyPr/>
        <a:lstStyle/>
        <a:p>
          <a:r>
            <a:rPr lang="en-US"/>
            <a:t>2. Demonstration of technical skills gained</a:t>
          </a:r>
          <a:endParaRPr lang="en-US" dirty="0"/>
        </a:p>
      </dgm:t>
    </dgm:pt>
    <dgm:pt modelId="{BAE8A888-83DE-4E7B-8EB4-F883799188B3}" type="parTrans" cxnId="{D6D55986-97D4-4821-84FD-22F7AEFD4A21}">
      <dgm:prSet/>
      <dgm:spPr/>
      <dgm:t>
        <a:bodyPr/>
        <a:lstStyle/>
        <a:p>
          <a:endParaRPr lang="en-US"/>
        </a:p>
      </dgm:t>
    </dgm:pt>
    <dgm:pt modelId="{EB467469-6BF6-4737-85AF-1EFBA44A93F9}" type="sibTrans" cxnId="{D6D55986-97D4-4821-84FD-22F7AEFD4A21}">
      <dgm:prSet/>
      <dgm:spPr/>
      <dgm:t>
        <a:bodyPr/>
        <a:lstStyle/>
        <a:p>
          <a:endParaRPr lang="en-US"/>
        </a:p>
      </dgm:t>
    </dgm:pt>
    <dgm:pt modelId="{DA7B2302-3BF3-459E-9686-85C0DACB92DF}">
      <dgm:prSet/>
      <dgm:spPr/>
      <dgm:t>
        <a:bodyPr/>
        <a:lstStyle/>
        <a:p>
          <a:r>
            <a:rPr lang="en-US"/>
            <a:t>3. Documentation and project explanation</a:t>
          </a:r>
          <a:endParaRPr lang="en-US" dirty="0"/>
        </a:p>
      </dgm:t>
    </dgm:pt>
    <dgm:pt modelId="{10756C09-5B55-40A4-90B5-337C165FDA62}" type="parTrans" cxnId="{E772B4C9-67A8-415D-9C9A-81C599A71C56}">
      <dgm:prSet/>
      <dgm:spPr/>
      <dgm:t>
        <a:bodyPr/>
        <a:lstStyle/>
        <a:p>
          <a:endParaRPr lang="en-US"/>
        </a:p>
      </dgm:t>
    </dgm:pt>
    <dgm:pt modelId="{C69B6DB0-0B26-4425-9C10-F2F554E11442}" type="sibTrans" cxnId="{E772B4C9-67A8-415D-9C9A-81C599A71C56}">
      <dgm:prSet/>
      <dgm:spPr/>
      <dgm:t>
        <a:bodyPr/>
        <a:lstStyle/>
        <a:p>
          <a:endParaRPr lang="en-US"/>
        </a:p>
      </dgm:t>
    </dgm:pt>
    <dgm:pt modelId="{BBB41882-C8D1-4855-81DA-DB6882FE4440}">
      <dgm:prSet/>
      <dgm:spPr/>
      <dgm:t>
        <a:bodyPr/>
        <a:lstStyle/>
        <a:p>
          <a:r>
            <a:rPr lang="en-US"/>
            <a:t>4. Overall learning outcomes and internship experience</a:t>
          </a:r>
          <a:endParaRPr lang="en-US" dirty="0"/>
        </a:p>
      </dgm:t>
    </dgm:pt>
    <dgm:pt modelId="{30B30D3E-2021-40BA-977C-4B1F079A4F0B}" type="parTrans" cxnId="{2F3F3681-95E3-4BBF-B1F7-BA4919045A3B}">
      <dgm:prSet/>
      <dgm:spPr/>
      <dgm:t>
        <a:bodyPr/>
        <a:lstStyle/>
        <a:p>
          <a:endParaRPr lang="en-US"/>
        </a:p>
      </dgm:t>
    </dgm:pt>
    <dgm:pt modelId="{67510E9C-0066-48B9-8AFF-DC569BCD32AA}" type="sibTrans" cxnId="{2F3F3681-95E3-4BBF-B1F7-BA4919045A3B}">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1799B305-33C4-4CB7-BE8D-FD147309C1FB}" type="presOf" srcId="{C761B021-4D6C-4770-976E-616B751C2CC2}" destId="{6BCCFBA6-7A43-4631-AD7F-AFB10E1E6CD7}" srcOrd="1" destOrd="1"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CD7F3A0C-9CBD-4437-9422-B1EA9C96A024}" type="presOf" srcId="{43D4A7E0-0C23-48F8-9727-85DD5A42CA5E}" destId="{8CAE5A4D-0C7B-48A6-917B-0B8433D0574B}" srcOrd="0" destOrd="0" presId="urn:microsoft.com/office/officeart/2011/layout/InterconnectedBlockProcess"/>
    <dgm:cxn modelId="{63332610-D546-4264-BAD4-2B87A9DC03FE}" srcId="{988D96B0-D16E-4763-B393-84178CF4FF50}" destId="{45FE41B1-3957-4022-98ED-D01111315C70}" srcOrd="3" destOrd="0" parTransId="{E0DE2E2D-8C4B-47C8-B957-A4F201946A24}" sibTransId="{F95C8EEB-8B21-4DAD-AF95-38158530162E}"/>
    <dgm:cxn modelId="{556B3710-0E6A-4130-97C1-F5A895D3EF20}" type="presOf" srcId="{590345EF-2C7B-468C-8A53-873AE9560AAA}" destId="{A134CDD1-D85F-44EF-8BEE-9F99A855C1E6}" srcOrd="0" destOrd="1"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96332216-3824-490B-9EDA-A408BBF77323}" srcId="{5E92505A-51E0-4F78-B3C5-704ACF8710DE}" destId="{5BC99083-BFC0-4D18-83D2-4D92693766D9}" srcOrd="0" destOrd="0" parTransId="{BF4AFC24-A34E-4E75-B139-546EB1C670EF}" sibTransId="{1AFA0760-1CC5-46EF-9346-D89DFD1475CA}"/>
    <dgm:cxn modelId="{A6532C16-AFEE-4EEA-891E-F5DAB7412E13}" type="presOf" srcId="{73DB572E-062D-41AD-8033-D361B8E583DB}" destId="{2532504F-5FE1-4C97-B485-F05E8885EACC}" srcOrd="0" destOrd="0" presId="urn:microsoft.com/office/officeart/2011/layout/InterconnectedBlockProcess"/>
    <dgm:cxn modelId="{19A44616-B68F-4A68-A3DA-AFD226F4CC77}" srcId="{7B3055AA-BF7C-46D0-9A9E-60087B9F57B4}" destId="{79E0177B-20E9-4B67-BB62-8601EF4FE2AC}" srcOrd="3" destOrd="0" parTransId="{1B68DB66-2CC8-4F27-A006-B40E3E951791}" sibTransId="{BA4D7742-D782-429C-8D70-9A2D37088DAE}"/>
    <dgm:cxn modelId="{9892F91A-790C-4B1B-8840-4135344414C7}" type="presOf" srcId="{79E0177B-20E9-4B67-BB62-8601EF4FE2AC}" destId="{6BCCFBA6-7A43-4631-AD7F-AFB10E1E6CD7}" srcOrd="1" destOrd="3" presId="urn:microsoft.com/office/officeart/2011/layout/InterconnectedBlockProcess"/>
    <dgm:cxn modelId="{26FF741E-8D9D-421F-937E-C14FDB2B5235}" srcId="{988D96B0-D16E-4763-B393-84178CF4FF50}" destId="{F4DF7D2D-F00D-4624-8DAE-686909A5F5B6}" srcOrd="2" destOrd="0" parTransId="{9BBDF839-C86D-4BB5-B51D-6BC28F8D0CE0}" sibTransId="{B608A55D-3FCD-4FC7-BB98-0E9C2258AC67}"/>
    <dgm:cxn modelId="{14271021-8784-4688-96FE-21B4F9A3C855}" type="presOf" srcId="{A59EC69B-8F3F-425B-819F-E8C557946AEE}" destId="{4C66D42D-7E6D-4563-AFDC-369C30B73F70}" srcOrd="0" destOrd="0" presId="urn:microsoft.com/office/officeart/2011/layout/InterconnectedBlockProcess"/>
    <dgm:cxn modelId="{74188925-DD30-48CF-85F3-915882C920A4}" type="presOf" srcId="{F4DF7D2D-F00D-4624-8DAE-686909A5F5B6}" destId="{A134CDD1-D85F-44EF-8BEE-9F99A855C1E6}" srcOrd="0" destOrd="2" presId="urn:microsoft.com/office/officeart/2011/layout/InterconnectedBlockProcess"/>
    <dgm:cxn modelId="{6F6D732B-ABAA-4ED8-9F22-5BEBD5A299ED}" type="presOf" srcId="{5BC99083-BFC0-4D18-83D2-4D92693766D9}" destId="{98225A61-A0EC-450A-BED8-EF2E47E8FD18}" srcOrd="1" destOrd="0" presId="urn:microsoft.com/office/officeart/2011/layout/InterconnectedBlockProcess"/>
    <dgm:cxn modelId="{E96F042E-2545-44A8-BBF1-BAF31A3CE1C7}" type="presOf" srcId="{C761B021-4D6C-4770-976E-616B751C2CC2}" destId="{06F8D57B-EDF4-4CF4-8700-DC2CA3E3028E}" srcOrd="0" destOrd="1" presId="urn:microsoft.com/office/officeart/2011/layout/InterconnectedBlockProcess"/>
    <dgm:cxn modelId="{750F7132-C25B-4983-A3A0-2A05C4D74955}" srcId="{5E92505A-51E0-4F78-B3C5-704ACF8710DE}" destId="{0CB876FE-3B49-4877-A943-406FC0A66441}" srcOrd="1" destOrd="0" parTransId="{0820C232-50FE-4953-8483-5650C8D4EEA1}" sibTransId="{ADB3B1BC-6972-410A-9142-9BB40A33BA05}"/>
    <dgm:cxn modelId="{D19C6039-F31F-4159-A06A-7E356CFCCC76}" type="presOf" srcId="{D6F0B650-8C12-4091-A23D-DA094196DC62}" destId="{0D08ED52-6744-4369-B780-916B09984775}" srcOrd="1" destOrd="2"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E01C9C62-4CAA-4C2D-8442-E4EEC4C7008B}" srcId="{5E92505A-51E0-4F78-B3C5-704ACF8710DE}" destId="{75CD97D2-61D1-482B-953B-DC99A1A68A16}" srcOrd="3" destOrd="0" parTransId="{3BC7C41D-537E-47FA-BC06-6D7E5D466BB8}" sibTransId="{68B519C3-CF0E-4422-8DC7-3887F4C3E37D}"/>
    <dgm:cxn modelId="{5FCC5C66-430A-4AFF-AB36-5443C12F8533}" type="presOf" srcId="{DA7B2302-3BF3-459E-9686-85C0DACB92DF}" destId="{928B615F-0F8D-4140-A638-0FBB8F5BF1E9}" srcOrd="1" destOrd="2" presId="urn:microsoft.com/office/officeart/2011/layout/InterconnectedBlockProcess"/>
    <dgm:cxn modelId="{F4F83F67-38A1-42C7-AE97-3D813E0FA721}" type="presOf" srcId="{0CB876FE-3B49-4877-A943-406FC0A66441}" destId="{FC0F1314-3294-4A8C-8DCE-EB53E236164C}" srcOrd="0" destOrd="1" presId="urn:microsoft.com/office/officeart/2011/layout/InterconnectedBlockProcess"/>
    <dgm:cxn modelId="{55955D68-57B4-467A-9E21-FA10B8CFC18E}" type="presOf" srcId="{740497F5-324F-41B6-BE8B-CB0D0498186E}" destId="{98225A61-A0EC-450A-BED8-EF2E47E8FD18}" srcOrd="1" destOrd="2" presId="urn:microsoft.com/office/officeart/2011/layout/InterconnectedBlockProcess"/>
    <dgm:cxn modelId="{9A460B6A-E998-4E8A-8BC1-5D8706502A23}" type="presOf" srcId="{75CD97D2-61D1-482B-953B-DC99A1A68A16}" destId="{FC0F1314-3294-4A8C-8DCE-EB53E236164C}" srcOrd="0" destOrd="3" presId="urn:microsoft.com/office/officeart/2011/layout/InterconnectedBlockProcess"/>
    <dgm:cxn modelId="{0EA5264A-4585-4E89-B052-0F2ACC5F04B4}" type="presOf" srcId="{4FAD86C1-72B2-48C6-92DD-63BBC0BC64EA}" destId="{8CAE5A4D-0C7B-48A6-917B-0B8433D0574B}" srcOrd="0" destOrd="1" presId="urn:microsoft.com/office/officeart/2011/layout/InterconnectedBlockProcess"/>
    <dgm:cxn modelId="{A167BF4E-2174-4F44-A755-A5715062DBFA}" type="presOf" srcId="{F4DF7D2D-F00D-4624-8DAE-686909A5F5B6}" destId="{1C91D7E3-8940-4A33-9182-677DD5415901}" srcOrd="1" destOrd="2" presId="urn:microsoft.com/office/officeart/2011/layout/InterconnectedBlockProcess"/>
    <dgm:cxn modelId="{A48D3B70-9450-455E-8CB6-40F12E7FBC97}" type="presOf" srcId="{75CD97D2-61D1-482B-953B-DC99A1A68A16}" destId="{98225A61-A0EC-450A-BED8-EF2E47E8FD18}" srcOrd="1" destOrd="3"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769E2A54-78BF-423B-96F5-49DADD994F93}" type="presOf" srcId="{F14DC806-C499-404D-A65F-8FF25A89FA0E}" destId="{6BCCFBA6-7A43-4631-AD7F-AFB10E1E6CD7}" srcOrd="1" destOrd="2" presId="urn:microsoft.com/office/officeart/2011/layout/InterconnectedBlockProcess"/>
    <dgm:cxn modelId="{09242057-3FDA-4C71-877B-729A835B50DB}" type="presOf" srcId="{79E0177B-20E9-4B67-BB62-8601EF4FE2AC}" destId="{06F8D57B-EDF4-4CF4-8700-DC2CA3E3028E}" srcOrd="0" destOrd="3" presId="urn:microsoft.com/office/officeart/2011/layout/InterconnectedBlockProcess"/>
    <dgm:cxn modelId="{8AD24577-ACF7-46C1-8F3A-73A4C8D49448}" type="presOf" srcId="{BBB41882-C8D1-4855-81DA-DB6882FE4440}" destId="{8CAE5A4D-0C7B-48A6-917B-0B8433D0574B}" srcOrd="0" destOrd="3" presId="urn:microsoft.com/office/officeart/2011/layout/InterconnectedBlockProcess"/>
    <dgm:cxn modelId="{CA4B4A57-D4C7-4838-9370-A137FA1529DC}" type="presOf" srcId="{5BC99083-BFC0-4D18-83D2-4D92693766D9}" destId="{FC0F1314-3294-4A8C-8DCE-EB53E236164C}" srcOrd="0" destOrd="0" presId="urn:microsoft.com/office/officeart/2011/layout/InterconnectedBlockProcess"/>
    <dgm:cxn modelId="{5528AC59-0344-4F33-8263-891575DA450F}" type="presOf" srcId="{4EEA18DD-7BC6-48C6-B40D-6E96066C90A3}" destId="{2532504F-5FE1-4C97-B485-F05E8885EACC}" srcOrd="0" destOrd="1"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2508C45A-7D64-48D4-9F86-0F64123412A3}" type="presOf" srcId="{10534784-FDA1-42B3-B52D-9A1EEA6A3A86}" destId="{2532504F-5FE1-4C97-B485-F05E8885EACC}" srcOrd="0" destOrd="3" presId="urn:microsoft.com/office/officeart/2011/layout/InterconnectedBlockProcess"/>
    <dgm:cxn modelId="{2F3F3681-95E3-4BBF-B1F7-BA4919045A3B}" srcId="{65C051F6-A849-4495-A964-CD4C650B9C06}" destId="{BBB41882-C8D1-4855-81DA-DB6882FE4440}" srcOrd="3" destOrd="0" parTransId="{30B30D3E-2021-40BA-977C-4B1F079A4F0B}" sibTransId="{67510E9C-0066-48B9-8AFF-DC569BCD32AA}"/>
    <dgm:cxn modelId="{C7039981-368B-4310-878D-7B3AF3558070}" srcId="{988D96B0-D16E-4763-B393-84178CF4FF50}" destId="{590345EF-2C7B-468C-8A53-873AE9560AAA}" srcOrd="1" destOrd="0" parTransId="{BE08EB35-DDA4-4118-9C3E-40DFEB652CE6}" sibTransId="{61EE637A-94D6-46E1-834A-06C64F500504}"/>
    <dgm:cxn modelId="{D6ABBE82-A16B-4B78-B14C-C15C67396364}" srcId="{65C051F6-A849-4495-A964-CD4C650B9C06}" destId="{43D4A7E0-0C23-48F8-9727-85DD5A42CA5E}" srcOrd="0" destOrd="0" parTransId="{B6A71700-BCE3-4DFC-ACEE-B0AEDB238DEA}" sibTransId="{C0031EBE-51F7-4648-BD6C-0E663F81F7BF}"/>
    <dgm:cxn modelId="{12F93785-B849-4312-83C2-D70155214437}" type="presOf" srcId="{740497F5-324F-41B6-BE8B-CB0D0498186E}" destId="{FC0F1314-3294-4A8C-8DCE-EB53E236164C}" srcOrd="0" destOrd="2" presId="urn:microsoft.com/office/officeart/2011/layout/InterconnectedBlockProcess"/>
    <dgm:cxn modelId="{D6D55986-97D4-4821-84FD-22F7AEFD4A21}" srcId="{65C051F6-A849-4495-A964-CD4C650B9C06}" destId="{4FAD86C1-72B2-48C6-92DD-63BBC0BC64EA}" srcOrd="1" destOrd="0" parTransId="{BAE8A888-83DE-4E7B-8EB4-F883799188B3}" sibTransId="{EB467469-6BF6-4737-85AF-1EFBA44A93F9}"/>
    <dgm:cxn modelId="{7FD30888-8B53-4797-A6B5-DC49BE01A269}" srcId="{A59EC69B-8F3F-425B-819F-E8C557946AEE}" destId="{4EEA18DD-7BC6-48C6-B40D-6E96066C90A3}" srcOrd="1" destOrd="0" parTransId="{E0362C51-E717-47F2-B0BC-CEF8AB13788F}" sibTransId="{D97238E6-E427-4030-938F-71F9F0E6E9D4}"/>
    <dgm:cxn modelId="{D4C1AB88-658C-44A3-AD19-BBBE9A7C8E88}" type="presOf" srcId="{F14DC806-C499-404D-A65F-8FF25A89FA0E}" destId="{06F8D57B-EDF4-4CF4-8700-DC2CA3E3028E}" srcOrd="0" destOrd="2" presId="urn:microsoft.com/office/officeart/2011/layout/InterconnectedBlockProcess"/>
    <dgm:cxn modelId="{5C3C918A-4C4A-4DEB-924A-CC330C09FB27}" type="presOf" srcId="{5E92505A-51E0-4F78-B3C5-704ACF8710DE}" destId="{2AAD338D-3122-4454-9A67-16BE024D44E3}" srcOrd="0" destOrd="0" presId="urn:microsoft.com/office/officeart/2011/layout/InterconnectedBlockProcess"/>
    <dgm:cxn modelId="{D26EE08E-CFA8-4F8F-90CF-F7175BBB15B4}" srcId="{7B3055AA-BF7C-46D0-9A9E-60087B9F57B4}" destId="{F14DC806-C499-404D-A65F-8FF25A89FA0E}" srcOrd="2" destOrd="0" parTransId="{903E682D-08C1-4CD8-BDCC-4575494CAF1B}" sibTransId="{B9CDF3F5-93BC-4477-967E-D8F2CF465DA7}"/>
    <dgm:cxn modelId="{E50AE38F-5768-46E1-BAFE-C4FE5211624D}" type="presOf" srcId="{45FE41B1-3957-4022-98ED-D01111315C70}" destId="{1C91D7E3-8940-4A33-9182-677DD5415901}" srcOrd="1" destOrd="3" presId="urn:microsoft.com/office/officeart/2011/layout/InterconnectedBlockProcess"/>
    <dgm:cxn modelId="{B6890C93-2B2C-45B5-A13B-11B3CAE9C165}" type="presOf" srcId="{4EEA18DD-7BC6-48C6-B40D-6E96066C90A3}" destId="{0D08ED52-6744-4369-B780-916B09984775}" srcOrd="1" destOrd="1"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73A22199-5B27-4BEE-B1EC-47DF63300A15}" type="presOf" srcId="{590345EF-2C7B-468C-8A53-873AE9560AAA}" destId="{1C91D7E3-8940-4A33-9182-677DD5415901}" srcOrd="1" destOrd="1"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BFB83DAA-21B6-466B-83CF-4070221514B2}" srcId="{5E92505A-51E0-4F78-B3C5-704ACF8710DE}" destId="{740497F5-324F-41B6-BE8B-CB0D0498186E}" srcOrd="2" destOrd="0" parTransId="{80CF820F-0649-41F5-BC98-DC5F6EDF4E4A}" sibTransId="{D9604B91-E831-4454-9AAF-3DD653745DAE}"/>
    <dgm:cxn modelId="{A9BB66AC-A6FA-44D6-BB06-B671DFB33633}" type="presOf" srcId="{45FE41B1-3957-4022-98ED-D01111315C70}" destId="{A134CDD1-D85F-44EF-8BEE-9F99A855C1E6}" srcOrd="0" destOrd="3" presId="urn:microsoft.com/office/officeart/2011/layout/InterconnectedBlockProcess"/>
    <dgm:cxn modelId="{47EA44B0-8031-4B6F-9FD1-9872DAF7C253}" type="presOf" srcId="{43D4A7E0-0C23-48F8-9727-85DD5A42CA5E}" destId="{928B615F-0F8D-4140-A638-0FBB8F5BF1E9}" srcOrd="1" destOrd="0" presId="urn:microsoft.com/office/officeart/2011/layout/InterconnectedBlockProcess"/>
    <dgm:cxn modelId="{B74459B4-1329-45B0-90DA-C7164CD23482}" type="presOf" srcId="{0CB876FE-3B49-4877-A943-406FC0A66441}" destId="{98225A61-A0EC-450A-BED8-EF2E47E8FD18}" srcOrd="1" destOrd="1" presId="urn:microsoft.com/office/officeart/2011/layout/InterconnectedBlockProcess"/>
    <dgm:cxn modelId="{535244B5-410C-4762-B9A5-C4921DCCDEB1}" srcId="{A59EC69B-8F3F-425B-819F-E8C557946AEE}" destId="{10534784-FDA1-42B3-B52D-9A1EEA6A3A86}" srcOrd="3" destOrd="0" parTransId="{A3D48903-C7E9-4BE3-B5B5-7AC0CEDE9F2E}" sibTransId="{CA12F28D-D920-4DD2-8EFD-BD87AB615B91}"/>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95A98CBD-78EF-4233-A1B1-979622E5338C}" type="presOf" srcId="{BBB41882-C8D1-4855-81DA-DB6882FE4440}" destId="{928B615F-0F8D-4140-A638-0FBB8F5BF1E9}" srcOrd="1" destOrd="3" presId="urn:microsoft.com/office/officeart/2011/layout/InterconnectedBlockProcess"/>
    <dgm:cxn modelId="{45BA71BF-9F57-4FB7-9993-A7209237CB38}" type="presOf" srcId="{10534784-FDA1-42B3-B52D-9A1EEA6A3A86}" destId="{0D08ED52-6744-4369-B780-916B09984775}" srcOrd="1" destOrd="3" presId="urn:microsoft.com/office/officeart/2011/layout/InterconnectedBlockProcess"/>
    <dgm:cxn modelId="{E772B4C9-67A8-415D-9C9A-81C599A71C56}" srcId="{65C051F6-A849-4495-A964-CD4C650B9C06}" destId="{DA7B2302-3BF3-459E-9686-85C0DACB92DF}" srcOrd="2" destOrd="0" parTransId="{10756C09-5B55-40A4-90B5-337C165FDA62}" sibTransId="{C69B6DB0-0B26-4425-9C10-F2F554E11442}"/>
    <dgm:cxn modelId="{F71523CA-61CD-476A-BA8C-071A0324C2B7}" srcId="{A59EC69B-8F3F-425B-819F-E8C557946AEE}" destId="{D6F0B650-8C12-4091-A23D-DA094196DC62}" srcOrd="2" destOrd="0" parTransId="{13FD0A68-253E-49BD-9FA8-B2D1B8D0A761}" sibTransId="{8285E79F-1609-4582-8E1E-59897C745B42}"/>
    <dgm:cxn modelId="{D1BA1DD0-A52A-47BF-962D-9810C87E1576}" srcId="{5751524B-FB67-4894-A0C5-35151E149D68}" destId="{A59EC69B-8F3F-425B-819F-E8C557946AEE}" srcOrd="2" destOrd="0" parTransId="{0095C3CB-916F-4060-A8DA-DD282FB51587}" sibTransId="{2868AD8D-4E38-46CE-A972-709857BF40AC}"/>
    <dgm:cxn modelId="{25FBB2D7-39D5-48CA-BA28-6E85CECF2334}" type="presOf" srcId="{D6F0B650-8C12-4091-A23D-DA094196DC62}" destId="{2532504F-5FE1-4C97-B485-F05E8885EACC}" srcOrd="0" destOrd="2" presId="urn:microsoft.com/office/officeart/2011/layout/InterconnectedBlockProcess"/>
    <dgm:cxn modelId="{EC94CEDE-0D22-455C-8A89-C43D1851AE30}" type="presOf" srcId="{DA7B2302-3BF3-459E-9686-85C0DACB92DF}" destId="{8CAE5A4D-0C7B-48A6-917B-0B8433D0574B}" srcOrd="0"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65875EEC-5DF6-4CB8-A1C1-88BA5BAB971E}" srcId="{7B3055AA-BF7C-46D0-9A9E-60087B9F57B4}" destId="{C761B021-4D6C-4770-976E-616B751C2CC2}" srcOrd="1" destOrd="0" parTransId="{16219241-EF6B-4024-B06F-A0C815C7CAF3}" sibTransId="{6E3F5F0A-C02E-42D0-807B-827AA3334D32}"/>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062B37FB-A892-4399-8BE5-C604C36A2B26}" type="presOf" srcId="{4FAD86C1-72B2-48C6-92DD-63BBC0BC64EA}" destId="{928B615F-0F8D-4140-A638-0FBB8F5BF1E9}" srcOrd="1"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8331" y="813607"/>
          <a:ext cx="1281421" cy="3254431"/>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a:t>1. Completion of assigned project tasks</a:t>
          </a:r>
        </a:p>
        <a:p>
          <a:pPr marL="0" lvl="0" indent="0" algn="r" defTabSz="488950">
            <a:lnSpc>
              <a:spcPct val="90000"/>
            </a:lnSpc>
            <a:spcBef>
              <a:spcPct val="0"/>
            </a:spcBef>
            <a:spcAft>
              <a:spcPct val="35000"/>
            </a:spcAft>
            <a:buNone/>
          </a:pPr>
          <a:r>
            <a:rPr lang="en-US" sz="1100" kern="1200"/>
            <a:t>2. Demonstration of technical skills gained</a:t>
          </a:r>
          <a:endParaRPr lang="en-US" sz="1100" kern="1200" dirty="0"/>
        </a:p>
        <a:p>
          <a:pPr marL="0" lvl="0" indent="0" algn="r" defTabSz="488950">
            <a:lnSpc>
              <a:spcPct val="90000"/>
            </a:lnSpc>
            <a:spcBef>
              <a:spcPct val="0"/>
            </a:spcBef>
            <a:spcAft>
              <a:spcPct val="35000"/>
            </a:spcAft>
            <a:buNone/>
          </a:pPr>
          <a:r>
            <a:rPr lang="en-US" sz="1100" kern="1200"/>
            <a:t>3. Documentation and project explanation</a:t>
          </a:r>
          <a:endParaRPr lang="en-US" sz="1100" kern="1200" dirty="0"/>
        </a:p>
        <a:p>
          <a:pPr marL="0" lvl="0" indent="0" algn="r" defTabSz="488950">
            <a:lnSpc>
              <a:spcPct val="90000"/>
            </a:lnSpc>
            <a:spcBef>
              <a:spcPct val="0"/>
            </a:spcBef>
            <a:spcAft>
              <a:spcPct val="35000"/>
            </a:spcAft>
            <a:buNone/>
          </a:pPr>
          <a:r>
            <a:rPr lang="en-US" sz="1100" kern="1200"/>
            <a:t>4. Overall learning outcomes and internship experience</a:t>
          </a:r>
          <a:endParaRPr lang="en-US" sz="1100" kern="1200" dirty="0"/>
        </a:p>
      </dsp:txBody>
      <dsp:txXfrm>
        <a:off x="7340990" y="813607"/>
        <a:ext cx="1118762" cy="3254431"/>
      </dsp:txXfrm>
    </dsp:sp>
    <dsp:sp modelId="{C73DE52A-2F45-45E6-AD0E-D5BEAF609F8E}">
      <dsp:nvSpPr>
        <dsp:cNvPr id="0" name=""/>
        <dsp:cNvSpPr/>
      </dsp:nvSpPr>
      <dsp:spPr>
        <a:xfrm>
          <a:off x="7178331" y="0"/>
          <a:ext cx="1281421" cy="81360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8331" y="0"/>
        <a:ext cx="1281421" cy="813607"/>
      </dsp:txXfrm>
    </dsp:sp>
    <dsp:sp modelId="{FC0F1314-3294-4A8C-8DCE-EB53E236164C}">
      <dsp:nvSpPr>
        <dsp:cNvPr id="0" name=""/>
        <dsp:cNvSpPr/>
      </dsp:nvSpPr>
      <dsp:spPr>
        <a:xfrm>
          <a:off x="5900111" y="813607"/>
          <a:ext cx="1281421" cy="305102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a:t>1. Working on major project components</a:t>
          </a:r>
        </a:p>
        <a:p>
          <a:pPr marL="0" lvl="0" indent="0" algn="r" defTabSz="488950">
            <a:lnSpc>
              <a:spcPct val="90000"/>
            </a:lnSpc>
            <a:spcBef>
              <a:spcPct val="0"/>
            </a:spcBef>
            <a:spcAft>
              <a:spcPct val="35000"/>
            </a:spcAft>
            <a:buNone/>
          </a:pPr>
          <a:r>
            <a:rPr lang="en-US" sz="1100" kern="1200"/>
            <a:t>2. Implementing backend logic independently</a:t>
          </a:r>
          <a:endParaRPr lang="en-US" sz="1100" kern="1200" dirty="0"/>
        </a:p>
        <a:p>
          <a:pPr marL="0" lvl="0" indent="0" algn="r" defTabSz="488950">
            <a:lnSpc>
              <a:spcPct val="90000"/>
            </a:lnSpc>
            <a:spcBef>
              <a:spcPct val="0"/>
            </a:spcBef>
            <a:spcAft>
              <a:spcPct val="35000"/>
            </a:spcAft>
            <a:buNone/>
          </a:pPr>
          <a:r>
            <a:rPr lang="en-US" sz="1100" kern="1200"/>
            <a:t>3. Testing and optimizing the application</a:t>
          </a:r>
          <a:endParaRPr lang="en-US" sz="1100" kern="1200" dirty="0"/>
        </a:p>
        <a:p>
          <a:pPr marL="0" lvl="0" indent="0" algn="r" defTabSz="488950">
            <a:lnSpc>
              <a:spcPct val="90000"/>
            </a:lnSpc>
            <a:spcBef>
              <a:spcPct val="0"/>
            </a:spcBef>
            <a:spcAft>
              <a:spcPct val="35000"/>
            </a:spcAft>
            <a:buNone/>
          </a:pPr>
          <a:r>
            <a:rPr lang="en-US" sz="1100" kern="1200"/>
            <a:t>4. Understanding real-time project workflows</a:t>
          </a:r>
          <a:endParaRPr lang="en-US" sz="1100" kern="1200" dirty="0"/>
        </a:p>
      </dsp:txBody>
      <dsp:txXfrm>
        <a:off x="6062771" y="813607"/>
        <a:ext cx="1118762" cy="3051029"/>
      </dsp:txXfrm>
    </dsp:sp>
    <dsp:sp modelId="{2AAD338D-3122-4454-9A67-16BE024D44E3}">
      <dsp:nvSpPr>
        <dsp:cNvPr id="0" name=""/>
        <dsp:cNvSpPr/>
      </dsp:nvSpPr>
      <dsp:spPr>
        <a:xfrm>
          <a:off x="5900111" y="101700"/>
          <a:ext cx="1281421" cy="71190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900111" y="101700"/>
        <a:ext cx="1281421" cy="711906"/>
      </dsp:txXfrm>
    </dsp:sp>
    <dsp:sp modelId="{2532504F-5FE1-4C97-B485-F05E8885EACC}">
      <dsp:nvSpPr>
        <dsp:cNvPr id="0" name=""/>
        <dsp:cNvSpPr/>
      </dsp:nvSpPr>
      <dsp:spPr>
        <a:xfrm>
          <a:off x="4618690" y="813607"/>
          <a:ext cx="1281421" cy="2847627"/>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t>1. Contributing to module-level development</a:t>
          </a:r>
          <a:endParaRPr lang="en-US" sz="1100" kern="1200" dirty="0">
            <a:latin typeface="Times New Roman" panose="02020603050405020304" pitchFamily="18" charset="0"/>
            <a:cs typeface="Times New Roman" panose="02020603050405020304" pitchFamily="18" charset="0"/>
          </a:endParaRPr>
        </a:p>
        <a:p>
          <a:pPr marL="0" lvl="0" indent="0" algn="r" defTabSz="488950">
            <a:lnSpc>
              <a:spcPct val="90000"/>
            </a:lnSpc>
            <a:spcBef>
              <a:spcPct val="0"/>
            </a:spcBef>
            <a:spcAft>
              <a:spcPct val="35000"/>
            </a:spcAft>
            <a:buNone/>
          </a:pPr>
          <a:r>
            <a:rPr lang="en-US" sz="1100" kern="1200"/>
            <a:t>2. Working on mini projects or assigned features</a:t>
          </a:r>
          <a:endParaRPr lang="en-US" sz="1100" kern="1200" dirty="0"/>
        </a:p>
        <a:p>
          <a:pPr marL="0" lvl="0" indent="0" algn="r" defTabSz="488950">
            <a:lnSpc>
              <a:spcPct val="90000"/>
            </a:lnSpc>
            <a:spcBef>
              <a:spcPct val="0"/>
            </a:spcBef>
            <a:spcAft>
              <a:spcPct val="35000"/>
            </a:spcAft>
            <a:buNone/>
          </a:pPr>
          <a:r>
            <a:rPr lang="en-US" sz="1100" kern="1200"/>
            <a:t>3. Understanding database integration and APIs</a:t>
          </a:r>
          <a:endParaRPr lang="en-US" sz="1100" kern="1200" dirty="0"/>
        </a:p>
        <a:p>
          <a:pPr marL="0" lvl="0" indent="0" algn="r" defTabSz="488950">
            <a:lnSpc>
              <a:spcPct val="90000"/>
            </a:lnSpc>
            <a:spcBef>
              <a:spcPct val="0"/>
            </a:spcBef>
            <a:spcAft>
              <a:spcPct val="35000"/>
            </a:spcAft>
            <a:buNone/>
          </a:pPr>
          <a:r>
            <a:rPr lang="en-US" sz="1100" kern="1200" dirty="0"/>
            <a:t>4. Collaborating with the project team</a:t>
          </a:r>
        </a:p>
      </dsp:txBody>
      <dsp:txXfrm>
        <a:off x="4781349" y="813607"/>
        <a:ext cx="1118762" cy="2847627"/>
      </dsp:txXfrm>
    </dsp:sp>
    <dsp:sp modelId="{4C66D42D-7E6D-4563-AFDC-369C30B73F70}">
      <dsp:nvSpPr>
        <dsp:cNvPr id="0" name=""/>
        <dsp:cNvSpPr/>
      </dsp:nvSpPr>
      <dsp:spPr>
        <a:xfrm>
          <a:off x="4618690" y="206656"/>
          <a:ext cx="1281421" cy="61020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18690" y="206656"/>
        <a:ext cx="1281421" cy="610205"/>
      </dsp:txXfrm>
    </dsp:sp>
    <dsp:sp modelId="{06F8D57B-EDF4-4CF4-8700-DC2CA3E3028E}">
      <dsp:nvSpPr>
        <dsp:cNvPr id="0" name=""/>
        <dsp:cNvSpPr/>
      </dsp:nvSpPr>
      <dsp:spPr>
        <a:xfrm>
          <a:off x="3337268" y="813607"/>
          <a:ext cx="1281421" cy="2644225"/>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t>1. Working on small tasks using Python and Django</a:t>
          </a:r>
          <a:endParaRPr lang="en-US" sz="1100" kern="1200" dirty="0">
            <a:latin typeface="Times New Roman" panose="02020603050405020304" pitchFamily="18" charset="0"/>
            <a:cs typeface="Times New Roman" panose="02020603050405020304" pitchFamily="18" charset="0"/>
          </a:endParaRPr>
        </a:p>
        <a:p>
          <a:pPr marL="0" lvl="0" indent="0" algn="r" defTabSz="488950">
            <a:lnSpc>
              <a:spcPct val="90000"/>
            </a:lnSpc>
            <a:spcBef>
              <a:spcPct val="0"/>
            </a:spcBef>
            <a:spcAft>
              <a:spcPct val="35000"/>
            </a:spcAft>
            <a:buNone/>
          </a:pPr>
          <a:r>
            <a:rPr lang="en-US" sz="1100" kern="1200"/>
            <a:t>2. Implementing basic CRUD operations</a:t>
          </a:r>
          <a:endParaRPr lang="en-US" sz="1100" kern="1200" dirty="0"/>
        </a:p>
        <a:p>
          <a:pPr marL="0" lvl="0" indent="0" algn="r" defTabSz="488950">
            <a:lnSpc>
              <a:spcPct val="90000"/>
            </a:lnSpc>
            <a:spcBef>
              <a:spcPct val="0"/>
            </a:spcBef>
            <a:spcAft>
              <a:spcPct val="35000"/>
            </a:spcAft>
            <a:buNone/>
          </a:pPr>
          <a:r>
            <a:rPr lang="en-US" sz="1100" kern="1200"/>
            <a:t>3. Understanding Django project structure and apps</a:t>
          </a:r>
          <a:endParaRPr lang="en-US" sz="1100" kern="1200" dirty="0"/>
        </a:p>
        <a:p>
          <a:pPr marL="0" lvl="0" indent="0" algn="r" defTabSz="488950">
            <a:lnSpc>
              <a:spcPct val="90000"/>
            </a:lnSpc>
            <a:spcBef>
              <a:spcPct val="0"/>
            </a:spcBef>
            <a:spcAft>
              <a:spcPct val="35000"/>
            </a:spcAft>
            <a:buNone/>
          </a:pPr>
          <a:r>
            <a:rPr lang="en-US" sz="1100" kern="1200" dirty="0"/>
            <a:t>4. Improving debugging and coding practices</a:t>
          </a:r>
        </a:p>
      </dsp:txBody>
      <dsp:txXfrm>
        <a:off x="3499927" y="813607"/>
        <a:ext cx="1118762" cy="2644225"/>
      </dsp:txXfrm>
    </dsp:sp>
    <dsp:sp modelId="{00BB3360-A9BB-4051-A4B1-1216F82F642C}">
      <dsp:nvSpPr>
        <dsp:cNvPr id="0" name=""/>
        <dsp:cNvSpPr/>
      </dsp:nvSpPr>
      <dsp:spPr>
        <a:xfrm>
          <a:off x="3337268" y="305102"/>
          <a:ext cx="1281421" cy="5085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37268" y="305102"/>
        <a:ext cx="1281421" cy="508504"/>
      </dsp:txXfrm>
    </dsp:sp>
    <dsp:sp modelId="{A134CDD1-D85F-44EF-8BEE-9F99A855C1E6}">
      <dsp:nvSpPr>
        <dsp:cNvPr id="0" name=""/>
        <dsp:cNvSpPr/>
      </dsp:nvSpPr>
      <dsp:spPr>
        <a:xfrm>
          <a:off x="2055846" y="813607"/>
          <a:ext cx="1281421" cy="2440823"/>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925" tIns="34925" rIns="34925" bIns="34925" numCol="1" spcCol="1270" anchor="t" anchorCtr="0">
          <a:noAutofit/>
        </a:bodyPr>
        <a:lstStyle/>
        <a:p>
          <a:pPr marL="0" lvl="0" indent="0" algn="r" defTabSz="488950">
            <a:lnSpc>
              <a:spcPct val="90000"/>
            </a:lnSpc>
            <a:spcBef>
              <a:spcPct val="0"/>
            </a:spcBef>
            <a:spcAft>
              <a:spcPct val="35000"/>
            </a:spcAft>
            <a:buNone/>
          </a:pPr>
          <a:r>
            <a:rPr lang="en-US" sz="1100" kern="1200" dirty="0"/>
            <a:t>1. Understanding the organization and internship workflow</a:t>
          </a:r>
          <a:endParaRPr lang="en-US" sz="1100" kern="1200" dirty="0">
            <a:latin typeface="Times New Roman" panose="02020603050405020304" pitchFamily="18" charset="0"/>
            <a:cs typeface="Times New Roman" panose="02020603050405020304" pitchFamily="18" charset="0"/>
          </a:endParaRPr>
        </a:p>
        <a:p>
          <a:pPr marL="0" lvl="0" indent="0" algn="r" defTabSz="488950">
            <a:lnSpc>
              <a:spcPct val="90000"/>
            </a:lnSpc>
            <a:spcBef>
              <a:spcPct val="0"/>
            </a:spcBef>
            <a:spcAft>
              <a:spcPct val="35000"/>
            </a:spcAft>
            <a:buNone/>
          </a:pPr>
          <a:r>
            <a:rPr lang="en-US" sz="1100" kern="1200"/>
            <a:t>2. Training on Python fundamentals and Django basics</a:t>
          </a:r>
          <a:endParaRPr lang="en-US" sz="1100" kern="1200" dirty="0">
            <a:latin typeface="Times New Roman" panose="02020603050405020304" pitchFamily="18" charset="0"/>
            <a:cs typeface="Times New Roman" panose="02020603050405020304" pitchFamily="18" charset="0"/>
          </a:endParaRPr>
        </a:p>
        <a:p>
          <a:pPr marL="0" lvl="0" indent="0" algn="r" defTabSz="488950">
            <a:lnSpc>
              <a:spcPct val="90000"/>
            </a:lnSpc>
            <a:spcBef>
              <a:spcPct val="0"/>
            </a:spcBef>
            <a:spcAft>
              <a:spcPct val="35000"/>
            </a:spcAft>
            <a:buNone/>
          </a:pPr>
          <a:r>
            <a:rPr lang="en-US" sz="1100" kern="1200"/>
            <a:t>3. Setting up the development environment</a:t>
          </a:r>
          <a:endParaRPr lang="en-US" sz="1100" kern="1200" dirty="0"/>
        </a:p>
        <a:p>
          <a:pPr marL="0" lvl="0" indent="0" algn="r" defTabSz="488950">
            <a:lnSpc>
              <a:spcPct val="90000"/>
            </a:lnSpc>
            <a:spcBef>
              <a:spcPct val="0"/>
            </a:spcBef>
            <a:spcAft>
              <a:spcPct val="35000"/>
            </a:spcAft>
            <a:buNone/>
          </a:pPr>
          <a:r>
            <a:rPr lang="en-US" sz="1100" kern="1200" dirty="0"/>
            <a:t>4. Learning basic backend concepts </a:t>
          </a:r>
        </a:p>
      </dsp:txBody>
      <dsp:txXfrm>
        <a:off x="2218505" y="813607"/>
        <a:ext cx="1118762" cy="2440823"/>
      </dsp:txXfrm>
    </dsp:sp>
    <dsp:sp modelId="{65257024-FAC0-4522-B139-1CC85B547BE8}">
      <dsp:nvSpPr>
        <dsp:cNvPr id="0" name=""/>
        <dsp:cNvSpPr/>
      </dsp:nvSpPr>
      <dsp:spPr>
        <a:xfrm>
          <a:off x="2055846" y="406803"/>
          <a:ext cx="1281421" cy="40680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55846" y="406803"/>
        <a:ext cx="1281421" cy="406803"/>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26/04/2026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26-04-2026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26-04-2026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26-04-2026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26-04-2026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26-04-2026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26-04-2026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26-04-2026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26-04-2026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26-04-2026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26-04-2026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26-04-2026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26-04-2026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Mohamed Shakir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Gopal Krishna Shyam</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Sreehari T M</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Elevator Maintenance and Asset Tracking App</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730072003"/>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Ann Olivia M</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20221COM0208</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8-COM-01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703028" y="1332412"/>
            <a:ext cx="10515600" cy="4193176"/>
          </a:xfrm>
        </p:spPr>
        <p:txBody>
          <a:bodyPr>
            <a:normAutofit fontScale="77500" lnSpcReduction="20000"/>
          </a:bodyPr>
          <a:lstStyle/>
          <a:p>
            <a:r>
              <a:rPr lang="en-US" b="1" dirty="0" err="1"/>
              <a:t>Axxonet</a:t>
            </a:r>
            <a:r>
              <a:rPr lang="en-US" b="1" dirty="0"/>
              <a:t> Technologies - </a:t>
            </a:r>
            <a:r>
              <a:rPr lang="en-US" dirty="0"/>
              <a:t>is a Bangalore-based technology and research-driven company founded in the year 2000.</a:t>
            </a:r>
            <a:br>
              <a:rPr lang="en-US" dirty="0"/>
            </a:br>
            <a:r>
              <a:rPr lang="en-US" dirty="0"/>
              <a:t>The company focuses on delivering innovative </a:t>
            </a:r>
            <a:r>
              <a:rPr lang="en-US" b="1" dirty="0"/>
              <a:t>IT solutions</a:t>
            </a:r>
            <a:r>
              <a:rPr lang="en-US" dirty="0"/>
              <a:t>, </a:t>
            </a:r>
            <a:r>
              <a:rPr lang="en-US" b="1" dirty="0"/>
              <a:t>analytics</a:t>
            </a:r>
            <a:r>
              <a:rPr lang="en-US" dirty="0"/>
              <a:t>, and </a:t>
            </a:r>
            <a:r>
              <a:rPr lang="en-US" b="1" dirty="0"/>
              <a:t>digital transformation services.</a:t>
            </a:r>
          </a:p>
          <a:p>
            <a:r>
              <a:rPr lang="en-US" dirty="0" err="1"/>
              <a:t>Axxonet</a:t>
            </a:r>
            <a:r>
              <a:rPr lang="en-US" dirty="0"/>
              <a:t> combines strong research capabilities with real-world business applications.</a:t>
            </a:r>
            <a:br>
              <a:rPr lang="en-US" dirty="0"/>
            </a:br>
            <a:r>
              <a:rPr lang="en-US" dirty="0"/>
              <a:t>It offers services in business intelligence, </a:t>
            </a:r>
            <a:r>
              <a:rPr lang="en-US" b="1" dirty="0"/>
              <a:t>data analytics</a:t>
            </a:r>
            <a:r>
              <a:rPr lang="en-US" dirty="0"/>
              <a:t>, </a:t>
            </a:r>
            <a:r>
              <a:rPr lang="en-US" b="1" dirty="0"/>
              <a:t>DevOps</a:t>
            </a:r>
            <a:r>
              <a:rPr lang="en-US" dirty="0"/>
              <a:t>, </a:t>
            </a:r>
            <a:r>
              <a:rPr lang="en-US" b="1" dirty="0"/>
              <a:t>cloud solutions</a:t>
            </a:r>
            <a:r>
              <a:rPr lang="en-US" dirty="0"/>
              <a:t>, and </a:t>
            </a:r>
            <a:r>
              <a:rPr lang="en-US" b="1" dirty="0"/>
              <a:t>software development</a:t>
            </a:r>
            <a:r>
              <a:rPr lang="en-US" dirty="0"/>
              <a:t>.</a:t>
            </a:r>
          </a:p>
          <a:p>
            <a:r>
              <a:rPr lang="en-US" dirty="0"/>
              <a:t>The organization is also well known for its work in </a:t>
            </a:r>
            <a:r>
              <a:rPr lang="en-US" b="1" dirty="0"/>
              <a:t>healthcare</a:t>
            </a:r>
            <a:r>
              <a:rPr lang="en-US" dirty="0"/>
              <a:t> and </a:t>
            </a:r>
            <a:r>
              <a:rPr lang="en-US" b="1" dirty="0"/>
              <a:t>neuroscience technologies.</a:t>
            </a:r>
          </a:p>
          <a:p>
            <a:r>
              <a:rPr lang="en-US" dirty="0" err="1"/>
              <a:t>Axxonet</a:t>
            </a:r>
            <a:r>
              <a:rPr lang="en-US" dirty="0"/>
              <a:t> develops advanced medical and laboratory systems for research and clinical use.</a:t>
            </a:r>
            <a:br>
              <a:rPr lang="en-US" dirty="0"/>
            </a:br>
            <a:r>
              <a:rPr lang="en-US" dirty="0"/>
              <a:t>The company follows global quality standards and is </a:t>
            </a:r>
            <a:r>
              <a:rPr lang="en-US" b="1" dirty="0"/>
              <a:t>ISO certified</a:t>
            </a:r>
            <a:r>
              <a:rPr lang="en-US" dirty="0"/>
              <a:t>.</a:t>
            </a:r>
            <a:br>
              <a:rPr lang="en-US" dirty="0"/>
            </a:br>
            <a:r>
              <a:rPr lang="en-US" dirty="0"/>
              <a:t>It serves clients across India and international markets.</a:t>
            </a:r>
            <a:br>
              <a:rPr lang="en-US" dirty="0"/>
            </a:br>
            <a:r>
              <a:rPr lang="en-US" dirty="0" err="1"/>
              <a:t>Axxonet</a:t>
            </a:r>
            <a:r>
              <a:rPr lang="en-US" dirty="0"/>
              <a:t> emphasizes innovation, problem-solving, and technology excellence.</a:t>
            </a:r>
            <a:br>
              <a:rPr lang="en-US" dirty="0"/>
            </a:br>
            <a:r>
              <a:rPr lang="en-US" dirty="0"/>
              <a:t>Overall, it bridges research, technology, and business to deliver impactful solutions.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399903"/>
            <a:ext cx="10515600" cy="4058194"/>
          </a:xfrm>
        </p:spPr>
        <p:txBody>
          <a:bodyPr>
            <a:normAutofit fontScale="85000" lnSpcReduction="10000"/>
          </a:bodyPr>
          <a:lstStyle/>
          <a:p>
            <a:r>
              <a:rPr lang="en-US" dirty="0" err="1"/>
              <a:t>Axxonet</a:t>
            </a:r>
            <a:r>
              <a:rPr lang="en-US" dirty="0"/>
              <a:t> operates in </a:t>
            </a:r>
            <a:r>
              <a:rPr lang="en-US" b="1" dirty="0"/>
              <a:t>IT consulting, analytics, and digital transformation</a:t>
            </a:r>
            <a:r>
              <a:rPr lang="en-US" dirty="0"/>
              <a:t> services.</a:t>
            </a:r>
          </a:p>
          <a:p>
            <a:r>
              <a:rPr lang="en-US" dirty="0"/>
              <a:t>It specializes in </a:t>
            </a:r>
            <a:r>
              <a:rPr lang="en-US" b="1" dirty="0"/>
              <a:t>business intelligence and data analytics</a:t>
            </a:r>
            <a:r>
              <a:rPr lang="en-US" dirty="0"/>
              <a:t> for informed decision-making.</a:t>
            </a:r>
          </a:p>
          <a:p>
            <a:r>
              <a:rPr lang="en-US" dirty="0"/>
              <a:t>The company works with </a:t>
            </a:r>
            <a:r>
              <a:rPr lang="en-US" b="1" dirty="0"/>
              <a:t>AI, machine learning, and predictive analytics</a:t>
            </a:r>
            <a:r>
              <a:rPr lang="en-US" dirty="0"/>
              <a:t> technologies.</a:t>
            </a:r>
          </a:p>
          <a:p>
            <a:r>
              <a:rPr lang="en-US" dirty="0"/>
              <a:t>It delivers </a:t>
            </a:r>
            <a:r>
              <a:rPr lang="en-US" b="1" dirty="0"/>
              <a:t>cloud computing and DevOps solutions</a:t>
            </a:r>
            <a:r>
              <a:rPr lang="en-US" dirty="0"/>
              <a:t> for scalable digital platforms.</a:t>
            </a:r>
          </a:p>
          <a:p>
            <a:r>
              <a:rPr lang="en-US" dirty="0" err="1"/>
              <a:t>Axxonet</a:t>
            </a:r>
            <a:r>
              <a:rPr lang="en-US" dirty="0"/>
              <a:t> develops </a:t>
            </a:r>
            <a:r>
              <a:rPr lang="en-US" b="1" dirty="0"/>
              <a:t>custom web, mobile, and enterprise software applications</a:t>
            </a:r>
            <a:r>
              <a:rPr lang="en-US" dirty="0"/>
              <a:t>.</a:t>
            </a:r>
          </a:p>
          <a:p>
            <a:r>
              <a:rPr lang="en-US" dirty="0"/>
              <a:t>The organization uses </a:t>
            </a:r>
            <a:r>
              <a:rPr lang="en-US" b="1" dirty="0"/>
              <a:t>modern data platforms and visualization tools</a:t>
            </a:r>
            <a:r>
              <a:rPr lang="en-US" dirty="0"/>
              <a:t> for insights.</a:t>
            </a:r>
          </a:p>
          <a:p>
            <a:r>
              <a:rPr lang="en-US" dirty="0"/>
              <a:t>It also focuses on </a:t>
            </a:r>
            <a:r>
              <a:rPr lang="en-US" b="1" dirty="0"/>
              <a:t>healthcare and neuroscience technologies</a:t>
            </a:r>
            <a:r>
              <a:rPr lang="en-US" dirty="0"/>
              <a:t>, including EEG and research systems.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343393"/>
            <a:ext cx="10515600" cy="4058194"/>
          </a:xfrm>
        </p:spPr>
        <p:txBody>
          <a:bodyPr>
            <a:normAutofit fontScale="92500" lnSpcReduction="10000"/>
          </a:bodyPr>
          <a:lstStyle/>
          <a:p>
            <a:pPr marL="0" indent="0">
              <a:buNone/>
            </a:pPr>
            <a:r>
              <a:rPr lang="en-US" dirty="0"/>
              <a:t>For the initial phase of my internship, I am currently working under the guidance of an internship guide </a:t>
            </a:r>
            <a:r>
              <a:rPr lang="en-US" b="1" dirty="0"/>
              <a:t>– Mr. Mukesh</a:t>
            </a:r>
            <a:r>
              <a:rPr lang="en-US" dirty="0"/>
              <a:t> who acts as my reporting mentor and oversees my learning and progress. </a:t>
            </a:r>
          </a:p>
          <a:p>
            <a:pPr marL="0" indent="0">
              <a:buNone/>
            </a:pPr>
            <a:r>
              <a:rPr lang="en-US" dirty="0"/>
              <a:t>The first week was focused on training, where I was introduced to </a:t>
            </a:r>
            <a:r>
              <a:rPr lang="en-US" b="1" dirty="0"/>
              <a:t>Python</a:t>
            </a:r>
            <a:r>
              <a:rPr lang="en-US" dirty="0"/>
              <a:t> basics and </a:t>
            </a:r>
            <a:r>
              <a:rPr lang="en-US" b="1" dirty="0"/>
              <a:t>Django</a:t>
            </a:r>
            <a:r>
              <a:rPr lang="en-US" dirty="0"/>
              <a:t> fundamentals to build a strong technical foundation. In past one month, I have started working on a </a:t>
            </a:r>
            <a:r>
              <a:rPr lang="en-US" dirty="0" err="1"/>
              <a:t>demoproject</a:t>
            </a:r>
            <a:r>
              <a:rPr lang="en-US" dirty="0"/>
              <a:t> under my mentor’s supervision to apply the concepts learned. </a:t>
            </a:r>
          </a:p>
          <a:p>
            <a:pPr marL="0" indent="0">
              <a:buNone/>
            </a:pPr>
            <a:r>
              <a:rPr lang="en-US" dirty="0"/>
              <a:t>As the internship progresses, I will be gradually integrated into the core project team, and from the third week onwards, I am expected to contribute to major projects while continuing to report through the assigned mentor and project structure.</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589883"/>
            <a:ext cx="10515600" cy="4058194"/>
          </a:xfrm>
        </p:spPr>
        <p:txBody>
          <a:bodyPr/>
          <a:lstStyle/>
          <a:p>
            <a:pPr marL="0" lvl="0" indent="0" eaLnBrk="0" fontAlgn="base" hangingPunct="0">
              <a:lnSpc>
                <a:spcPct val="100000"/>
              </a:lnSpc>
              <a:spcBef>
                <a:spcPct val="0"/>
              </a:spcBef>
              <a:spcAft>
                <a:spcPct val="0"/>
              </a:spcAft>
              <a:buFontTx/>
              <a:buChar char="•"/>
            </a:pPr>
            <a:r>
              <a:rPr lang="en-US" altLang="en-US" dirty="0"/>
              <a:t>Adapting to </a:t>
            </a:r>
            <a:r>
              <a:rPr lang="en-US" altLang="en-US" sz="2400" dirty="0"/>
              <a:t>a </a:t>
            </a:r>
            <a:r>
              <a:rPr lang="en-US" altLang="en-US" sz="2400" b="1" dirty="0"/>
              <a:t>new work environment and professional culture</a:t>
            </a:r>
            <a:endParaRPr lang="en-US" altLang="en-US" sz="2400" dirty="0"/>
          </a:p>
          <a:p>
            <a:pPr marL="0" lvl="0" indent="0" eaLnBrk="0" fontAlgn="base" hangingPunct="0">
              <a:lnSpc>
                <a:spcPct val="100000"/>
              </a:lnSpc>
              <a:spcBef>
                <a:spcPct val="0"/>
              </a:spcBef>
              <a:spcAft>
                <a:spcPct val="0"/>
              </a:spcAft>
              <a:buFontTx/>
              <a:buChar char="•"/>
            </a:pPr>
            <a:r>
              <a:rPr lang="en-US" altLang="en-US" sz="2400" dirty="0"/>
              <a:t>Understanding</a:t>
            </a:r>
            <a:r>
              <a:rPr lang="en-US" altLang="en-US" sz="2400" b="1" dirty="0"/>
              <a:t> requirements and expectations</a:t>
            </a:r>
            <a:r>
              <a:rPr lang="en-US" altLang="en-US" sz="2400" dirty="0"/>
              <a:t> initially</a:t>
            </a:r>
          </a:p>
          <a:p>
            <a:pPr marL="0" lvl="0" indent="0" eaLnBrk="0" fontAlgn="base" hangingPunct="0">
              <a:lnSpc>
                <a:spcPct val="100000"/>
              </a:lnSpc>
              <a:spcBef>
                <a:spcPct val="0"/>
              </a:spcBef>
              <a:spcAft>
                <a:spcPct val="0"/>
              </a:spcAft>
              <a:buFontTx/>
              <a:buChar char="•"/>
            </a:pPr>
            <a:r>
              <a:rPr lang="en-US" altLang="en-US" sz="2400" dirty="0"/>
              <a:t>Learning </a:t>
            </a:r>
            <a:r>
              <a:rPr lang="en-US" altLang="en-US" sz="2400" b="1" dirty="0"/>
              <a:t>new technologies and tools</a:t>
            </a:r>
            <a:r>
              <a:rPr lang="en-US" altLang="en-US" sz="2400" dirty="0"/>
              <a:t> within a limited time</a:t>
            </a:r>
          </a:p>
          <a:p>
            <a:pPr marL="0" lvl="0" indent="0" eaLnBrk="0" fontAlgn="base" hangingPunct="0">
              <a:lnSpc>
                <a:spcPct val="100000"/>
              </a:lnSpc>
              <a:spcBef>
                <a:spcPct val="0"/>
              </a:spcBef>
              <a:spcAft>
                <a:spcPct val="0"/>
              </a:spcAft>
              <a:buFontTx/>
              <a:buChar char="•"/>
            </a:pPr>
            <a:r>
              <a:rPr lang="en-US" altLang="en-US" sz="2400" dirty="0"/>
              <a:t>Applying </a:t>
            </a:r>
            <a:r>
              <a:rPr lang="en-US" altLang="en-US" sz="2400" b="1" dirty="0"/>
              <a:t>theoretical knowledge to practical tasks</a:t>
            </a:r>
            <a:endParaRPr lang="en-US" altLang="en-US" sz="2400" dirty="0"/>
          </a:p>
          <a:p>
            <a:pPr marL="0" lvl="0" indent="0" eaLnBrk="0" fontAlgn="base" hangingPunct="0">
              <a:lnSpc>
                <a:spcPct val="100000"/>
              </a:lnSpc>
              <a:spcBef>
                <a:spcPct val="0"/>
              </a:spcBef>
              <a:spcAft>
                <a:spcPct val="0"/>
              </a:spcAft>
              <a:buFontTx/>
              <a:buChar char="•"/>
            </a:pPr>
            <a:r>
              <a:rPr lang="en-US" altLang="en-US" sz="2400" dirty="0"/>
              <a:t>Managing time between </a:t>
            </a:r>
            <a:r>
              <a:rPr lang="en-US" altLang="en-US" sz="2400" b="1" dirty="0"/>
              <a:t>learning and assigned tasks</a:t>
            </a:r>
            <a:endParaRPr lang="en-US" altLang="en-US" sz="2400" dirty="0"/>
          </a:p>
          <a:p>
            <a:pPr marL="0" lvl="0" indent="0" eaLnBrk="0" fontAlgn="base" hangingPunct="0">
              <a:lnSpc>
                <a:spcPct val="100000"/>
              </a:lnSpc>
              <a:spcBef>
                <a:spcPct val="0"/>
              </a:spcBef>
              <a:spcAft>
                <a:spcPct val="0"/>
              </a:spcAft>
              <a:buFontTx/>
              <a:buChar char="•"/>
            </a:pPr>
            <a:r>
              <a:rPr lang="en-US" altLang="en-US" sz="2400" dirty="0"/>
              <a:t>Gaining confidence while asking questions and seeking guidance</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93859" y="1605786"/>
            <a:ext cx="10515600" cy="4058194"/>
          </a:xfrm>
        </p:spPr>
        <p:txBody>
          <a:bodyPr/>
          <a:lstStyle/>
          <a:p>
            <a:pPr marL="0" lvl="0" indent="0" eaLnBrk="0" fontAlgn="base" hangingPunct="0">
              <a:lnSpc>
                <a:spcPct val="100000"/>
              </a:lnSpc>
              <a:spcBef>
                <a:spcPct val="0"/>
              </a:spcBef>
              <a:spcAft>
                <a:spcPct val="0"/>
              </a:spcAft>
              <a:buFontTx/>
              <a:buChar char="•"/>
            </a:pPr>
            <a:r>
              <a:rPr lang="en-US" altLang="en-US" sz="2400" dirty="0"/>
              <a:t>To understand how real-world software development works</a:t>
            </a:r>
          </a:p>
          <a:p>
            <a:pPr marL="0" lvl="0" indent="0" eaLnBrk="0" fontAlgn="base" hangingPunct="0">
              <a:lnSpc>
                <a:spcPct val="100000"/>
              </a:lnSpc>
              <a:spcBef>
                <a:spcPct val="0"/>
              </a:spcBef>
              <a:spcAft>
                <a:spcPct val="0"/>
              </a:spcAft>
              <a:buFontTx/>
              <a:buChar char="•"/>
            </a:pPr>
            <a:r>
              <a:rPr lang="en-US" altLang="en-US" sz="2400" dirty="0"/>
              <a:t>To improve my skills in both </a:t>
            </a:r>
            <a:r>
              <a:rPr lang="en-US" altLang="en-US" sz="2400" b="1" dirty="0"/>
              <a:t>Front-end and Back-end</a:t>
            </a:r>
            <a:r>
              <a:rPr lang="en-US" altLang="en-US" sz="2400" dirty="0"/>
              <a:t>.</a:t>
            </a:r>
          </a:p>
          <a:p>
            <a:pPr marL="0" lvl="0" indent="0" eaLnBrk="0" fontAlgn="base" hangingPunct="0">
              <a:lnSpc>
                <a:spcPct val="100000"/>
              </a:lnSpc>
              <a:spcBef>
                <a:spcPct val="0"/>
              </a:spcBef>
              <a:spcAft>
                <a:spcPct val="0"/>
              </a:spcAft>
              <a:buFontTx/>
              <a:buChar char="•"/>
            </a:pPr>
            <a:r>
              <a:rPr lang="en-US" altLang="en-US" sz="2400" dirty="0"/>
              <a:t>To apply classroom concepts to practical tasks and mini projects</a:t>
            </a:r>
          </a:p>
          <a:p>
            <a:pPr marL="0" lvl="0" indent="0" eaLnBrk="0" fontAlgn="base" hangingPunct="0">
              <a:lnSpc>
                <a:spcPct val="100000"/>
              </a:lnSpc>
              <a:spcBef>
                <a:spcPct val="0"/>
              </a:spcBef>
              <a:spcAft>
                <a:spcPct val="0"/>
              </a:spcAft>
              <a:buFontTx/>
              <a:buChar char="•"/>
            </a:pPr>
            <a:r>
              <a:rPr lang="en-US" altLang="en-US" sz="2400" dirty="0"/>
              <a:t>To follow proper coding standards and development practices</a:t>
            </a:r>
          </a:p>
          <a:p>
            <a:pPr marL="0" lvl="0" indent="0" eaLnBrk="0" fontAlgn="base" hangingPunct="0">
              <a:lnSpc>
                <a:spcPct val="100000"/>
              </a:lnSpc>
              <a:spcBef>
                <a:spcPct val="0"/>
              </a:spcBef>
              <a:spcAft>
                <a:spcPct val="0"/>
              </a:spcAft>
              <a:buFontTx/>
              <a:buChar char="•"/>
            </a:pPr>
            <a:r>
              <a:rPr lang="en-US" altLang="en-US" sz="2400" dirty="0"/>
              <a:t>To gain confidence in working on assigned tasks independently</a:t>
            </a:r>
          </a:p>
          <a:p>
            <a:pPr marL="0" lvl="0" indent="0" eaLnBrk="0" fontAlgn="base" hangingPunct="0">
              <a:lnSpc>
                <a:spcPct val="100000"/>
              </a:lnSpc>
              <a:spcBef>
                <a:spcPct val="0"/>
              </a:spcBef>
              <a:spcAft>
                <a:spcPct val="0"/>
              </a:spcAft>
              <a:buFontTx/>
              <a:buChar char="•"/>
            </a:pPr>
            <a:r>
              <a:rPr lang="en-US" altLang="en-US" sz="2400" dirty="0"/>
              <a:t>To prepare myself for contributing to major projects in later stages of the internship</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679174" y="1343393"/>
            <a:ext cx="10515600" cy="4058194"/>
          </a:xfrm>
        </p:spPr>
        <p:txBody>
          <a:bodyPr>
            <a:normAutofit/>
          </a:bodyPr>
          <a:lstStyle/>
          <a:p>
            <a:r>
              <a:rPr lang="en-US" sz="2400" dirty="0"/>
              <a:t>Before starting the development process, I explored backend development using </a:t>
            </a:r>
            <a:r>
              <a:rPr lang="en-US" sz="2400" b="1" dirty="0"/>
              <a:t>Django</a:t>
            </a:r>
            <a:r>
              <a:rPr lang="en-US" sz="2400" dirty="0"/>
              <a:t>, </a:t>
            </a:r>
            <a:r>
              <a:rPr lang="en-US" sz="2400" b="1" dirty="0"/>
              <a:t>Django REST Framework</a:t>
            </a:r>
            <a:r>
              <a:rPr lang="en-US" sz="2400" dirty="0"/>
              <a:t>, and </a:t>
            </a:r>
            <a:r>
              <a:rPr lang="en-US" sz="2400" b="1" dirty="0" err="1"/>
              <a:t>GraphQL</a:t>
            </a:r>
            <a:r>
              <a:rPr lang="en-US" sz="2400" dirty="0"/>
              <a:t>. I learned core concepts such as </a:t>
            </a:r>
            <a:r>
              <a:rPr lang="en-US" sz="2400" b="1" dirty="0"/>
              <a:t>API design, layered architecture, data validation, and exception handling</a:t>
            </a:r>
            <a:r>
              <a:rPr lang="en-US" sz="2400" dirty="0"/>
              <a:t>.</a:t>
            </a:r>
          </a:p>
          <a:p>
            <a:r>
              <a:rPr lang="en-US" sz="2400" dirty="0"/>
              <a:t>Based on this, I implemented the backend using </a:t>
            </a:r>
            <a:r>
              <a:rPr lang="en-US" sz="2400" b="1" dirty="0"/>
              <a:t>Django</a:t>
            </a:r>
            <a:r>
              <a:rPr lang="en-US" sz="2400" dirty="0"/>
              <a:t>, built APIs with </a:t>
            </a:r>
            <a:r>
              <a:rPr lang="en-US" sz="2400" b="1" dirty="0"/>
              <a:t>Django REST Framework</a:t>
            </a:r>
            <a:r>
              <a:rPr lang="en-US" sz="2400" dirty="0"/>
              <a:t>, and designed </a:t>
            </a:r>
            <a:r>
              <a:rPr lang="en-US" sz="2400" b="1" dirty="0" err="1"/>
              <a:t>GraphQL</a:t>
            </a:r>
            <a:r>
              <a:rPr lang="en-US" sz="2400" b="1" dirty="0"/>
              <a:t> queries and mutations using the Graphene package</a:t>
            </a:r>
            <a:r>
              <a:rPr lang="en-US" sz="2400" dirty="0"/>
              <a:t>. The frontend was developed using </a:t>
            </a:r>
            <a:r>
              <a:rPr lang="en-US" sz="2400" b="1" dirty="0"/>
              <a:t>HTML, CSS, and JavaScript</a:t>
            </a:r>
            <a:r>
              <a:rPr lang="en-US" sz="2400" dirty="0"/>
              <a:t> to interact with the backend services. This preparation helped me effectively complete my assigned tasks and understand how my modules fit into the overall project.</a:t>
            </a:r>
          </a:p>
          <a:p>
            <a:r>
              <a:rPr lang="en-US" sz="2400" dirty="0"/>
              <a:t>I worked on integrating the frontend with backend APIs to ensure smooth data flow and proper request–response handling</a:t>
            </a:r>
            <a:r>
              <a:rPr lang="en-US" dirty="0"/>
              <a: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normAutofit fontScale="85000" lnSpcReduction="20000"/>
          </a:bodyPr>
          <a:lstStyle/>
          <a:p>
            <a:r>
              <a:rPr lang="en-US" dirty="0"/>
              <a:t>The proposed work for the internship period involves the development of both backend and frontend components of a web-based application. Initially, I am working on a demo project called </a:t>
            </a:r>
            <a:r>
              <a:rPr lang="en-US" b="1" dirty="0" err="1"/>
              <a:t>FoodApp</a:t>
            </a:r>
            <a:r>
              <a:rPr lang="en-US" dirty="0"/>
              <a:t> to gain practical experience in full-stack development. This includes designing RESTful APIs, managing user and product data, implementing authentication, and integrating frontend interfaces with backend services.</a:t>
            </a:r>
          </a:p>
          <a:p>
            <a:r>
              <a:rPr lang="en-US" dirty="0"/>
              <a:t>The application follows a layered architecture where controllers handle requests, the service layer manages business logic, and models define data structures. Basic frontend development is involved to build user interfaces, handle user input, and display data dynamically with proper validation and error handling.</a:t>
            </a:r>
          </a:p>
          <a:p>
            <a:r>
              <a:rPr lang="en-US" dirty="0"/>
              <a:t>Within the next 15 days, I will transition to the main project, </a:t>
            </a:r>
            <a:r>
              <a:rPr lang="en-US" b="1" dirty="0"/>
              <a:t>SD Port</a:t>
            </a:r>
            <a:r>
              <a:rPr lang="en-US" dirty="0"/>
              <a:t>, which serves clients from the United States. This project will involve contributing to scalable backend services, database management, and supporting frontend features for a smooth and reliable user experience.</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271831"/>
            <a:ext cx="10515600" cy="4058194"/>
          </a:xfrm>
        </p:spPr>
        <p:txBody>
          <a:bodyPr>
            <a:normAutofit fontScale="77500" lnSpcReduction="20000"/>
          </a:bodyPr>
          <a:lstStyle/>
          <a:p>
            <a:r>
              <a:rPr lang="en-US" dirty="0"/>
              <a:t>Organizations that manage large-scale operations and client data often face challenges in handling information efficiently, ensuring secure access, and maintaining smooth communication between different system components. Manual or fragmented systems can lead to data inconsistency, limited scalability, and reduced operational efficiency, especially when serving international clients.</a:t>
            </a:r>
          </a:p>
          <a:p>
            <a:r>
              <a:rPr lang="en-US" dirty="0"/>
              <a:t>The </a:t>
            </a:r>
            <a:r>
              <a:rPr lang="en-US" b="1" dirty="0"/>
              <a:t>SD Port</a:t>
            </a:r>
            <a:r>
              <a:rPr lang="en-US" dirty="0"/>
              <a:t> project aims to address these challenges by developing a secure, scalable, and client-oriented web application for managing business operations and data workflows. The system focuses on building robust backend services, secure API integration, and efficient database management, along with frontend components that provide intuitive user interfaces for interaction. A layered architecture is adopted to separate request handling, business logic, and data models, ensuring maintainability and performance.</a:t>
            </a:r>
          </a:p>
          <a:p>
            <a:r>
              <a:rPr lang="en-US" dirty="0"/>
              <a:t>By providing a centralized digital platform, SD Port improves process automation, data reliability, and communication efficiency, delivering a production-ready solution tailored to meet the needs of clients from the United States.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715501"/>
          </a:xfrm>
        </p:spPr>
        <p:txBody>
          <a:bodyPr>
            <a:normAutofit fontScale="40000" lnSpcReduction="20000"/>
          </a:bodyPr>
          <a:lstStyle/>
          <a:p>
            <a:r>
              <a:rPr lang="en-US" sz="5000" b="1" dirty="0"/>
              <a:t>Hardware Requirements</a:t>
            </a:r>
          </a:p>
          <a:p>
            <a:r>
              <a:rPr lang="en-US" sz="5000" dirty="0"/>
              <a:t>Processor: Intel Core i5 or higher</a:t>
            </a:r>
          </a:p>
          <a:p>
            <a:r>
              <a:rPr lang="en-US" sz="5000" dirty="0"/>
              <a:t>RAM: Minimum 8 GB</a:t>
            </a:r>
          </a:p>
          <a:p>
            <a:r>
              <a:rPr lang="en-US" sz="5000" dirty="0"/>
              <a:t>Storage: Minimum 20 GB free disk space</a:t>
            </a:r>
          </a:p>
          <a:p>
            <a:r>
              <a:rPr lang="en-US" sz="5000" dirty="0"/>
              <a:t>Internet Connection: Stable broadband connection</a:t>
            </a:r>
          </a:p>
          <a:p>
            <a:r>
              <a:rPr lang="en-US" sz="5000" b="1" dirty="0"/>
              <a:t>Software Requirements</a:t>
            </a:r>
          </a:p>
          <a:p>
            <a:r>
              <a:rPr lang="en-US" sz="5000" dirty="0"/>
              <a:t>Operating System: Windows 10/11 or Linux</a:t>
            </a:r>
          </a:p>
          <a:p>
            <a:r>
              <a:rPr lang="en-US" sz="5000" dirty="0"/>
              <a:t>Backend Framework: Django </a:t>
            </a:r>
          </a:p>
          <a:p>
            <a:r>
              <a:rPr lang="en-US" sz="5000" dirty="0"/>
              <a:t>Frontend Technologies: HTML, CSS, JavaScript </a:t>
            </a:r>
          </a:p>
          <a:p>
            <a:r>
              <a:rPr lang="en-US" sz="5000" dirty="0"/>
              <a:t>Database: </a:t>
            </a:r>
            <a:r>
              <a:rPr lang="en-US" sz="5000"/>
              <a:t>GraphQL</a:t>
            </a:r>
            <a:endParaRPr lang="en-US" sz="5000" dirty="0"/>
          </a:p>
          <a:p>
            <a:r>
              <a:rPr lang="en-US" sz="5000" dirty="0"/>
              <a:t>Development Tools:</a:t>
            </a:r>
          </a:p>
          <a:p>
            <a:pPr marL="457200" lvl="1" indent="0">
              <a:buNone/>
            </a:pPr>
            <a:r>
              <a:rPr lang="en-US" sz="5000" dirty="0"/>
              <a:t>IDE: VS Code , Version Control: Git &amp; GitHub</a:t>
            </a:r>
          </a:p>
          <a:p>
            <a:r>
              <a:rPr lang="en-US" sz="5000" dirty="0"/>
              <a:t>API Testing Tool: </a:t>
            </a:r>
            <a:r>
              <a:rPr lang="en-US" sz="5000" dirty="0" err="1"/>
              <a:t>ThunderClient</a:t>
            </a:r>
            <a:r>
              <a:rPr lang="en-US" sz="5000" dirty="0"/>
              <a:t> , Containerization: Docker</a:t>
            </a:r>
          </a:p>
          <a:p>
            <a:r>
              <a:rPr lang="en-US" sz="5000" dirty="0"/>
              <a:t>Authentication: JWT-based authentication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5" name="Rectangle 1">
            <a:extLst>
              <a:ext uri="{FF2B5EF4-FFF2-40B4-BE49-F238E27FC236}">
                <a16:creationId xmlns:a16="http://schemas.microsoft.com/office/drawing/2014/main" id="{18759383-C7F8-3E22-67B5-20B0CE647AA1}"/>
              </a:ext>
            </a:extLst>
          </p:cNvPr>
          <p:cNvSpPr>
            <a:spLocks noGrp="1" noChangeArrowheads="1"/>
          </p:cNvSpPr>
          <p:nvPr>
            <p:ph idx="1"/>
          </p:nvPr>
        </p:nvSpPr>
        <p:spPr bwMode="auto">
          <a:xfrm>
            <a:off x="677978" y="1453906"/>
            <a:ext cx="1083604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Automation of Processes:</a:t>
            </a:r>
            <a:r>
              <a:rPr kumimoji="0" lang="en-US" altLang="en-US" sz="1800" b="0" i="0" u="none" strike="noStrike" cap="none" normalizeH="0" baseline="0" dirty="0">
                <a:ln>
                  <a:noFill/>
                </a:ln>
                <a:solidFill>
                  <a:schemeClr val="tx1"/>
                </a:solidFill>
                <a:effectLst/>
                <a:latin typeface="Arial" panose="020B0604020202020204" pitchFamily="34" charset="0"/>
              </a:rPr>
              <a:t> Reduces manual effort by automating data handling,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order management, and system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Improved Data Accuracy:</a:t>
            </a:r>
            <a:r>
              <a:rPr kumimoji="0" lang="en-US" altLang="en-US" sz="1800" b="0" i="0" u="none" strike="noStrike" cap="none" normalizeH="0" baseline="0" dirty="0">
                <a:ln>
                  <a:noFill/>
                </a:ln>
                <a:solidFill>
                  <a:schemeClr val="tx1"/>
                </a:solidFill>
                <a:effectLst/>
                <a:latin typeface="Arial" panose="020B0604020202020204" pitchFamily="34" charset="0"/>
              </a:rPr>
              <a:t> Validation and structured data storage minimize errors and inconsistencies.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Scalable Architecture:</a:t>
            </a:r>
            <a:r>
              <a:rPr kumimoji="0" lang="en-US" altLang="en-US" sz="1800" b="0" i="0" u="none" strike="noStrike" cap="none" normalizeH="0" baseline="0" dirty="0">
                <a:ln>
                  <a:noFill/>
                </a:ln>
                <a:solidFill>
                  <a:schemeClr val="tx1"/>
                </a:solidFill>
                <a:effectLst/>
                <a:latin typeface="Arial" panose="020B0604020202020204" pitchFamily="34" charset="0"/>
              </a:rPr>
              <a:t> Layered design allows the system to scale easily as users and clients increase.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Security:</a:t>
            </a:r>
            <a:r>
              <a:rPr kumimoji="0" lang="en-US" altLang="en-US" sz="1800" b="0" i="0" u="none" strike="noStrike" cap="none" normalizeH="0" baseline="0" dirty="0">
                <a:ln>
                  <a:noFill/>
                </a:ln>
                <a:solidFill>
                  <a:schemeClr val="tx1"/>
                </a:solidFill>
                <a:effectLst/>
                <a:latin typeface="Arial" panose="020B0604020202020204" pitchFamily="34" charset="0"/>
              </a:rPr>
              <a:t> Authentication and authorization mechanisms ensure secure access to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system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Efficient Data Management:</a:t>
            </a:r>
            <a:r>
              <a:rPr kumimoji="0" lang="en-US" altLang="en-US" sz="1800" b="0" i="0" u="none" strike="noStrike" cap="none" normalizeH="0" baseline="0" dirty="0">
                <a:ln>
                  <a:noFill/>
                </a:ln>
                <a:solidFill>
                  <a:schemeClr val="tx1"/>
                </a:solidFill>
                <a:effectLst/>
                <a:latin typeface="Arial" panose="020B0604020202020204" pitchFamily="34" charset="0"/>
              </a:rPr>
              <a:t> Centralized database enables reliable storage, retrieval,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and management of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Seamless Frontend–Backend Integration:</a:t>
            </a:r>
            <a:r>
              <a:rPr kumimoji="0" lang="en-US" altLang="en-US" sz="1800" b="0" i="0" u="none" strike="noStrike" cap="none" normalizeH="0" baseline="0" dirty="0">
                <a:ln>
                  <a:noFill/>
                </a:ln>
                <a:solidFill>
                  <a:schemeClr val="tx1"/>
                </a:solidFill>
                <a:effectLst/>
                <a:latin typeface="Arial" panose="020B0604020202020204" pitchFamily="34" charset="0"/>
              </a:rPr>
              <a:t> API-based communication ensures smooth interaction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between user interfaces and backend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Maintainability:</a:t>
            </a:r>
            <a:r>
              <a:rPr kumimoji="0" lang="en-US" altLang="en-US" sz="1800" b="0" i="0" u="none" strike="noStrike" cap="none" normalizeH="0" baseline="0" dirty="0">
                <a:ln>
                  <a:noFill/>
                </a:ln>
                <a:solidFill>
                  <a:schemeClr val="tx1"/>
                </a:solidFill>
                <a:effectLst/>
                <a:latin typeface="Arial" panose="020B0604020202020204" pitchFamily="34" charset="0"/>
              </a:rPr>
              <a:t> Modular code structure makes the system easier to update, test, and extend.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Real-World Application Exposure:</a:t>
            </a:r>
            <a:r>
              <a:rPr kumimoji="0" lang="en-US" altLang="en-US" sz="1800" b="0" i="0" u="none" strike="noStrike" cap="none" normalizeH="0" baseline="0" dirty="0">
                <a:ln>
                  <a:noFill/>
                </a:ln>
                <a:solidFill>
                  <a:schemeClr val="tx1"/>
                </a:solidFill>
                <a:effectLst/>
                <a:latin typeface="Arial" panose="020B0604020202020204" pitchFamily="34" charset="0"/>
              </a:rPr>
              <a:t> Provides hands-on experience in building production-ready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applications for international clients.</a:t>
            </a:r>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856954432"/>
              </p:ext>
            </p:extLst>
          </p:nvPr>
        </p:nvGraphicFramePr>
        <p:xfrm>
          <a:off x="838200" y="1200647"/>
          <a:ext cx="10515600" cy="40680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3" name="Content Placeholder 2"/>
          <p:cNvSpPr>
            <a:spLocks noGrp="1"/>
          </p:cNvSpPr>
          <p:nvPr>
            <p:ph idx="1"/>
          </p:nvPr>
        </p:nvSpPr>
        <p:spPr>
          <a:xfrm>
            <a:off x="454260" y="1253331"/>
            <a:ext cx="10515600" cy="4351338"/>
          </a:xfrm>
        </p:spPr>
        <p:txBody>
          <a:bodyPr/>
          <a:lstStyle/>
          <a:p>
            <a:r>
              <a:rPr lang="en-US" dirty="0"/>
              <a:t>https://github.com/annoliviam/internship</a:t>
            </a:r>
          </a:p>
        </p:txBody>
      </p:sp>
    </p:spTree>
    <p:extLst>
      <p:ext uri="{BB962C8B-B14F-4D97-AF65-F5344CB8AC3E}">
        <p14:creationId xmlns:p14="http://schemas.microsoft.com/office/powerpoint/2010/main" val="295621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15</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7958</TotalTime>
  <Words>1525</Words>
  <Application>Microsoft Office PowerPoint</Application>
  <PresentationFormat>Widescreen</PresentationFormat>
  <Paragraphs>150</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ann olivia</cp:lastModifiedBy>
  <cp:revision>720</cp:revision>
  <dcterms:created xsi:type="dcterms:W3CDTF">2022-10-14T07:18:17Z</dcterms:created>
  <dcterms:modified xsi:type="dcterms:W3CDTF">2026-04-26T11:14:52Z</dcterms:modified>
</cp:coreProperties>
</file>