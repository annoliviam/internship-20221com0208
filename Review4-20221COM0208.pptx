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9" r:id="rId2"/>
    <p:sldId id="270" r:id="rId3"/>
    <p:sldId id="261" r:id="rId4"/>
    <p:sldId id="262" r:id="rId5"/>
    <p:sldId id="263" r:id="rId6"/>
    <p:sldId id="264" r:id="rId7"/>
    <p:sldId id="265" r:id="rId8"/>
    <p:sldId id="271" r:id="rId9"/>
    <p:sldId id="272" r:id="rId10"/>
    <p:sldId id="273" r:id="rId11"/>
    <p:sldId id="274" r:id="rId12"/>
    <p:sldId id="275" r:id="rId13"/>
    <p:sldId id="276" r:id="rId14"/>
    <p:sldId id="282" r:id="rId15"/>
    <p:sldId id="277" r:id="rId16"/>
    <p:sldId id="278" r:id="rId17"/>
    <p:sldId id="279" r:id="rId18"/>
    <p:sldId id="280" r:id="rId19"/>
    <p:sldId id="268" r:id="rId20"/>
    <p:sldId id="26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3" autoAdjust="0"/>
    <p:restoredTop sz="94660"/>
  </p:normalViewPr>
  <p:slideViewPr>
    <p:cSldViewPr snapToGrid="0">
      <p:cViewPr varScale="1">
        <p:scale>
          <a:sx n="96" d="100"/>
          <a:sy n="96" d="100"/>
        </p:scale>
        <p:origin x="28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26/04/2026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F66083A-C1B7-4B46-82C5-289BB6E6D5A4}" type="datetime1">
              <a:rPr lang="en-IN" smtClean="0"/>
              <a:t>26-04-2026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t>26-04-2026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3E8F52-857A-4C89-954C-57943DB51290}" type="datetime1">
              <a:rPr lang="en-IN" smtClean="0"/>
              <a:t>26-04-2026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BBD7B4D-DDD6-4CA2-87A0-9BDD5E5268EC}" type="datetime1">
              <a:rPr lang="en-IN" smtClean="0"/>
              <a:t>26-04-2026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130D9E5-0635-43A8-8973-488E7408FAF7}" type="datetime1">
              <a:rPr lang="en-IN" smtClean="0"/>
              <a:t>26-04-2026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1D0CEA8-D591-4CC9-939A-A3BE6FD93E89}" type="datetime1">
              <a:rPr lang="en-IN" smtClean="0"/>
              <a:t>26-04-2026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BE2297-DC8B-48E6-B6D6-34773F9A5984}" type="datetime1">
              <a:rPr lang="en-IN" smtClean="0"/>
              <a:t>26-04-2026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C2A547-6E4B-4188-9BD5-035CB9C4BCC5}" type="datetime1">
              <a:rPr lang="en-IN" smtClean="0"/>
              <a:t>26-04-2026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706E29-16A1-4AAE-B55B-4E3DB7265605}" type="datetime1">
              <a:rPr lang="en-IN" smtClean="0"/>
              <a:t>26-04-2026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FC26915-BE00-456E-A9CA-DB9FE1FD674A}" type="datetime1">
              <a:rPr lang="en-IN" smtClean="0"/>
              <a:t>26-04-2026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AA2D233-408A-4415-B919-B7ECAA5043E2}" type="datetime1">
              <a:rPr lang="en-IN" smtClean="0"/>
              <a:t>26-04-2026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26-04-2026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Dr./Mr./Ms./Prof.</a:t>
            </a:r>
            <a:r>
              <a:rPr lang="en-US" alt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t>
            </a:r>
            <a:r>
              <a:rPr lang="en-GB"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Mohamed Shakir</a:t>
            </a:r>
            <a:r>
              <a:rPr lang="en-US" altLang="en-GB"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2000" b="1" dirty="0" err="1">
                <a:latin typeface="Cambria" panose="02040503050406030204" pitchFamily="18" charset="0"/>
                <a:ea typeface="Cambria" panose="02040503050406030204" pitchFamily="18" charset="0"/>
                <a:cs typeface="Verdana" panose="020B0604030504040204"/>
                <a:sym typeface="Verdana" panose="020B0604030504040204"/>
              </a:rPr>
              <a:t>B.Tech</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Dr. Gopal Krishna Shyam</a:t>
            </a:r>
            <a:endPar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Internship Coordinator: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Mr. Sreehari T M</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Internship Coordinator: </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 name="Title 1"/>
          <p:cNvSpPr txBox="1"/>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panose="020B0604030504040204"/>
              <a:buNone/>
              <a:defRPr sz="2800" b="1" i="0" u="none" strike="noStrike" cap="none">
                <a:solidFill>
                  <a:srgbClr val="17365D"/>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Review-4 Presentation </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Elevator Maintenance and </a:t>
            </a:r>
            <a:r>
              <a:rPr lang="en-US" sz="2400">
                <a:solidFill>
                  <a:srgbClr val="0070C0"/>
                </a:solidFill>
                <a:latin typeface="Times New Roman" panose="02020603050405020304" pitchFamily="18" charset="0"/>
                <a:ea typeface="Tahoma" panose="020B0604030504040204" pitchFamily="34" charset="0"/>
                <a:cs typeface="Times New Roman" panose="02020603050405020304" pitchFamily="18" charset="0"/>
              </a:rPr>
              <a:t>Asset Tracking App</a:t>
            </a:r>
            <a:br>
              <a:rPr lang="en-US" sz="2400"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0000"/>
                    </a:ext>
                  </a:extLst>
                </a:gridCol>
                <a:gridCol w="3950282">
                  <a:extLst>
                    <a:ext uri="{9D8B030D-6E8A-4147-A177-3AD203B41FA5}">
                      <a16:colId xmlns:a16="http://schemas.microsoft.com/office/drawing/2014/main" val="2000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endParaRPr lang="en-US"/>
                    </a:p>
                  </a:txBody>
                  <a:tcPr/>
                </a:tc>
                <a:extLst>
                  <a:ext uri="{0D108BD9-81ED-4DB2-BD59-A6C34878D82A}">
                    <a16:rowId xmlns:a16="http://schemas.microsoft.com/office/drawing/2014/main" val="10000"/>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Ann Olivia M</a:t>
                      </a:r>
                    </a:p>
                  </a:txBody>
                  <a:tcPr/>
                </a:tc>
                <a:extLst>
                  <a:ext uri="{0D108BD9-81ED-4DB2-BD59-A6C34878D82A}">
                    <a16:rowId xmlns:a16="http://schemas.microsoft.com/office/drawing/2014/main" val="10001"/>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20221COM0208</a:t>
                      </a:r>
                    </a:p>
                  </a:txBody>
                  <a:tcPr/>
                </a:tc>
                <a:extLst>
                  <a:ext uri="{0D108BD9-81ED-4DB2-BD59-A6C34878D82A}">
                    <a16:rowId xmlns:a16="http://schemas.microsoft.com/office/drawing/2014/main" val="100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8-COM-01</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377968"/>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Design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Implementation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Testing</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Conclusion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References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617855" y="1191716"/>
            <a:ext cx="10515600" cy="4193176"/>
          </a:xfrm>
        </p:spPr>
        <p:txBody>
          <a:bodyPr>
            <a:noAutofit/>
          </a:bodyPr>
          <a:lstStyle/>
          <a:p>
            <a:r>
              <a:rPr lang="en-US" sz="2200" b="1" dirty="0" err="1">
                <a:latin typeface="Times New Roman" panose="02020603050405020304" pitchFamily="18" charset="0"/>
                <a:cs typeface="Times New Roman" panose="02020603050405020304" pitchFamily="18" charset="0"/>
                <a:sym typeface="+mn-ea"/>
              </a:rPr>
              <a:t>Axxonet</a:t>
            </a:r>
            <a:r>
              <a:rPr lang="en-US" sz="2200" b="1" dirty="0">
                <a:latin typeface="Times New Roman" panose="02020603050405020304" pitchFamily="18" charset="0"/>
                <a:cs typeface="Times New Roman" panose="02020603050405020304" pitchFamily="18" charset="0"/>
                <a:sym typeface="+mn-ea"/>
              </a:rPr>
              <a:t> Technologies - </a:t>
            </a:r>
            <a:r>
              <a:rPr lang="en-US" sz="2200" dirty="0">
                <a:latin typeface="Times New Roman" panose="02020603050405020304" pitchFamily="18" charset="0"/>
                <a:cs typeface="Times New Roman" panose="02020603050405020304" pitchFamily="18" charset="0"/>
                <a:sym typeface="+mn-ea"/>
              </a:rPr>
              <a:t>is a Bangalore-based technology and research-driven company founded in the year 2000.</a:t>
            </a:r>
            <a:br>
              <a:rPr lang="en-US" sz="2200" dirty="0">
                <a:latin typeface="Times New Roman" panose="02020603050405020304" pitchFamily="18" charset="0"/>
                <a:cs typeface="Times New Roman" panose="02020603050405020304" pitchFamily="18" charset="0"/>
                <a:sym typeface="+mn-ea"/>
              </a:rPr>
            </a:br>
            <a:r>
              <a:rPr lang="en-US" sz="2200" dirty="0">
                <a:latin typeface="Times New Roman" panose="02020603050405020304" pitchFamily="18" charset="0"/>
                <a:cs typeface="Times New Roman" panose="02020603050405020304" pitchFamily="18" charset="0"/>
                <a:sym typeface="+mn-ea"/>
              </a:rPr>
              <a:t>The company focuses on delivering innovative </a:t>
            </a:r>
            <a:r>
              <a:rPr lang="en-US" sz="2200" b="1" dirty="0">
                <a:latin typeface="Times New Roman" panose="02020603050405020304" pitchFamily="18" charset="0"/>
                <a:cs typeface="Times New Roman" panose="02020603050405020304" pitchFamily="18" charset="0"/>
                <a:sym typeface="+mn-ea"/>
              </a:rPr>
              <a:t>IT solutions</a:t>
            </a:r>
            <a:r>
              <a:rPr lang="en-US" sz="2200" dirty="0">
                <a:latin typeface="Times New Roman" panose="02020603050405020304" pitchFamily="18" charset="0"/>
                <a:cs typeface="Times New Roman" panose="02020603050405020304" pitchFamily="18" charset="0"/>
                <a:sym typeface="+mn-ea"/>
              </a:rPr>
              <a:t>, </a:t>
            </a:r>
            <a:r>
              <a:rPr lang="en-US" sz="2200" b="1" dirty="0">
                <a:latin typeface="Times New Roman" panose="02020603050405020304" pitchFamily="18" charset="0"/>
                <a:cs typeface="Times New Roman" panose="02020603050405020304" pitchFamily="18" charset="0"/>
                <a:sym typeface="+mn-ea"/>
              </a:rPr>
              <a:t>analytics</a:t>
            </a:r>
            <a:r>
              <a:rPr lang="en-US" sz="2200" dirty="0">
                <a:latin typeface="Times New Roman" panose="02020603050405020304" pitchFamily="18" charset="0"/>
                <a:cs typeface="Times New Roman" panose="02020603050405020304" pitchFamily="18" charset="0"/>
                <a:sym typeface="+mn-ea"/>
              </a:rPr>
              <a:t>, and </a:t>
            </a:r>
            <a:r>
              <a:rPr lang="en-US" sz="2200" b="1" dirty="0">
                <a:latin typeface="Times New Roman" panose="02020603050405020304" pitchFamily="18" charset="0"/>
                <a:cs typeface="Times New Roman" panose="02020603050405020304" pitchFamily="18" charset="0"/>
                <a:sym typeface="+mn-ea"/>
              </a:rPr>
              <a:t>digital transformation services.</a:t>
            </a:r>
            <a:endParaRPr lang="en-US" sz="2200" b="1" dirty="0">
              <a:latin typeface="Times New Roman" panose="02020603050405020304" pitchFamily="18" charset="0"/>
              <a:cs typeface="Times New Roman" panose="02020603050405020304" pitchFamily="18" charset="0"/>
            </a:endParaRPr>
          </a:p>
          <a:p>
            <a:r>
              <a:rPr lang="en-US" sz="2200" dirty="0" err="1">
                <a:latin typeface="Times New Roman" panose="02020603050405020304" pitchFamily="18" charset="0"/>
                <a:cs typeface="Times New Roman" panose="02020603050405020304" pitchFamily="18" charset="0"/>
                <a:sym typeface="+mn-ea"/>
              </a:rPr>
              <a:t>Axxonet</a:t>
            </a:r>
            <a:r>
              <a:rPr lang="en-US" sz="2200" dirty="0">
                <a:latin typeface="Times New Roman" panose="02020603050405020304" pitchFamily="18" charset="0"/>
                <a:cs typeface="Times New Roman" panose="02020603050405020304" pitchFamily="18" charset="0"/>
                <a:sym typeface="+mn-ea"/>
              </a:rPr>
              <a:t> combines strong research capabilities with real-world business applications.</a:t>
            </a:r>
            <a:br>
              <a:rPr lang="en-US" sz="2200" dirty="0">
                <a:latin typeface="Times New Roman" panose="02020603050405020304" pitchFamily="18" charset="0"/>
                <a:cs typeface="Times New Roman" panose="02020603050405020304" pitchFamily="18" charset="0"/>
                <a:sym typeface="+mn-ea"/>
              </a:rPr>
            </a:br>
            <a:r>
              <a:rPr lang="en-US" sz="2200" dirty="0">
                <a:latin typeface="Times New Roman" panose="02020603050405020304" pitchFamily="18" charset="0"/>
                <a:cs typeface="Times New Roman" panose="02020603050405020304" pitchFamily="18" charset="0"/>
                <a:sym typeface="+mn-ea"/>
              </a:rPr>
              <a:t>It offers services in business intelligence, </a:t>
            </a:r>
            <a:r>
              <a:rPr lang="en-US" sz="2200" b="1" dirty="0">
                <a:latin typeface="Times New Roman" panose="02020603050405020304" pitchFamily="18" charset="0"/>
                <a:cs typeface="Times New Roman" panose="02020603050405020304" pitchFamily="18" charset="0"/>
                <a:sym typeface="+mn-ea"/>
              </a:rPr>
              <a:t>data analytics</a:t>
            </a:r>
            <a:r>
              <a:rPr lang="en-US" sz="2200" dirty="0">
                <a:latin typeface="Times New Roman" panose="02020603050405020304" pitchFamily="18" charset="0"/>
                <a:cs typeface="Times New Roman" panose="02020603050405020304" pitchFamily="18" charset="0"/>
                <a:sym typeface="+mn-ea"/>
              </a:rPr>
              <a:t>, </a:t>
            </a:r>
            <a:r>
              <a:rPr lang="en-US" sz="2200" b="1" dirty="0">
                <a:latin typeface="Times New Roman" panose="02020603050405020304" pitchFamily="18" charset="0"/>
                <a:cs typeface="Times New Roman" panose="02020603050405020304" pitchFamily="18" charset="0"/>
                <a:sym typeface="+mn-ea"/>
              </a:rPr>
              <a:t>DevOps</a:t>
            </a:r>
            <a:r>
              <a:rPr lang="en-US" sz="2200" dirty="0">
                <a:latin typeface="Times New Roman" panose="02020603050405020304" pitchFamily="18" charset="0"/>
                <a:cs typeface="Times New Roman" panose="02020603050405020304" pitchFamily="18" charset="0"/>
                <a:sym typeface="+mn-ea"/>
              </a:rPr>
              <a:t>, </a:t>
            </a:r>
            <a:r>
              <a:rPr lang="en-US" sz="2200" b="1" dirty="0">
                <a:latin typeface="Times New Roman" panose="02020603050405020304" pitchFamily="18" charset="0"/>
                <a:cs typeface="Times New Roman" panose="02020603050405020304" pitchFamily="18" charset="0"/>
                <a:sym typeface="+mn-ea"/>
              </a:rPr>
              <a:t>cloud solutions</a:t>
            </a:r>
            <a:r>
              <a:rPr lang="en-US" sz="2200" dirty="0">
                <a:latin typeface="Times New Roman" panose="02020603050405020304" pitchFamily="18" charset="0"/>
                <a:cs typeface="Times New Roman" panose="02020603050405020304" pitchFamily="18" charset="0"/>
                <a:sym typeface="+mn-ea"/>
              </a:rPr>
              <a:t>, and </a:t>
            </a:r>
            <a:r>
              <a:rPr lang="en-US" sz="2200" b="1" dirty="0">
                <a:latin typeface="Times New Roman" panose="02020603050405020304" pitchFamily="18" charset="0"/>
                <a:cs typeface="Times New Roman" panose="02020603050405020304" pitchFamily="18" charset="0"/>
                <a:sym typeface="+mn-ea"/>
              </a:rPr>
              <a:t>software development</a:t>
            </a:r>
            <a:r>
              <a:rPr lang="en-US" sz="2200" dirty="0">
                <a:latin typeface="Times New Roman" panose="02020603050405020304" pitchFamily="18" charset="0"/>
                <a:cs typeface="Times New Roman" panose="02020603050405020304" pitchFamily="18" charset="0"/>
                <a:sym typeface="+mn-ea"/>
              </a:rPr>
              <a:t>.</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sym typeface="+mn-ea"/>
              </a:rPr>
              <a:t>The organization is also well known for its work in </a:t>
            </a:r>
            <a:r>
              <a:rPr lang="en-US" sz="2200" b="1" dirty="0">
                <a:latin typeface="Times New Roman" panose="02020603050405020304" pitchFamily="18" charset="0"/>
                <a:cs typeface="Times New Roman" panose="02020603050405020304" pitchFamily="18" charset="0"/>
                <a:sym typeface="+mn-ea"/>
              </a:rPr>
              <a:t>healthcare</a:t>
            </a:r>
            <a:r>
              <a:rPr lang="en-US" sz="2200" dirty="0">
                <a:latin typeface="Times New Roman" panose="02020603050405020304" pitchFamily="18" charset="0"/>
                <a:cs typeface="Times New Roman" panose="02020603050405020304" pitchFamily="18" charset="0"/>
                <a:sym typeface="+mn-ea"/>
              </a:rPr>
              <a:t> and </a:t>
            </a:r>
            <a:r>
              <a:rPr lang="en-US" sz="2200" b="1" dirty="0">
                <a:latin typeface="Times New Roman" panose="02020603050405020304" pitchFamily="18" charset="0"/>
                <a:cs typeface="Times New Roman" panose="02020603050405020304" pitchFamily="18" charset="0"/>
                <a:sym typeface="+mn-ea"/>
              </a:rPr>
              <a:t>neuroscience technologies.</a:t>
            </a:r>
            <a:endParaRPr lang="en-US" sz="2200" b="1" dirty="0">
              <a:latin typeface="Times New Roman" panose="02020603050405020304" pitchFamily="18" charset="0"/>
              <a:cs typeface="Times New Roman" panose="02020603050405020304" pitchFamily="18" charset="0"/>
            </a:endParaRPr>
          </a:p>
          <a:p>
            <a:r>
              <a:rPr lang="en-US" sz="2200" dirty="0" err="1">
                <a:latin typeface="Times New Roman" panose="02020603050405020304" pitchFamily="18" charset="0"/>
                <a:cs typeface="Times New Roman" panose="02020603050405020304" pitchFamily="18" charset="0"/>
                <a:sym typeface="+mn-ea"/>
              </a:rPr>
              <a:t>Axxonet</a:t>
            </a:r>
            <a:r>
              <a:rPr lang="en-US" sz="2200" dirty="0">
                <a:latin typeface="Times New Roman" panose="02020603050405020304" pitchFamily="18" charset="0"/>
                <a:cs typeface="Times New Roman" panose="02020603050405020304" pitchFamily="18" charset="0"/>
                <a:sym typeface="+mn-ea"/>
              </a:rPr>
              <a:t> develops advanced medical and laboratory systems for research and clinical use.</a:t>
            </a:r>
            <a:br>
              <a:rPr lang="en-US" sz="2200" dirty="0">
                <a:latin typeface="Times New Roman" panose="02020603050405020304" pitchFamily="18" charset="0"/>
                <a:cs typeface="Times New Roman" panose="02020603050405020304" pitchFamily="18" charset="0"/>
                <a:sym typeface="+mn-ea"/>
              </a:rPr>
            </a:br>
            <a:r>
              <a:rPr lang="en-US" sz="2200" dirty="0">
                <a:latin typeface="Times New Roman" panose="02020603050405020304" pitchFamily="18" charset="0"/>
                <a:cs typeface="Times New Roman" panose="02020603050405020304" pitchFamily="18" charset="0"/>
                <a:sym typeface="+mn-ea"/>
              </a:rPr>
              <a:t>The company follows global quality standards and is </a:t>
            </a:r>
            <a:r>
              <a:rPr lang="en-US" sz="2200" b="1" dirty="0">
                <a:latin typeface="Times New Roman" panose="02020603050405020304" pitchFamily="18" charset="0"/>
                <a:cs typeface="Times New Roman" panose="02020603050405020304" pitchFamily="18" charset="0"/>
                <a:sym typeface="+mn-ea"/>
              </a:rPr>
              <a:t>ISO certified</a:t>
            </a:r>
            <a:r>
              <a:rPr lang="en-US" sz="2200" dirty="0">
                <a:latin typeface="Times New Roman" panose="02020603050405020304" pitchFamily="18" charset="0"/>
                <a:cs typeface="Times New Roman" panose="02020603050405020304" pitchFamily="18" charset="0"/>
                <a:sym typeface="+mn-ea"/>
              </a:rPr>
              <a:t>.</a:t>
            </a:r>
            <a:br>
              <a:rPr lang="en-US" sz="2200" dirty="0">
                <a:latin typeface="Times New Roman" panose="02020603050405020304" pitchFamily="18" charset="0"/>
                <a:cs typeface="Times New Roman" panose="02020603050405020304" pitchFamily="18" charset="0"/>
                <a:sym typeface="+mn-ea"/>
              </a:rPr>
            </a:br>
            <a:r>
              <a:rPr lang="en-US" sz="2200" dirty="0">
                <a:latin typeface="Times New Roman" panose="02020603050405020304" pitchFamily="18" charset="0"/>
                <a:cs typeface="Times New Roman" panose="02020603050405020304" pitchFamily="18" charset="0"/>
                <a:sym typeface="+mn-ea"/>
              </a:rPr>
              <a:t>It serves clients across India and international markets.</a:t>
            </a:r>
            <a:br>
              <a:rPr lang="en-US" sz="2200" dirty="0">
                <a:latin typeface="Times New Roman" panose="02020603050405020304" pitchFamily="18" charset="0"/>
                <a:cs typeface="Times New Roman" panose="02020603050405020304" pitchFamily="18" charset="0"/>
                <a:sym typeface="+mn-ea"/>
              </a:rPr>
            </a:br>
            <a:r>
              <a:rPr lang="en-US" sz="2200" dirty="0" err="1">
                <a:latin typeface="Times New Roman" panose="02020603050405020304" pitchFamily="18" charset="0"/>
                <a:cs typeface="Times New Roman" panose="02020603050405020304" pitchFamily="18" charset="0"/>
                <a:sym typeface="+mn-ea"/>
              </a:rPr>
              <a:t>Axxonet</a:t>
            </a:r>
            <a:r>
              <a:rPr lang="en-US" sz="2200" dirty="0">
                <a:latin typeface="Times New Roman" panose="02020603050405020304" pitchFamily="18" charset="0"/>
                <a:cs typeface="Times New Roman" panose="02020603050405020304" pitchFamily="18" charset="0"/>
                <a:sym typeface="+mn-ea"/>
              </a:rPr>
              <a:t> emphasizes innovation, problem-solving, and technology excellence.</a:t>
            </a:r>
            <a:br>
              <a:rPr lang="en-US" sz="2200" dirty="0">
                <a:latin typeface="Times New Roman" panose="02020603050405020304" pitchFamily="18" charset="0"/>
                <a:cs typeface="Times New Roman" panose="02020603050405020304" pitchFamily="18" charset="0"/>
                <a:sym typeface="+mn-ea"/>
              </a:rPr>
            </a:br>
            <a:r>
              <a:rPr lang="en-US" sz="2200" dirty="0">
                <a:latin typeface="Times New Roman" panose="02020603050405020304" pitchFamily="18" charset="0"/>
                <a:cs typeface="Times New Roman" panose="02020603050405020304" pitchFamily="18" charset="0"/>
                <a:sym typeface="+mn-ea"/>
              </a:rPr>
              <a:t>Overall, it bridges research, technology, and business to deliver impactful solutions.</a:t>
            </a:r>
            <a:endParaRPr lang="en-US" sz="2200"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400267"/>
            <a:ext cx="10515600" cy="4058194"/>
          </a:xfrm>
        </p:spPr>
        <p:txBody>
          <a:bodyPr>
            <a:normAutofit fontScale="80000"/>
          </a:bodyPr>
          <a:lstStyle/>
          <a:p>
            <a:r>
              <a:rPr lang="en-US" dirty="0" err="1">
                <a:latin typeface="Times New Roman" panose="02020603050405020304" pitchFamily="18" charset="0"/>
                <a:cs typeface="Times New Roman" panose="02020603050405020304" pitchFamily="18" charset="0"/>
                <a:sym typeface="+mn-ea"/>
              </a:rPr>
              <a:t>Axxonet</a:t>
            </a:r>
            <a:r>
              <a:rPr lang="en-US" dirty="0">
                <a:latin typeface="Times New Roman" panose="02020603050405020304" pitchFamily="18" charset="0"/>
                <a:cs typeface="Times New Roman" panose="02020603050405020304" pitchFamily="18" charset="0"/>
                <a:sym typeface="+mn-ea"/>
              </a:rPr>
              <a:t> operates in </a:t>
            </a:r>
            <a:r>
              <a:rPr lang="en-US" b="1" dirty="0">
                <a:latin typeface="Times New Roman" panose="02020603050405020304" pitchFamily="18" charset="0"/>
                <a:cs typeface="Times New Roman" panose="02020603050405020304" pitchFamily="18" charset="0"/>
                <a:sym typeface="+mn-ea"/>
              </a:rPr>
              <a:t>IT consulting, analytics, and digital transformation</a:t>
            </a:r>
            <a:r>
              <a:rPr lang="en-US" dirty="0">
                <a:latin typeface="Times New Roman" panose="02020603050405020304" pitchFamily="18" charset="0"/>
                <a:cs typeface="Times New Roman" panose="02020603050405020304" pitchFamily="18" charset="0"/>
                <a:sym typeface="+mn-ea"/>
              </a:rPr>
              <a:t> services.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It specializes in </a:t>
            </a:r>
            <a:r>
              <a:rPr lang="en-US" b="1" dirty="0">
                <a:latin typeface="Times New Roman" panose="02020603050405020304" pitchFamily="18" charset="0"/>
                <a:cs typeface="Times New Roman" panose="02020603050405020304" pitchFamily="18" charset="0"/>
                <a:sym typeface="+mn-ea"/>
              </a:rPr>
              <a:t>business intelligence and data analytics</a:t>
            </a:r>
            <a:r>
              <a:rPr lang="en-US" dirty="0">
                <a:latin typeface="Times New Roman" panose="02020603050405020304" pitchFamily="18" charset="0"/>
                <a:cs typeface="Times New Roman" panose="02020603050405020304" pitchFamily="18" charset="0"/>
                <a:sym typeface="+mn-ea"/>
              </a:rPr>
              <a:t> for informed decision-making.</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The company works with </a:t>
            </a:r>
            <a:r>
              <a:rPr lang="en-US" b="1" dirty="0">
                <a:latin typeface="Times New Roman" panose="02020603050405020304" pitchFamily="18" charset="0"/>
                <a:cs typeface="Times New Roman" panose="02020603050405020304" pitchFamily="18" charset="0"/>
                <a:sym typeface="+mn-ea"/>
              </a:rPr>
              <a:t>AI, machine learning, and predictive analytics</a:t>
            </a:r>
            <a:r>
              <a:rPr lang="en-US" dirty="0">
                <a:latin typeface="Times New Roman" panose="02020603050405020304" pitchFamily="18" charset="0"/>
                <a:cs typeface="Times New Roman" panose="02020603050405020304" pitchFamily="18" charset="0"/>
                <a:sym typeface="+mn-ea"/>
              </a:rPr>
              <a:t> technologies.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It delivers </a:t>
            </a:r>
            <a:r>
              <a:rPr lang="en-US" b="1" dirty="0">
                <a:latin typeface="Times New Roman" panose="02020603050405020304" pitchFamily="18" charset="0"/>
                <a:cs typeface="Times New Roman" panose="02020603050405020304" pitchFamily="18" charset="0"/>
                <a:sym typeface="+mn-ea"/>
              </a:rPr>
              <a:t>cloud computing and DevOps solutions</a:t>
            </a:r>
            <a:r>
              <a:rPr lang="en-US" dirty="0">
                <a:latin typeface="Times New Roman" panose="02020603050405020304" pitchFamily="18" charset="0"/>
                <a:cs typeface="Times New Roman" panose="02020603050405020304" pitchFamily="18" charset="0"/>
                <a:sym typeface="+mn-ea"/>
              </a:rPr>
              <a:t> for scalable digital platforms.</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sym typeface="+mn-ea"/>
              </a:rPr>
              <a:t>Axxonet</a:t>
            </a:r>
            <a:r>
              <a:rPr lang="en-US" dirty="0">
                <a:latin typeface="Times New Roman" panose="02020603050405020304" pitchFamily="18" charset="0"/>
                <a:cs typeface="Times New Roman" panose="02020603050405020304" pitchFamily="18" charset="0"/>
                <a:sym typeface="+mn-ea"/>
              </a:rPr>
              <a:t> develops </a:t>
            </a:r>
            <a:r>
              <a:rPr lang="en-US" b="1" dirty="0">
                <a:latin typeface="Times New Roman" panose="02020603050405020304" pitchFamily="18" charset="0"/>
                <a:cs typeface="Times New Roman" panose="02020603050405020304" pitchFamily="18" charset="0"/>
                <a:sym typeface="+mn-ea"/>
              </a:rPr>
              <a:t>custom web, mobile, and enterprise software applications</a:t>
            </a:r>
            <a:r>
              <a:rPr lang="en-US" dirty="0">
                <a:latin typeface="Times New Roman" panose="02020603050405020304" pitchFamily="18" charset="0"/>
                <a:cs typeface="Times New Roman" panose="02020603050405020304" pitchFamily="18" charset="0"/>
                <a:sym typeface="+mn-ea"/>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The organization uses </a:t>
            </a:r>
            <a:r>
              <a:rPr lang="en-US" b="1" dirty="0">
                <a:latin typeface="Times New Roman" panose="02020603050405020304" pitchFamily="18" charset="0"/>
                <a:cs typeface="Times New Roman" panose="02020603050405020304" pitchFamily="18" charset="0"/>
                <a:sym typeface="+mn-ea"/>
              </a:rPr>
              <a:t>modern data platforms and visualization tools</a:t>
            </a:r>
            <a:r>
              <a:rPr lang="en-US" dirty="0">
                <a:latin typeface="Times New Roman" panose="02020603050405020304" pitchFamily="18" charset="0"/>
                <a:cs typeface="Times New Roman" panose="02020603050405020304" pitchFamily="18" charset="0"/>
                <a:sym typeface="+mn-ea"/>
              </a:rPr>
              <a:t> for insights.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It also focuses on </a:t>
            </a:r>
            <a:r>
              <a:rPr lang="en-US" b="1" dirty="0">
                <a:latin typeface="Times New Roman" panose="02020603050405020304" pitchFamily="18" charset="0"/>
                <a:cs typeface="Times New Roman" panose="02020603050405020304" pitchFamily="18" charset="0"/>
                <a:sym typeface="+mn-ea"/>
              </a:rPr>
              <a:t>healthcare and neuroscience technologies</a:t>
            </a:r>
            <a:r>
              <a:rPr lang="en-US" dirty="0">
                <a:latin typeface="Times New Roman" panose="02020603050405020304" pitchFamily="18" charset="0"/>
                <a:cs typeface="Times New Roman" panose="02020603050405020304" pitchFamily="18" charset="0"/>
                <a:sym typeface="+mn-ea"/>
              </a:rPr>
              <a:t>, including EEG and research systems.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750570" y="1301842"/>
            <a:ext cx="10515600" cy="4058194"/>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sym typeface="+mn-ea"/>
              </a:rPr>
              <a:t>For the initial phase of my internship, I am currently working under the guidance of an internship guide </a:t>
            </a:r>
            <a:r>
              <a:rPr lang="en-US" sz="2400" b="1" dirty="0">
                <a:latin typeface="Times New Roman" panose="02020603050405020304" pitchFamily="18" charset="0"/>
                <a:cs typeface="Times New Roman" panose="02020603050405020304" pitchFamily="18" charset="0"/>
                <a:sym typeface="+mn-ea"/>
              </a:rPr>
              <a:t>– Mr. Akash KJ, Mr. Mukesh, Mr. Akash Gupta</a:t>
            </a:r>
            <a:r>
              <a:rPr lang="en-US" sz="2400" dirty="0">
                <a:latin typeface="Times New Roman" panose="02020603050405020304" pitchFamily="18" charset="0"/>
                <a:cs typeface="Times New Roman" panose="02020603050405020304" pitchFamily="18" charset="0"/>
                <a:sym typeface="+mn-ea"/>
              </a:rPr>
              <a:t> who acts as my reporting mentors and oversees my learning and progress.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sym typeface="+mn-ea"/>
              </a:rPr>
              <a:t>The first week was focused on training, where I was introduced to </a:t>
            </a:r>
            <a:r>
              <a:rPr lang="en-US" sz="2400" b="1" dirty="0">
                <a:latin typeface="Times New Roman" panose="02020603050405020304" pitchFamily="18" charset="0"/>
                <a:cs typeface="Times New Roman" panose="02020603050405020304" pitchFamily="18" charset="0"/>
                <a:sym typeface="+mn-ea"/>
              </a:rPr>
              <a:t>Python</a:t>
            </a:r>
            <a:r>
              <a:rPr lang="en-US" sz="2400" dirty="0">
                <a:latin typeface="Times New Roman" panose="02020603050405020304" pitchFamily="18" charset="0"/>
                <a:cs typeface="Times New Roman" panose="02020603050405020304" pitchFamily="18" charset="0"/>
                <a:sym typeface="+mn-ea"/>
              </a:rPr>
              <a:t> basics and </a:t>
            </a:r>
            <a:r>
              <a:rPr lang="en-US" sz="2400" b="1" dirty="0">
                <a:latin typeface="Times New Roman" panose="02020603050405020304" pitchFamily="18" charset="0"/>
                <a:cs typeface="Times New Roman" panose="02020603050405020304" pitchFamily="18" charset="0"/>
                <a:sym typeface="+mn-ea"/>
              </a:rPr>
              <a:t>Django</a:t>
            </a:r>
            <a:r>
              <a:rPr lang="en-US" sz="2400" dirty="0">
                <a:latin typeface="Times New Roman" panose="02020603050405020304" pitchFamily="18" charset="0"/>
                <a:cs typeface="Times New Roman" panose="02020603050405020304" pitchFamily="18" charset="0"/>
                <a:sym typeface="+mn-ea"/>
              </a:rPr>
              <a:t> fundamentals to build a strong technical foundation. In past one month, I have worked on a </a:t>
            </a:r>
            <a:r>
              <a:rPr lang="en-US" sz="2400" dirty="0" err="1">
                <a:latin typeface="Times New Roman" panose="02020603050405020304" pitchFamily="18" charset="0"/>
                <a:cs typeface="Times New Roman" panose="02020603050405020304" pitchFamily="18" charset="0"/>
                <a:sym typeface="+mn-ea"/>
              </a:rPr>
              <a:t>demoproject</a:t>
            </a:r>
            <a:r>
              <a:rPr lang="en-US" sz="2400" dirty="0">
                <a:latin typeface="Times New Roman" panose="02020603050405020304" pitchFamily="18" charset="0"/>
                <a:cs typeface="Times New Roman" panose="02020603050405020304" pitchFamily="18" charset="0"/>
                <a:sym typeface="+mn-ea"/>
              </a:rPr>
              <a:t> under my mentor’s supervision to apply the concepts learned.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sym typeface="+mn-ea"/>
              </a:rPr>
              <a:t>Later on I w</a:t>
            </a:r>
            <a:r>
              <a:rPr lang="en-US" altLang="en-IN" sz="2400" dirty="0">
                <a:latin typeface="Times New Roman" panose="02020603050405020304" pitchFamily="18" charset="0"/>
                <a:cs typeface="Times New Roman" panose="02020603050405020304" pitchFamily="18" charset="0"/>
                <a:sym typeface="+mn-ea"/>
              </a:rPr>
              <a:t>as</a:t>
            </a:r>
            <a:r>
              <a:rPr lang="en-IN" sz="2400" dirty="0">
                <a:latin typeface="Times New Roman" panose="02020603050405020304" pitchFamily="18" charset="0"/>
                <a:cs typeface="Times New Roman" panose="02020603050405020304" pitchFamily="18" charset="0"/>
                <a:sym typeface="+mn-ea"/>
              </a:rPr>
              <a:t>  put into the core project team to work on ERP systems</a:t>
            </a:r>
            <a:r>
              <a:rPr lang="en-IN" sz="2400" dirty="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287237"/>
            <a:ext cx="10515600" cy="4058194"/>
          </a:xfrm>
        </p:spPr>
        <p:txBody>
          <a:bodyPr/>
          <a:lstStyle/>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sym typeface="+mn-ea"/>
              </a:rPr>
              <a:t>Adapting to a </a:t>
            </a:r>
            <a:r>
              <a:rPr lang="en-US" altLang="en-US" b="1" dirty="0">
                <a:latin typeface="Times New Roman" panose="02020603050405020304" pitchFamily="18" charset="0"/>
                <a:cs typeface="Times New Roman" panose="02020603050405020304" pitchFamily="18" charset="0"/>
                <a:sym typeface="+mn-ea"/>
              </a:rPr>
              <a:t>new work environment and professional culture</a:t>
            </a:r>
            <a:endParaRPr lang="en-US" alt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sym typeface="+mn-ea"/>
              </a:rPr>
              <a:t>Understanding</a:t>
            </a:r>
            <a:r>
              <a:rPr lang="en-US" altLang="en-US" b="1" dirty="0">
                <a:latin typeface="Times New Roman" panose="02020603050405020304" pitchFamily="18" charset="0"/>
                <a:cs typeface="Times New Roman" panose="02020603050405020304" pitchFamily="18" charset="0"/>
                <a:sym typeface="+mn-ea"/>
              </a:rPr>
              <a:t> requirements and expectations</a:t>
            </a:r>
            <a:r>
              <a:rPr lang="en-US" altLang="en-US" dirty="0">
                <a:latin typeface="Times New Roman" panose="02020603050405020304" pitchFamily="18" charset="0"/>
                <a:cs typeface="Times New Roman" panose="02020603050405020304" pitchFamily="18" charset="0"/>
                <a:sym typeface="+mn-ea"/>
              </a:rPr>
              <a:t> initially</a:t>
            </a:r>
            <a:endParaRPr lang="en-US" alt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sym typeface="+mn-ea"/>
              </a:rPr>
              <a:t>Learning </a:t>
            </a:r>
            <a:r>
              <a:rPr lang="en-US" altLang="en-US" b="1" dirty="0">
                <a:latin typeface="Times New Roman" panose="02020603050405020304" pitchFamily="18" charset="0"/>
                <a:cs typeface="Times New Roman" panose="02020603050405020304" pitchFamily="18" charset="0"/>
                <a:sym typeface="+mn-ea"/>
              </a:rPr>
              <a:t>new technologies and tools</a:t>
            </a:r>
            <a:r>
              <a:rPr lang="en-US" altLang="en-US" dirty="0">
                <a:latin typeface="Times New Roman" panose="02020603050405020304" pitchFamily="18" charset="0"/>
                <a:cs typeface="Times New Roman" panose="02020603050405020304" pitchFamily="18" charset="0"/>
                <a:sym typeface="+mn-ea"/>
              </a:rPr>
              <a:t> within a limited time</a:t>
            </a:r>
            <a:endParaRPr lang="en-US" alt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sym typeface="+mn-ea"/>
              </a:rPr>
              <a:t>Applying </a:t>
            </a:r>
            <a:r>
              <a:rPr lang="en-US" altLang="en-US" b="1" dirty="0">
                <a:latin typeface="Times New Roman" panose="02020603050405020304" pitchFamily="18" charset="0"/>
                <a:cs typeface="Times New Roman" panose="02020603050405020304" pitchFamily="18" charset="0"/>
                <a:sym typeface="+mn-ea"/>
              </a:rPr>
              <a:t>theoretical knowledge to practical tasks</a:t>
            </a:r>
            <a:endParaRPr lang="en-US" alt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sym typeface="+mn-ea"/>
              </a:rPr>
              <a:t>Managing time between </a:t>
            </a:r>
            <a:r>
              <a:rPr lang="en-US" altLang="en-US" b="1" dirty="0">
                <a:latin typeface="Times New Roman" panose="02020603050405020304" pitchFamily="18" charset="0"/>
                <a:cs typeface="Times New Roman" panose="02020603050405020304" pitchFamily="18" charset="0"/>
                <a:sym typeface="+mn-ea"/>
              </a:rPr>
              <a:t>learning and assigned tasks</a:t>
            </a:r>
            <a:endParaRPr lang="en-US" alt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sym typeface="+mn-ea"/>
              </a:rPr>
              <a:t>Gaining confidence while asking questions and seeking guidance</a:t>
            </a:r>
            <a:endParaRPr lang="en-US" alt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485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607060" y="1184367"/>
            <a:ext cx="10515600" cy="4058194"/>
          </a:xfrm>
        </p:spPr>
        <p:txBody>
          <a:bodyPr/>
          <a:lstStyle/>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sym typeface="+mn-ea"/>
              </a:rPr>
              <a:t>To understand how real-world software development works</a:t>
            </a:r>
            <a:endParaRPr lang="en-US" alt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sym typeface="+mn-ea"/>
              </a:rPr>
              <a:t>To improve my skills in both </a:t>
            </a:r>
            <a:r>
              <a:rPr lang="en-US" altLang="en-US" b="1" dirty="0">
                <a:latin typeface="Times New Roman" panose="02020603050405020304" pitchFamily="18" charset="0"/>
                <a:cs typeface="Times New Roman" panose="02020603050405020304" pitchFamily="18" charset="0"/>
                <a:sym typeface="+mn-ea"/>
              </a:rPr>
              <a:t>Front-end and Back-end</a:t>
            </a:r>
            <a:r>
              <a:rPr lang="en-US" altLang="en-US" dirty="0">
                <a:latin typeface="Times New Roman" panose="02020603050405020304" pitchFamily="18" charset="0"/>
                <a:cs typeface="Times New Roman" panose="02020603050405020304" pitchFamily="18" charset="0"/>
                <a:sym typeface="+mn-ea"/>
              </a:rPr>
              <a:t>.</a:t>
            </a:r>
            <a:endParaRPr lang="en-US" alt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sym typeface="+mn-ea"/>
              </a:rPr>
              <a:t>To apply classroom concepts to practical tasks and mini projects</a:t>
            </a:r>
            <a:endParaRPr lang="en-US" alt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sym typeface="+mn-ea"/>
              </a:rPr>
              <a:t>To follow proper coding standards and development practices</a:t>
            </a:r>
            <a:endParaRPr lang="en-US" alt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sym typeface="+mn-ea"/>
              </a:rPr>
              <a:t>To gain confidence in working on assigned tasks independently</a:t>
            </a:r>
            <a:endParaRPr lang="en-US" alt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sym typeface="+mn-ea"/>
              </a:rPr>
              <a:t>To prepare myself for contributing to major projects in later stages of the internship</a:t>
            </a:r>
            <a:endParaRPr lang="en-US" alt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a:xfrm>
            <a:off x="838200" y="1184367"/>
            <a:ext cx="10515600" cy="4058194"/>
          </a:xfrm>
        </p:spPr>
        <p:txBody>
          <a:bodyPr>
            <a:normAutofit/>
          </a:bodyPr>
          <a:lstStyle/>
          <a:p>
            <a:r>
              <a:rPr lang="en-US" sz="2400" dirty="0">
                <a:latin typeface="Times New Roman" panose="02020603050405020304" pitchFamily="18" charset="0"/>
                <a:cs typeface="Times New Roman" panose="02020603050405020304" pitchFamily="18" charset="0"/>
                <a:sym typeface="+mn-ea"/>
              </a:rPr>
              <a:t>Before starting the development process, I explored backend development using </a:t>
            </a:r>
            <a:r>
              <a:rPr lang="en-US" sz="2400" b="1" dirty="0">
                <a:latin typeface="Times New Roman" panose="02020603050405020304" pitchFamily="18" charset="0"/>
                <a:cs typeface="Times New Roman" panose="02020603050405020304" pitchFamily="18" charset="0"/>
                <a:sym typeface="+mn-ea"/>
              </a:rPr>
              <a:t>Django</a:t>
            </a:r>
            <a:r>
              <a:rPr lang="en-US" sz="2400" dirty="0">
                <a:latin typeface="Times New Roman" panose="02020603050405020304" pitchFamily="18" charset="0"/>
                <a:cs typeface="Times New Roman" panose="02020603050405020304" pitchFamily="18" charset="0"/>
                <a:sym typeface="+mn-ea"/>
              </a:rPr>
              <a:t>, </a:t>
            </a:r>
            <a:r>
              <a:rPr lang="en-US" sz="2400" b="1" dirty="0">
                <a:latin typeface="Times New Roman" panose="02020603050405020304" pitchFamily="18" charset="0"/>
                <a:cs typeface="Times New Roman" panose="02020603050405020304" pitchFamily="18" charset="0"/>
                <a:sym typeface="+mn-ea"/>
              </a:rPr>
              <a:t>Django REST Framework</a:t>
            </a:r>
            <a:r>
              <a:rPr lang="en-US" sz="2400" dirty="0">
                <a:latin typeface="Times New Roman" panose="02020603050405020304" pitchFamily="18" charset="0"/>
                <a:cs typeface="Times New Roman" panose="02020603050405020304" pitchFamily="18" charset="0"/>
                <a:sym typeface="+mn-ea"/>
              </a:rPr>
              <a:t>, and </a:t>
            </a:r>
            <a:r>
              <a:rPr lang="en-US" sz="2400" b="1" dirty="0" err="1">
                <a:latin typeface="Times New Roman" panose="02020603050405020304" pitchFamily="18" charset="0"/>
                <a:cs typeface="Times New Roman" panose="02020603050405020304" pitchFamily="18" charset="0"/>
                <a:sym typeface="+mn-ea"/>
              </a:rPr>
              <a:t>GraphQL</a:t>
            </a:r>
            <a:r>
              <a:rPr lang="en-US" sz="2400" dirty="0">
                <a:latin typeface="Times New Roman" panose="02020603050405020304" pitchFamily="18" charset="0"/>
                <a:cs typeface="Times New Roman" panose="02020603050405020304" pitchFamily="18" charset="0"/>
                <a:sym typeface="+mn-ea"/>
              </a:rPr>
              <a:t>. I learned core concepts such as </a:t>
            </a:r>
            <a:r>
              <a:rPr lang="en-US" sz="2400" b="1" dirty="0">
                <a:latin typeface="Times New Roman" panose="02020603050405020304" pitchFamily="18" charset="0"/>
                <a:cs typeface="Times New Roman" panose="02020603050405020304" pitchFamily="18" charset="0"/>
                <a:sym typeface="+mn-ea"/>
              </a:rPr>
              <a:t>API design, layered architecture, data validation, and exception handling</a:t>
            </a:r>
            <a:r>
              <a:rPr lang="en-US" sz="2400" dirty="0">
                <a:latin typeface="Times New Roman" panose="02020603050405020304" pitchFamily="18" charset="0"/>
                <a:cs typeface="Times New Roman" panose="02020603050405020304" pitchFamily="18" charset="0"/>
                <a:sym typeface="+mn-ea"/>
              </a:rPr>
              <a: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sym typeface="+mn-ea"/>
              </a:rPr>
              <a:t>Based on this, I implemented the backend using </a:t>
            </a:r>
            <a:r>
              <a:rPr lang="en-US" sz="2400" b="1" dirty="0">
                <a:latin typeface="Times New Roman" panose="02020603050405020304" pitchFamily="18" charset="0"/>
                <a:cs typeface="Times New Roman" panose="02020603050405020304" pitchFamily="18" charset="0"/>
                <a:sym typeface="+mn-ea"/>
              </a:rPr>
              <a:t>Django</a:t>
            </a:r>
            <a:r>
              <a:rPr lang="en-US" sz="2400" dirty="0">
                <a:latin typeface="Times New Roman" panose="02020603050405020304" pitchFamily="18" charset="0"/>
                <a:cs typeface="Times New Roman" panose="02020603050405020304" pitchFamily="18" charset="0"/>
                <a:sym typeface="+mn-ea"/>
              </a:rPr>
              <a:t>, built APIs with </a:t>
            </a:r>
            <a:r>
              <a:rPr lang="en-US" sz="2400" b="1" dirty="0">
                <a:latin typeface="Times New Roman" panose="02020603050405020304" pitchFamily="18" charset="0"/>
                <a:cs typeface="Times New Roman" panose="02020603050405020304" pitchFamily="18" charset="0"/>
                <a:sym typeface="+mn-ea"/>
              </a:rPr>
              <a:t>Django REST Framework</a:t>
            </a:r>
            <a:r>
              <a:rPr lang="en-US" sz="2400" dirty="0">
                <a:latin typeface="Times New Roman" panose="02020603050405020304" pitchFamily="18" charset="0"/>
                <a:cs typeface="Times New Roman" panose="02020603050405020304" pitchFamily="18" charset="0"/>
                <a:sym typeface="+mn-ea"/>
              </a:rPr>
              <a:t>, and designed </a:t>
            </a:r>
            <a:r>
              <a:rPr lang="en-US" sz="2400" b="1" dirty="0" err="1">
                <a:latin typeface="Times New Roman" panose="02020603050405020304" pitchFamily="18" charset="0"/>
                <a:cs typeface="Times New Roman" panose="02020603050405020304" pitchFamily="18" charset="0"/>
                <a:sym typeface="+mn-ea"/>
              </a:rPr>
              <a:t>GraphQL</a:t>
            </a:r>
            <a:r>
              <a:rPr lang="en-US" sz="2400" b="1" dirty="0">
                <a:latin typeface="Times New Roman" panose="02020603050405020304" pitchFamily="18" charset="0"/>
                <a:cs typeface="Times New Roman" panose="02020603050405020304" pitchFamily="18" charset="0"/>
                <a:sym typeface="+mn-ea"/>
              </a:rPr>
              <a:t> queries and mutations using the Graphene package</a:t>
            </a:r>
            <a:r>
              <a:rPr lang="en-US" sz="2400" dirty="0">
                <a:latin typeface="Times New Roman" panose="02020603050405020304" pitchFamily="18" charset="0"/>
                <a:cs typeface="Times New Roman" panose="02020603050405020304" pitchFamily="18" charset="0"/>
                <a:sym typeface="+mn-ea"/>
              </a:rPr>
              <a:t>. The frontend was developed using </a:t>
            </a:r>
            <a:r>
              <a:rPr lang="en-US" sz="2400" b="1" dirty="0">
                <a:latin typeface="Times New Roman" panose="02020603050405020304" pitchFamily="18" charset="0"/>
                <a:cs typeface="Times New Roman" panose="02020603050405020304" pitchFamily="18" charset="0"/>
                <a:sym typeface="+mn-ea"/>
              </a:rPr>
              <a:t>HTML, CSS, and MUI</a:t>
            </a:r>
            <a:r>
              <a:rPr lang="en-US" sz="2400" dirty="0">
                <a:latin typeface="Times New Roman" panose="02020603050405020304" pitchFamily="18" charset="0"/>
                <a:cs typeface="Times New Roman" panose="02020603050405020304" pitchFamily="18" charset="0"/>
                <a:sym typeface="+mn-ea"/>
              </a:rPr>
              <a:t> to interact with the backend services. This preparation helped me effectively complete my assigned tasks and understand how my modules fit into the overall project.</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8</a:t>
            </a:fld>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184367"/>
            <a:ext cx="10515600" cy="4058194"/>
          </a:xfrm>
        </p:spPr>
        <p:txBody>
          <a:bodyPr>
            <a:normAutofit fontScale="90000"/>
          </a:bodyPr>
          <a:lstStyle/>
          <a:p>
            <a:r>
              <a:rPr lang="en-US" dirty="0">
                <a:latin typeface="Times New Roman" panose="02020603050405020304" pitchFamily="18" charset="0"/>
                <a:cs typeface="Times New Roman" panose="02020603050405020304" pitchFamily="18" charset="0"/>
                <a:sym typeface="+mn-ea"/>
              </a:rPr>
              <a:t>The proposed work for the internship period involves the development of both backend and integration components of a web-based enterprise application. Initially, I am working on a demo project to gain practical exposure to full-stack development concepts, including designing RESTful APIs, implementing authentication mechanisms, managing databases, and integrating frontend interfaces with backend services.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The core focus of my work at </a:t>
            </a:r>
            <a:r>
              <a:rPr lang="en-US" b="1" dirty="0">
                <a:latin typeface="Times New Roman" panose="02020603050405020304" pitchFamily="18" charset="0"/>
                <a:cs typeface="Times New Roman" panose="02020603050405020304" pitchFamily="18" charset="0"/>
                <a:sym typeface="+mn-ea"/>
              </a:rPr>
              <a:t>Avia Enterprises</a:t>
            </a:r>
            <a:r>
              <a:rPr lang="en-US" dirty="0">
                <a:latin typeface="Times New Roman" panose="02020603050405020304" pitchFamily="18" charset="0"/>
                <a:cs typeface="Times New Roman" panose="02020603050405020304" pitchFamily="18" charset="0"/>
                <a:sym typeface="+mn-ea"/>
              </a:rPr>
              <a:t> is to develop an </a:t>
            </a:r>
            <a:r>
              <a:rPr lang="en-US" b="1" dirty="0">
                <a:latin typeface="Times New Roman" panose="02020603050405020304" pitchFamily="18" charset="0"/>
                <a:cs typeface="Times New Roman" panose="02020603050405020304" pitchFamily="18" charset="0"/>
                <a:sym typeface="+mn-ea"/>
              </a:rPr>
              <a:t>ERP Integration Adapter Module</a:t>
            </a:r>
            <a:r>
              <a:rPr lang="en-US" dirty="0">
                <a:latin typeface="Times New Roman" panose="02020603050405020304" pitchFamily="18" charset="0"/>
                <a:cs typeface="Times New Roman" panose="02020603050405020304" pitchFamily="18" charset="0"/>
                <a:sym typeface="+mn-ea"/>
              </a:rPr>
              <a:t> that enables seamless switching between multiple ERP platforms and facilitates efficient data retrieval. This module acts as an intermediate layer between different ERP systems and the company’s central application, ensuring standardized data flow across platforms.</a:t>
            </a: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838200" y="1184367"/>
            <a:ext cx="10515600" cy="4058194"/>
          </a:xfrm>
        </p:spPr>
        <p:txBody>
          <a:bodyPr>
            <a:normAutofit fontScale="90000" lnSpcReduction="10000"/>
          </a:bodyPr>
          <a:lstStyle/>
          <a:p>
            <a:r>
              <a:rPr lang="en-US" dirty="0">
                <a:latin typeface="Times New Roman" panose="02020603050405020304" pitchFamily="18" charset="0"/>
                <a:cs typeface="Times New Roman" panose="02020603050405020304" pitchFamily="18" charset="0"/>
                <a:sym typeface="+mn-ea"/>
              </a:rPr>
              <a:t>Large enterprises often build customized ERP systems to manage their operations, but small and mid-sized businesses cannot afford such infrastructure. Many of them still rely on books, physical records, or manual entries to maintain customer data, invoices, and warranty details. When records are lost or damaged, there is no reliable proof or backup of the stored data.</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sym typeface="+mn-ea"/>
              </a:rPr>
              <a:t>Avia Enterprises</a:t>
            </a:r>
            <a:r>
              <a:rPr lang="en-US" dirty="0">
                <a:latin typeface="Times New Roman" panose="02020603050405020304" pitchFamily="18" charset="0"/>
                <a:cs typeface="Times New Roman" panose="02020603050405020304" pitchFamily="18" charset="0"/>
                <a:sym typeface="+mn-ea"/>
              </a:rPr>
              <a:t> was created to overcome these challenges by providing a centralized digital platform for managing business data and workflows.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mn-ea"/>
              </a:rPr>
              <a:t>However, since different clients use different ERP systems with varying data structures, integration becomes complex and inconsistent. Therefore, there is a need for a flexible ERP Integration Adapter that can standardize data and ensure seamless synchronization across multiple platforms.</a:t>
            </a: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838200" y="1052922"/>
            <a:ext cx="10515600" cy="4058194"/>
          </a:xfrm>
        </p:spPr>
        <p:txBody>
          <a:bodyPr>
            <a:noAutofit/>
          </a:bodyPr>
          <a:lstStyle/>
          <a:p>
            <a:r>
              <a:rPr lang="en-US" sz="1800" b="1" dirty="0">
                <a:latin typeface="Times New Roman" panose="02020603050405020304" pitchFamily="18" charset="0"/>
                <a:cs typeface="Times New Roman" panose="02020603050405020304" pitchFamily="18" charset="0"/>
                <a:sym typeface="+mn-ea"/>
              </a:rPr>
              <a:t>1. Hardware Requirements</a:t>
            </a:r>
            <a:endParaRPr lang="en-US" sz="1800" b="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sym typeface="+mn-ea"/>
              </a:rPr>
              <a:t>Processor: Intel i5 or higher</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sym typeface="+mn-ea"/>
              </a:rPr>
              <a:t>RAM: Minimum 8 GB (16 GB recommended for development)</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sym typeface="+mn-ea"/>
              </a:rPr>
              <a:t>Storage: Minimum 256 GB SSD</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sym typeface="+mn-ea"/>
              </a:rPr>
              <a:t>Stable Internet connection</a:t>
            </a: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sym typeface="+mn-ea"/>
              </a:rPr>
              <a:t>2. Software Requirements</a:t>
            </a:r>
            <a:endParaRPr lang="en-US" sz="1800" b="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sym typeface="+mn-ea"/>
              </a:rPr>
              <a:t>Operating System: Windows / Linux / macOS</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sym typeface="+mn-ea"/>
              </a:rPr>
              <a:t>Backend Framework: Django / Django REST Framework</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sym typeface="+mn-ea"/>
              </a:rPr>
              <a:t>Database: </a:t>
            </a:r>
            <a:r>
              <a:rPr lang="en-US" sz="1800" dirty="0" err="1">
                <a:latin typeface="Times New Roman" panose="02020603050405020304" pitchFamily="18" charset="0"/>
                <a:cs typeface="Times New Roman" panose="02020603050405020304" pitchFamily="18" charset="0"/>
                <a:sym typeface="+mn-ea"/>
              </a:rPr>
              <a:t>GraphQL</a:t>
            </a:r>
            <a:r>
              <a:rPr lang="en-US" sz="1800" dirty="0">
                <a:latin typeface="Times New Roman" panose="02020603050405020304" pitchFamily="18" charset="0"/>
                <a:cs typeface="Times New Roman" panose="02020603050405020304" pitchFamily="18" charset="0"/>
                <a:sym typeface="+mn-ea"/>
              </a:rPr>
              <a:t> / MySQL</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sym typeface="+mn-ea"/>
              </a:rPr>
              <a:t>API Testing Tool: Postman/</a:t>
            </a:r>
            <a:r>
              <a:rPr lang="en-US" sz="1800" dirty="0" err="1">
                <a:latin typeface="Times New Roman" panose="02020603050405020304" pitchFamily="18" charset="0"/>
                <a:cs typeface="Times New Roman" panose="02020603050405020304" pitchFamily="18" charset="0"/>
                <a:sym typeface="+mn-ea"/>
              </a:rPr>
              <a:t>Thunderclient</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sym typeface="+mn-ea"/>
              </a:rPr>
              <a:t>Version Control: Git</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sym typeface="+mn-ea"/>
              </a:rPr>
              <a:t>Code Editor: VS Code</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sym typeface="+mn-ea"/>
              </a:rPr>
              <a:t>Web Browser: Chrome / Edge</a:t>
            </a:r>
            <a:endParaRPr lang="en-US" sz="1800" dirty="0">
              <a:latin typeface="Times New Roman" panose="02020603050405020304" pitchFamily="18" charset="0"/>
              <a:cs typeface="Times New Roman" panose="02020603050405020304" pitchFamily="18" charset="0"/>
            </a:endParaRPr>
          </a:p>
          <a:p>
            <a:endParaRPr lang="en-US" sz="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11</a:t>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3" name="Content Placeholder 2"/>
          <p:cNvSpPr>
            <a:spLocks noGrp="1"/>
          </p:cNvSpPr>
          <p:nvPr>
            <p:ph idx="1"/>
          </p:nvPr>
        </p:nvSpPr>
        <p:spPr>
          <a:xfrm>
            <a:off x="838200" y="1184367"/>
            <a:ext cx="10515600" cy="4058194"/>
          </a:xfrm>
        </p:spPr>
        <p:txBody>
          <a:bodyPr/>
          <a:lstStyle/>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Centralized Data Management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Improved Data Security &amp; Backup</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Seamless ERP Integration</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Standardized Data Format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Scalability</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Reduced Manual Errors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Design</a:t>
            </a:r>
          </a:p>
        </p:txBody>
      </p:sp>
      <p:sp>
        <p:nvSpPr>
          <p:cNvPr id="3" name="Content Placeholder 2"/>
          <p:cNvSpPr>
            <a:spLocks noGrp="1"/>
          </p:cNvSpPr>
          <p:nvPr>
            <p:ph idx="1"/>
          </p:nvPr>
        </p:nvSpPr>
        <p:spPr>
          <a:xfrm>
            <a:off x="838200" y="1286602"/>
            <a:ext cx="10515600" cy="4058194"/>
          </a:xfrm>
        </p:spPr>
        <p:txBody>
          <a:bodyPr>
            <a:normAutofit lnSpcReduction="20000"/>
          </a:bodyPr>
          <a:lstStyle/>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Follows a </a:t>
            </a:r>
            <a:r>
              <a:rPr lang="en-US" altLang="en-US" b="1" dirty="0">
                <a:ln>
                  <a:noFill/>
                </a:ln>
                <a:effectLst/>
                <a:latin typeface="Times New Roman" panose="02020603050405020304" pitchFamily="18" charset="0"/>
                <a:cs typeface="Times New Roman" panose="02020603050405020304" pitchFamily="18" charset="0"/>
                <a:sym typeface="+mn-ea"/>
              </a:rPr>
              <a:t>Layered Architecture</a:t>
            </a:r>
            <a:r>
              <a:rPr lang="en-US" altLang="en-US" dirty="0">
                <a:ln>
                  <a:noFill/>
                </a:ln>
                <a:effectLst/>
                <a:latin typeface="Times New Roman" panose="02020603050405020304" pitchFamily="18" charset="0"/>
                <a:cs typeface="Times New Roman" panose="02020603050405020304" pitchFamily="18" charset="0"/>
                <a:sym typeface="+mn-ea"/>
              </a:rPr>
              <a:t>: Presentation Layer, API Layer,</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lang="en-US" altLang="en-US" dirty="0">
                <a:latin typeface="Times New Roman" panose="02020603050405020304" pitchFamily="18" charset="0"/>
                <a:cs typeface="Times New Roman" panose="02020603050405020304" pitchFamily="18" charset="0"/>
                <a:sym typeface="+mn-ea"/>
              </a:rPr>
              <a:t> </a:t>
            </a:r>
            <a:r>
              <a:rPr lang="en-US" altLang="en-US" dirty="0">
                <a:ln>
                  <a:noFill/>
                </a:ln>
                <a:effectLst/>
                <a:latin typeface="Times New Roman" panose="02020603050405020304" pitchFamily="18" charset="0"/>
                <a:cs typeface="Times New Roman" panose="02020603050405020304" pitchFamily="18" charset="0"/>
                <a:sym typeface="+mn-ea"/>
              </a:rPr>
              <a:t> Service Layer, ERP Adapter Layer, and Database Layer.</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The </a:t>
            </a:r>
            <a:r>
              <a:rPr lang="en-US" altLang="en-US" b="1" dirty="0">
                <a:ln>
                  <a:noFill/>
                </a:ln>
                <a:effectLst/>
                <a:latin typeface="Times New Roman" panose="02020603050405020304" pitchFamily="18" charset="0"/>
                <a:cs typeface="Times New Roman" panose="02020603050405020304" pitchFamily="18" charset="0"/>
                <a:sym typeface="+mn-ea"/>
              </a:rPr>
              <a:t>ERP Adapter</a:t>
            </a:r>
            <a:r>
              <a:rPr lang="en-US" altLang="en-US" dirty="0">
                <a:ln>
                  <a:noFill/>
                </a:ln>
                <a:effectLst/>
                <a:latin typeface="Times New Roman" panose="02020603050405020304" pitchFamily="18" charset="0"/>
                <a:cs typeface="Times New Roman" panose="02020603050405020304" pitchFamily="18" charset="0"/>
                <a:sym typeface="+mn-ea"/>
              </a:rPr>
              <a:t> connects to multiple ERP systems, fetches data,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lang="en-US" altLang="en-US" dirty="0">
                <a:latin typeface="Times New Roman" panose="02020603050405020304" pitchFamily="18" charset="0"/>
                <a:cs typeface="Times New Roman" panose="02020603050405020304" pitchFamily="18" charset="0"/>
                <a:sym typeface="+mn-ea"/>
              </a:rPr>
              <a:t>  </a:t>
            </a:r>
            <a:r>
              <a:rPr lang="en-US" altLang="en-US" dirty="0">
                <a:ln>
                  <a:noFill/>
                </a:ln>
                <a:effectLst/>
                <a:latin typeface="Times New Roman" panose="02020603050405020304" pitchFamily="18" charset="0"/>
                <a:cs typeface="Times New Roman" panose="02020603050405020304" pitchFamily="18" charset="0"/>
                <a:sym typeface="+mn-ea"/>
              </a:rPr>
              <a:t>and converts it into a standardized format.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A </a:t>
            </a:r>
            <a:r>
              <a:rPr lang="en-US" altLang="en-US" b="1" dirty="0">
                <a:ln>
                  <a:noFill/>
                </a:ln>
                <a:effectLst/>
                <a:latin typeface="Times New Roman" panose="02020603050405020304" pitchFamily="18" charset="0"/>
                <a:cs typeface="Times New Roman" panose="02020603050405020304" pitchFamily="18" charset="0"/>
                <a:sym typeface="+mn-ea"/>
              </a:rPr>
              <a:t>Switching Mechanism</a:t>
            </a:r>
            <a:r>
              <a:rPr lang="en-US" altLang="en-US" dirty="0">
                <a:ln>
                  <a:noFill/>
                </a:ln>
                <a:effectLst/>
                <a:latin typeface="Times New Roman" panose="02020603050405020304" pitchFamily="18" charset="0"/>
                <a:cs typeface="Times New Roman" panose="02020603050405020304" pitchFamily="18" charset="0"/>
                <a:sym typeface="+mn-ea"/>
              </a:rPr>
              <a:t> selects the appropriate ERP based on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lang="en-US" altLang="en-US" dirty="0">
                <a:latin typeface="Times New Roman" panose="02020603050405020304" pitchFamily="18" charset="0"/>
                <a:cs typeface="Times New Roman" panose="02020603050405020304" pitchFamily="18" charset="0"/>
                <a:sym typeface="+mn-ea"/>
              </a:rPr>
              <a:t>  </a:t>
            </a:r>
            <a:r>
              <a:rPr lang="en-US" altLang="en-US" dirty="0">
                <a:ln>
                  <a:noFill/>
                </a:ln>
                <a:effectLst/>
                <a:latin typeface="Times New Roman" panose="02020603050405020304" pitchFamily="18" charset="0"/>
                <a:cs typeface="Times New Roman" panose="02020603050405020304" pitchFamily="18" charset="0"/>
                <a:sym typeface="+mn-ea"/>
              </a:rPr>
              <a:t>client configuration.</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Processed data is stored securely and displayed through the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lang="en-US" altLang="en-US" dirty="0">
                <a:latin typeface="Times New Roman" panose="02020603050405020304" pitchFamily="18" charset="0"/>
                <a:cs typeface="Times New Roman" panose="02020603050405020304" pitchFamily="18" charset="0"/>
                <a:sym typeface="+mn-ea"/>
              </a:rPr>
              <a:t> </a:t>
            </a:r>
            <a:r>
              <a:rPr lang="en-US" altLang="en-US" dirty="0">
                <a:ln>
                  <a:noFill/>
                </a:ln>
                <a:effectLst/>
                <a:latin typeface="Times New Roman" panose="02020603050405020304" pitchFamily="18" charset="0"/>
                <a:cs typeface="Times New Roman" panose="02020603050405020304" pitchFamily="18" charset="0"/>
                <a:sym typeface="+mn-ea"/>
              </a:rPr>
              <a:t> frontend interface.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Security is ensured using authentication, role-based access,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lang="en-US" altLang="en-US" dirty="0">
                <a:latin typeface="Times New Roman" panose="02020603050405020304" pitchFamily="18" charset="0"/>
                <a:cs typeface="Times New Roman" panose="02020603050405020304" pitchFamily="18" charset="0"/>
                <a:sym typeface="+mn-ea"/>
              </a:rPr>
              <a:t>  </a:t>
            </a:r>
            <a:r>
              <a:rPr lang="en-US" altLang="en-US" dirty="0">
                <a:ln>
                  <a:noFill/>
                </a:ln>
                <a:effectLst/>
                <a:latin typeface="Times New Roman" panose="02020603050405020304" pitchFamily="18" charset="0"/>
                <a:cs typeface="Times New Roman" panose="02020603050405020304" pitchFamily="18" charset="0"/>
                <a:sym typeface="+mn-ea"/>
              </a:rPr>
              <a:t>and encrypted API communication.</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13</a:t>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4935"/>
            <a:ext cx="10515600" cy="1325563"/>
          </a:xfrm>
        </p:spPr>
        <p:txBody>
          <a:bodyPr/>
          <a:lstStyle/>
          <a:p>
            <a:r>
              <a:rPr lang="en-US" altLang="en-IN" sz="3000" b="1" dirty="0">
                <a:solidFill>
                  <a:schemeClr val="accent1">
                    <a:lumMod val="75000"/>
                  </a:schemeClr>
                </a:solidFill>
                <a:latin typeface="Times New Roman" panose="02020603050405020304" pitchFamily="18" charset="0"/>
                <a:cs typeface="Times New Roman" panose="02020603050405020304" pitchFamily="18" charset="0"/>
                <a:sym typeface="+mn-ea"/>
              </a:rPr>
              <a:t>Architecture Diagram</a:t>
            </a:r>
            <a:endParaRPr lang="en-GB" altLang="en-US" sz="3000"/>
          </a:p>
        </p:txBody>
      </p:sp>
      <p:pic>
        <p:nvPicPr>
          <p:cNvPr id="6" name="Content Placeholder 5" descr="archi img"/>
          <p:cNvPicPr>
            <a:picLocks noGrp="1" noChangeAspect="1"/>
          </p:cNvPicPr>
          <p:nvPr>
            <p:ph idx="1"/>
          </p:nvPr>
        </p:nvPicPr>
        <p:blipFill>
          <a:blip r:embed="rId2"/>
          <a:stretch>
            <a:fillRect/>
          </a:stretch>
        </p:blipFill>
        <p:spPr>
          <a:xfrm>
            <a:off x="1847850" y="821690"/>
            <a:ext cx="8336915" cy="5010150"/>
          </a:xfrm>
          <a:prstGeom prst="rect">
            <a:avLst/>
          </a:prstGeom>
        </p:spPr>
      </p:pic>
      <p:sp>
        <p:nvSpPr>
          <p:cNvPr id="4" name="Date Placeholder 3"/>
          <p:cNvSpPr>
            <a:spLocks noGrp="1"/>
          </p:cNvSpPr>
          <p:nvPr>
            <p:ph type="dt" sz="half" idx="10"/>
          </p:nvPr>
        </p:nvSpPr>
        <p:spPr/>
        <p:txBody>
          <a:bodyPr/>
          <a:lstStyle/>
          <a:p>
            <a:fld id="{864BFFB7-4443-4602-A990-B076C1CFE86C}" type="datetime1">
              <a:rPr lang="en-IN" smtClean="0"/>
              <a:t>26-04-2026</a:t>
            </a:fld>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t>14</a:t>
            </a:fld>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a:t>
            </a:r>
          </a:p>
        </p:txBody>
      </p:sp>
      <p:sp>
        <p:nvSpPr>
          <p:cNvPr id="3" name="Content Placeholder 2"/>
          <p:cNvSpPr>
            <a:spLocks noGrp="1"/>
          </p:cNvSpPr>
          <p:nvPr>
            <p:ph idx="1"/>
          </p:nvPr>
        </p:nvSpPr>
        <p:spPr>
          <a:xfrm>
            <a:off x="838200" y="1184367"/>
            <a:ext cx="10515600" cy="4058194"/>
          </a:xfrm>
        </p:spPr>
        <p:txBody>
          <a:bodyPr>
            <a:normAutofit fontScale="90000"/>
          </a:bodyPr>
          <a:lstStyle/>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Set up and configured </a:t>
            </a:r>
            <a:r>
              <a:rPr lang="en-US" altLang="en-US" b="1" dirty="0">
                <a:ln>
                  <a:noFill/>
                </a:ln>
                <a:effectLst/>
                <a:latin typeface="Times New Roman" panose="02020603050405020304" pitchFamily="18" charset="0"/>
                <a:cs typeface="Times New Roman" panose="02020603050405020304" pitchFamily="18" charset="0"/>
                <a:sym typeface="+mn-ea"/>
              </a:rPr>
              <a:t>Frappe</a:t>
            </a:r>
            <a:r>
              <a:rPr lang="en-US" altLang="en-US" dirty="0">
                <a:ln>
                  <a:noFill/>
                </a:ln>
                <a:effectLst/>
                <a:latin typeface="Times New Roman" panose="02020603050405020304" pitchFamily="18" charset="0"/>
                <a:cs typeface="Times New Roman" panose="02020603050405020304" pitchFamily="18" charset="0"/>
                <a:sym typeface="+mn-ea"/>
              </a:rPr>
              <a:t> environment using Docker.</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Created and tested REST APIs for data access and integration.</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Studied and analyzed existing internal APIs provided by the company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lang="en-US" altLang="en-US" dirty="0">
                <a:latin typeface="Times New Roman" panose="02020603050405020304" pitchFamily="18" charset="0"/>
                <a:cs typeface="Times New Roman" panose="02020603050405020304" pitchFamily="18" charset="0"/>
                <a:sym typeface="+mn-ea"/>
              </a:rPr>
              <a:t>   </a:t>
            </a:r>
            <a:r>
              <a:rPr lang="en-US" altLang="en-US" dirty="0">
                <a:ln>
                  <a:noFill/>
                </a:ln>
                <a:effectLst/>
                <a:latin typeface="Times New Roman" panose="02020603050405020304" pitchFamily="18" charset="0"/>
                <a:cs typeface="Times New Roman" panose="02020603050405020304" pitchFamily="18" charset="0"/>
                <a:sym typeface="+mn-ea"/>
              </a:rPr>
              <a:t>for ERP communication.</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Implemented integration logic to connect with ERP systems using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lang="en-US" altLang="en-US" dirty="0">
                <a:latin typeface="Times New Roman" panose="02020603050405020304" pitchFamily="18" charset="0"/>
                <a:cs typeface="Times New Roman" panose="02020603050405020304" pitchFamily="18" charset="0"/>
                <a:sym typeface="+mn-ea"/>
              </a:rPr>
              <a:t>   </a:t>
            </a:r>
            <a:r>
              <a:rPr lang="en-US" altLang="en-US" dirty="0">
                <a:ln>
                  <a:noFill/>
                </a:ln>
                <a:effectLst/>
                <a:latin typeface="Times New Roman" panose="02020603050405020304" pitchFamily="18" charset="0"/>
                <a:cs typeface="Times New Roman" panose="02020603050405020304" pitchFamily="18" charset="0"/>
                <a:sym typeface="+mn-ea"/>
              </a:rPr>
              <a:t>the provided APIs.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Integrated </a:t>
            </a:r>
            <a:r>
              <a:rPr lang="en-US" altLang="en-US" b="1" dirty="0" err="1">
                <a:ln>
                  <a:noFill/>
                </a:ln>
                <a:effectLst/>
                <a:latin typeface="Times New Roman" panose="02020603050405020304" pitchFamily="18" charset="0"/>
                <a:cs typeface="Times New Roman" panose="02020603050405020304" pitchFamily="18" charset="0"/>
                <a:sym typeface="+mn-ea"/>
              </a:rPr>
              <a:t>GraphQL</a:t>
            </a:r>
            <a:r>
              <a:rPr lang="en-US" altLang="en-US" dirty="0">
                <a:ln>
                  <a:noFill/>
                </a:ln>
                <a:effectLst/>
                <a:latin typeface="Times New Roman" panose="02020603050405020304" pitchFamily="18" charset="0"/>
                <a:cs typeface="Times New Roman" panose="02020603050405020304" pitchFamily="18" charset="0"/>
                <a:sym typeface="+mn-ea"/>
              </a:rPr>
              <a:t> to fetch and query structured data dynamically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lang="en-US" altLang="en-US" dirty="0">
                <a:latin typeface="Times New Roman" panose="02020603050405020304" pitchFamily="18" charset="0"/>
                <a:cs typeface="Times New Roman" panose="02020603050405020304" pitchFamily="18" charset="0"/>
                <a:sym typeface="+mn-ea"/>
              </a:rPr>
              <a:t>   </a:t>
            </a:r>
            <a:r>
              <a:rPr lang="en-US" altLang="en-US" dirty="0">
                <a:ln>
                  <a:noFill/>
                </a:ln>
                <a:effectLst/>
                <a:latin typeface="Times New Roman" panose="02020603050405020304" pitchFamily="18" charset="0"/>
                <a:cs typeface="Times New Roman" panose="02020603050405020304" pitchFamily="18" charset="0"/>
                <a:sym typeface="+mn-ea"/>
              </a:rPr>
              <a:t>from ERP platforms.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dirty="0">
                <a:ln>
                  <a:noFill/>
                </a:ln>
                <a:effectLst/>
                <a:latin typeface="Times New Roman" panose="02020603050405020304" pitchFamily="18" charset="0"/>
                <a:cs typeface="Times New Roman" panose="02020603050405020304" pitchFamily="18" charset="0"/>
                <a:sym typeface="+mn-ea"/>
              </a:rPr>
              <a:t>Successfully retrieved and validated ERP data flow from Frappe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pPr>
            <a:r>
              <a:rPr lang="en-US" altLang="en-US" dirty="0">
                <a:latin typeface="Times New Roman" panose="02020603050405020304" pitchFamily="18" charset="0"/>
                <a:cs typeface="Times New Roman" panose="02020603050405020304" pitchFamily="18" charset="0"/>
                <a:sym typeface="+mn-ea"/>
              </a:rPr>
              <a:t>   </a:t>
            </a:r>
            <a:r>
              <a:rPr lang="en-US" altLang="en-US" dirty="0">
                <a:ln>
                  <a:noFill/>
                </a:ln>
                <a:effectLst/>
                <a:latin typeface="Times New Roman" panose="02020603050405020304" pitchFamily="18" charset="0"/>
                <a:cs typeface="Times New Roman" panose="02020603050405020304" pitchFamily="18" charset="0"/>
                <a:sym typeface="+mn-ea"/>
              </a:rPr>
              <a:t>into the application database.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Testing</a:t>
            </a:r>
          </a:p>
        </p:txBody>
      </p:sp>
      <p:sp>
        <p:nvSpPr>
          <p:cNvPr id="3" name="Content Placeholder 2"/>
          <p:cNvSpPr>
            <a:spLocks noGrp="1"/>
          </p:cNvSpPr>
          <p:nvPr>
            <p:ph idx="1"/>
          </p:nvPr>
        </p:nvSpPr>
        <p:spPr>
          <a:xfrm>
            <a:off x="706120" y="1271997"/>
            <a:ext cx="10515600" cy="4058194"/>
          </a:xfrm>
        </p:spPr>
        <p:txBody>
          <a:bodyPr>
            <a:normAutofit fontScale="90000" lnSpcReduction="20000"/>
          </a:bodyPr>
          <a:lstStyle/>
          <a:p>
            <a:r>
              <a:rPr lang="en-US" altLang="en-GB" sz="2665" dirty="0">
                <a:latin typeface="Times New Roman" panose="02020603050405020304" pitchFamily="18" charset="0"/>
                <a:cs typeface="Times New Roman" panose="02020603050405020304" pitchFamily="18" charset="0"/>
              </a:rPr>
              <a:t>Functional Testing: Verified that all modules such as API endpoints, ERP integration, and data retrieval processes work as expected.</a:t>
            </a:r>
          </a:p>
          <a:p>
            <a:r>
              <a:rPr lang="en-US" altLang="en-GB" sz="2665" dirty="0">
                <a:latin typeface="Times New Roman" panose="02020603050405020304" pitchFamily="18" charset="0"/>
                <a:cs typeface="Times New Roman" panose="02020603050405020304" pitchFamily="18" charset="0"/>
              </a:rPr>
              <a:t>API Testing: Tools like Postman/Thunder Client were used to test REST APIs and GraphQL queries for correct responses and data accuracy.</a:t>
            </a:r>
          </a:p>
          <a:p>
            <a:r>
              <a:rPr lang="en-US" altLang="en-GB" sz="2665" dirty="0">
                <a:latin typeface="Times New Roman" panose="02020603050405020304" pitchFamily="18" charset="0"/>
                <a:cs typeface="Times New Roman" panose="02020603050405020304" pitchFamily="18" charset="0"/>
              </a:rPr>
              <a:t>Integration Testing: Ensured smooth communication between frontend, backend, and ERP systems through the adapter module.</a:t>
            </a:r>
          </a:p>
          <a:p>
            <a:r>
              <a:rPr lang="en-US" altLang="en-GB" sz="2665" dirty="0">
                <a:latin typeface="Times New Roman" panose="02020603050405020304" pitchFamily="18" charset="0"/>
                <a:cs typeface="Times New Roman" panose="02020603050405020304" pitchFamily="18" charset="0"/>
              </a:rPr>
              <a:t>Data Validation Testing: Checked whether the data fetched from different ERP systems is properly standardized and stored.</a:t>
            </a:r>
          </a:p>
          <a:p>
            <a:r>
              <a:rPr lang="en-US" altLang="en-GB" sz="2665" dirty="0">
                <a:latin typeface="Times New Roman" panose="02020603050405020304" pitchFamily="18" charset="0"/>
                <a:cs typeface="Times New Roman" panose="02020603050405020304" pitchFamily="18" charset="0"/>
              </a:rPr>
              <a:t>Performance Testing: Observed system behavior under normal usage to ensure stable performance and response time.</a:t>
            </a:r>
          </a:p>
          <a:p>
            <a:r>
              <a:rPr lang="en-US" altLang="en-GB" sz="2665" dirty="0">
                <a:latin typeface="Times New Roman" panose="02020603050405020304" pitchFamily="18" charset="0"/>
                <a:cs typeface="Times New Roman" panose="02020603050405020304" pitchFamily="18" charset="0"/>
              </a:rPr>
              <a:t>Error Handling Testing: Verified that appropriate error messages are displayed for invalid inputs and system failures.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16</a:t>
            </a:fld>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838200" y="1184367"/>
            <a:ext cx="10515600" cy="4058194"/>
          </a:xfrm>
        </p:spPr>
        <p:txBody>
          <a:bodyPr>
            <a:noAutofit/>
          </a:bodyPr>
          <a:lstStyle/>
          <a:p>
            <a:r>
              <a:rPr lang="en-US" altLang="en-GB" sz="2200" dirty="0">
                <a:latin typeface="Times New Roman" panose="02020603050405020304" pitchFamily="18" charset="0"/>
                <a:cs typeface="Times New Roman" panose="02020603050405020304" pitchFamily="18" charset="0"/>
              </a:rPr>
              <a:t>The internship project provided valuable hands-on experience in real-world software development. Through this project, I gained practical knowledge in backend development using Django, API creation using Django REST Framework, and data querying using GraphQL.</a:t>
            </a:r>
          </a:p>
          <a:p>
            <a:endParaRPr lang="en-US" altLang="en-GB" sz="2200" dirty="0">
              <a:latin typeface="Times New Roman" panose="02020603050405020304" pitchFamily="18" charset="0"/>
              <a:cs typeface="Times New Roman" panose="02020603050405020304" pitchFamily="18" charset="0"/>
            </a:endParaRPr>
          </a:p>
          <a:p>
            <a:r>
              <a:rPr lang="en-US" altLang="en-GB" sz="2200" dirty="0">
                <a:latin typeface="Times New Roman" panose="02020603050405020304" pitchFamily="18" charset="0"/>
                <a:cs typeface="Times New Roman" panose="02020603050405020304" pitchFamily="18" charset="0"/>
              </a:rPr>
              <a:t>The development of the ERP Integration Adapter Module helped in understanding how different systems can be connected and standardized efficiently. The project successfully addressed the problem of inconsistent ERP systems by introducing a flexible and scalable integration solution.</a:t>
            </a:r>
          </a:p>
          <a:p>
            <a:endParaRPr lang="en-US" altLang="en-GB" sz="2200" dirty="0">
              <a:latin typeface="Times New Roman" panose="02020603050405020304" pitchFamily="18" charset="0"/>
              <a:cs typeface="Times New Roman" panose="02020603050405020304" pitchFamily="18" charset="0"/>
            </a:endParaRPr>
          </a:p>
          <a:p>
            <a:r>
              <a:rPr lang="en-US" altLang="en-GB" sz="2200" dirty="0">
                <a:latin typeface="Times New Roman" panose="02020603050405020304" pitchFamily="18" charset="0"/>
                <a:cs typeface="Times New Roman" panose="02020603050405020304" pitchFamily="18" charset="0"/>
              </a:rPr>
              <a:t>Overall, this internship enhanced my technical skills, problem-solving ability, and understanding of industry-level development practices. It also prepared me to contribute effectively to larger projects in the future.</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17</a:t>
            </a:fld>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a:solidFill>
                  <a:schemeClr val="accent1">
                    <a:lumMod val="75000"/>
                  </a:schemeClr>
                </a:solidFill>
                <a:latin typeface="Times New Roman" panose="02020603050405020304" pitchFamily="18" charset="0"/>
                <a:cs typeface="Times New Roman" panose="02020603050405020304" pitchFamily="18" charset="0"/>
              </a:rPr>
              <a:t>References</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367"/>
            <a:ext cx="10515600" cy="4058194"/>
          </a:xfrm>
        </p:spPr>
        <p:txBody>
          <a:bodyPr>
            <a:normAutofit lnSpcReduction="20000"/>
          </a:bodyPr>
          <a:lstStyle/>
          <a:p>
            <a:r>
              <a:rPr lang="en-US" altLang="en-GB" sz="2665" dirty="0">
                <a:latin typeface="Times New Roman" panose="02020603050405020304" pitchFamily="18" charset="0"/>
                <a:cs typeface="Times New Roman" panose="02020603050405020304" pitchFamily="18" charset="0"/>
              </a:rPr>
              <a:t>Django Documentation – https://docs.djangoproject.com/</a:t>
            </a:r>
          </a:p>
          <a:p>
            <a:r>
              <a:rPr lang="en-US" altLang="en-GB" sz="2665" dirty="0">
                <a:latin typeface="Times New Roman" panose="02020603050405020304" pitchFamily="18" charset="0"/>
                <a:cs typeface="Times New Roman" panose="02020603050405020304" pitchFamily="18" charset="0"/>
              </a:rPr>
              <a:t>Django REST Framework Documentation – https://www.django-rest-framework.org/</a:t>
            </a:r>
          </a:p>
          <a:p>
            <a:r>
              <a:rPr lang="en-US" altLang="en-GB" sz="2665" dirty="0">
                <a:latin typeface="Times New Roman" panose="02020603050405020304" pitchFamily="18" charset="0"/>
                <a:cs typeface="Times New Roman" panose="02020603050405020304" pitchFamily="18" charset="0"/>
              </a:rPr>
              <a:t>GraphQL Official Documentation – https://graphql.org/</a:t>
            </a:r>
          </a:p>
          <a:p>
            <a:r>
              <a:rPr lang="en-US" altLang="en-GB" sz="2665" dirty="0">
                <a:latin typeface="Times New Roman" panose="02020603050405020304" pitchFamily="18" charset="0"/>
                <a:cs typeface="Times New Roman" panose="02020603050405020304" pitchFamily="18" charset="0"/>
              </a:rPr>
              <a:t>Graphene (Python GraphQL Library) – https://graphene-python.org/</a:t>
            </a:r>
          </a:p>
          <a:p>
            <a:r>
              <a:rPr lang="en-US" altLang="en-GB" sz="2665" dirty="0">
                <a:latin typeface="Times New Roman" panose="02020603050405020304" pitchFamily="18" charset="0"/>
                <a:cs typeface="Times New Roman" panose="02020603050405020304" pitchFamily="18" charset="0"/>
              </a:rPr>
              <a:t>Frappe Framework Documentation – https://frappeframework.com/docs</a:t>
            </a:r>
          </a:p>
          <a:p>
            <a:r>
              <a:rPr lang="en-US" altLang="en-GB" sz="2665" dirty="0">
                <a:latin typeface="Times New Roman" panose="02020603050405020304" pitchFamily="18" charset="0"/>
                <a:cs typeface="Times New Roman" panose="02020603050405020304" pitchFamily="18" charset="0"/>
              </a:rPr>
              <a:t>Postman API Testing Tool – https://www.postman.com/</a:t>
            </a:r>
          </a:p>
          <a:p>
            <a:r>
              <a:rPr lang="en-US" altLang="en-GB" sz="2665" dirty="0">
                <a:latin typeface="Times New Roman" panose="02020603050405020304" pitchFamily="18" charset="0"/>
                <a:cs typeface="Times New Roman" panose="02020603050405020304" pitchFamily="18" charset="0"/>
              </a:rPr>
              <a:t>MDN Web Docs (HTML, CSS, JavaScript) – https://developer.mozilla.org/</a:t>
            </a:r>
          </a:p>
          <a:p>
            <a:r>
              <a:rPr lang="en-US" altLang="en-GB" sz="2665" dirty="0">
                <a:latin typeface="Times New Roman" panose="02020603050405020304" pitchFamily="18" charset="0"/>
                <a:cs typeface="Times New Roman" panose="02020603050405020304" pitchFamily="18" charset="0"/>
              </a:rPr>
              <a:t>GitHub (Version Control &amp; Code Repository) – https://github.com/</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18</a:t>
            </a:fld>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t>19</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t>20</a:t>
            </a:fld>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1622</Words>
  <Application>Microsoft Office PowerPoint</Application>
  <PresentationFormat>Widescreen</PresentationFormat>
  <Paragraphs>167</Paragraphs>
  <Slides>20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System Design</vt:lpstr>
      <vt:lpstr>Architecture Diagram</vt:lpstr>
      <vt:lpstr>System Implementation</vt:lpstr>
      <vt:lpstr>System Testing</vt:lpstr>
      <vt:lpstr>Conclusion</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ann olivia</cp:lastModifiedBy>
  <cp:revision>727</cp:revision>
  <dcterms:created xsi:type="dcterms:W3CDTF">2022-10-14T07:18:00Z</dcterms:created>
  <dcterms:modified xsi:type="dcterms:W3CDTF">2026-04-26T11:33:23Z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B7A39F0B16F84963B1B8EBBC4AE13B44_13</vt:lpwstr>
  </property>
  <property fmtid="{D5CDD505-2E9C-101B-9397-08002B2CF9AE}" pid="3" name="KSOProductBuildVer">
    <vt:lpwstr>2057-12.2.0.23201</vt:lpwstr>
  </property>
</Properties>
</file>